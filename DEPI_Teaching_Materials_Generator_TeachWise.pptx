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74" autoAdjust="0"/>
    <p:restoredTop sz="94610"/>
  </p:normalViewPr>
  <p:slideViewPr>
    <p:cSldViewPr snapToGrid="0" snapToObjects="1">
      <p:cViewPr varScale="1">
        <p:scale>
          <a:sx n="77" d="100"/>
          <a:sy n="77" d="100"/>
        </p:scale>
        <p:origin x="4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6610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Ghosoon Amr Samy. Cover. One sentence: a teacher fills in one form and receives a complete, differentiated teaching package as a PDF by email.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Ghosoon Amr Samy. Problem: preparing differentiated materials, including dyslexia support, takes teachers hours. Solution: one form, six AI agents, an automatic completeness check, then one PDF by email. What makes it stand out: differentiated levels and a dyslexia-friendly version in the same package, never invented curriculum standards, and built-in checks: the workflow checks that all 12 sections exist, and the teacher then reviews the content.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Esraa Ahmed Helmy. Our project has no traditional app screens, so the wireframe shows the three interfaces the teacher sees: the form, the email (success, or an incomplete notice from the automatic check), and the generated PDF (a real page from our Grade 4 insects run). The journey strip shows the five steps from opening the form to receiving the PDF. Focus on usability: nothing to install, seven required fields, a readable PDF.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Doaa Hafez Abbas. Three end users. The class teacher wants to save time. The inclusive or support teacher needs differentiated and dyslexia-friendly material. Students are indirect users who receive the handouts, exercises and quiz. Each row shows which features solve that person's problem. Remind the audience that teachers must verify facts and answers.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Mariam Kotb Mohamed. There is no database: the workflow is stateless and data moves between nodes as JSON items. The chain on top is the real data path: form submission, six agent outputs, one merged package, the automatic completeness check (a true or false result), HTML, a PDF file and the email. We did not use a CSV dataset, so no data-balance discussion applies.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Esraa Ahmed Helmy. The project is mostly low-code: n8n connects the pieces, with small JavaScript expressions for text handling and for the completeness check. Content is Markdown and HTML with CSS. Supporting services are the Gemini API, the html2pdf.app API and the Gmail API. We started with a local Ollama model and moved to Gemini to cut each run from 10 to 20 minutes to about 1 minute.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Mariam Kotb Mohamed. The top diagram is our final workflow. The gold node is the automatic completeness check: an If node that tests whether all twelve section headings, A to L, are in the merged package. If yes, the PDF is made and emailed. If not, the teacher receives an email saying a section is missing and asking to submit the form again. The teacher then reviews facts, quiz answers and the answer key by hand, because the automatic check only sees structure, not accuracy. Future work: an automatic rerun, error alerts and a content review step. The live application link on this slide opens our hosted form, so we can demonstrate it live. Tip: replace the drawn diagram with a screenshot of the new n8n canvas.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Speakers: Kholoud Mohamed Ibrahim (documentation) and Amal Abdelrazik Mohamed (GitHub and uploads). The left column is exactly the official submission list: project description, presentation, source code ZIP, live application link, documentation, a 2 to 4 minute video demo and the original GitHub link. The final deadline is Saturday 31/10/2026, submitted by the Team Leader through the form. Timeline: we started on 26 September with the design and prompt strategy and the local Ollama workflow, then wrote the documentation and upgraded the workflow to Gemini, drafted the presentation and added the JavaScript verification step, moved the workflow to a server, and finished the final updates before submitting on 31 October. Before uploading the workflow JSON, remove the html2pdf.app API key from the Convert HTML to PDF node.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Ghosoon Amr Samy. Six members. Automation: Mariam Kotb Mohamed and Esraa Ahmed Helmy form, handle and update the workflow. Documentation: Doaa Hafez Abbas and Kholoud Mohamed Ibrahim. GitHub: Amal Abdelrazik Mohamed uploads everything the instructions require. Presentation: Ghosoon Amr Samy. We coordinate through a WhatsApp group chat, WhatsApp voice calls and regular Zoom meetings.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Ghosoon Amr Samy, then every member answers questions in their own area. Close by thanking the audience and inviting questions. Likely questions: why Gemini and not a local model (speed), why six agents (shorter, more accurate answers), how wrong facts are handled (an automatic check for missing sections, then the teacher verifies the content, and the output states its assumptions).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95c73deb.kube-ops.com/form/882a9862-8182-4c37-8575-b2d5d5705b1a"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hyperlink" Target="https://95c73deb.kube-ops.com/form/882a9862-8182-4c37-8575-b2d5d5705b1a" TargetMode="External"/><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4.png"/><Relationship Id="rId4" Type="http://schemas.openxmlformats.org/officeDocument/2006/relationships/image" Target="../media/image2.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29.png"/><Relationship Id="rId5" Type="http://schemas.openxmlformats.org/officeDocument/2006/relationships/image" Target="../media/image3.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27.png"/><Relationship Id="rId14"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hyperlink" Target="https://github.com/Amal-Abdelrazek/Teaching-Materials-Generator-n8n"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1</a:t>
            </a:r>
            <a:endParaRPr lang="en-US" sz="1200" dirty="0"/>
          </a:p>
        </p:txBody>
      </p:sp>
      <p:sp>
        <p:nvSpPr>
          <p:cNvPr id="9" name="Text 4"/>
          <p:cNvSpPr txBox="1"/>
          <p:nvPr/>
        </p:nvSpPr>
        <p:spPr>
          <a:xfrm>
            <a:off x="1097280" y="1554480"/>
            <a:ext cx="6766560" cy="365760"/>
          </a:xfrm>
          <a:prstGeom prst="rect">
            <a:avLst/>
          </a:prstGeom>
          <a:noFill/>
          <a:ln/>
        </p:spPr>
        <p:txBody>
          <a:bodyPr wrap="square" lIns="0" tIns="0" rIns="0" bIns="0" rtlCol="0" anchor="ctr"/>
          <a:lstStyle/>
          <a:p>
            <a:pPr marL="0" indent="0">
              <a:buNone/>
            </a:pPr>
            <a:r>
              <a:rPr lang="en-US" sz="1600" b="1" kern="0" spc="300" dirty="0">
                <a:solidFill>
                  <a:srgbClr val="336EA8"/>
                </a:solidFill>
                <a:latin typeface="Arial" pitchFamily="34" charset="0"/>
                <a:ea typeface="Arial" pitchFamily="34" charset="-122"/>
                <a:cs typeface="Arial" pitchFamily="34" charset="-120"/>
              </a:rPr>
              <a:t>DEPI FINAL PROJECT</a:t>
            </a:r>
            <a:endParaRPr lang="en-US" sz="1600" dirty="0"/>
          </a:p>
        </p:txBody>
      </p:sp>
      <p:sp>
        <p:nvSpPr>
          <p:cNvPr id="10" name="Text 5"/>
          <p:cNvSpPr txBox="1"/>
          <p:nvPr/>
        </p:nvSpPr>
        <p:spPr>
          <a:xfrm>
            <a:off x="1097280" y="1965960"/>
            <a:ext cx="7132320" cy="1645920"/>
          </a:xfrm>
          <a:prstGeom prst="rect">
            <a:avLst/>
          </a:prstGeom>
          <a:noFill/>
          <a:ln/>
        </p:spPr>
        <p:txBody>
          <a:bodyPr wrap="square" lIns="0" tIns="0" rIns="0" bIns="0" rtlCol="0" anchor="t"/>
          <a:lstStyle/>
          <a:p>
            <a:pPr marL="0" indent="0">
              <a:buNone/>
            </a:pPr>
            <a:r>
              <a:rPr lang="en-US" sz="4800" b="1" dirty="0">
                <a:solidFill>
                  <a:srgbClr val="047954"/>
                </a:solidFill>
                <a:latin typeface="Arial" pitchFamily="34" charset="0"/>
                <a:ea typeface="Arial" pitchFamily="34" charset="-122"/>
                <a:cs typeface="Arial" pitchFamily="34" charset="-120"/>
              </a:rPr>
              <a:t>Teaching Materials Generator</a:t>
            </a:r>
            <a:endParaRPr lang="en-US" sz="4800" dirty="0"/>
          </a:p>
        </p:txBody>
      </p:sp>
      <p:sp>
        <p:nvSpPr>
          <p:cNvPr id="11" name="Text 6"/>
          <p:cNvSpPr txBox="1"/>
          <p:nvPr/>
        </p:nvSpPr>
        <p:spPr>
          <a:xfrm>
            <a:off x="1097280" y="3657600"/>
            <a:ext cx="7132320" cy="502920"/>
          </a:xfrm>
          <a:prstGeom prst="rect">
            <a:avLst/>
          </a:prstGeom>
          <a:noFill/>
          <a:ln/>
        </p:spPr>
        <p:txBody>
          <a:bodyPr wrap="square" lIns="0" tIns="0" rIns="0" bIns="0" rtlCol="0" anchor="ctr"/>
          <a:lstStyle/>
          <a:p>
            <a:pPr marL="0" indent="0">
              <a:buNone/>
            </a:pPr>
            <a:r>
              <a:rPr lang="en-US" sz="2400" i="1" dirty="0">
                <a:solidFill>
                  <a:srgbClr val="336EA8"/>
                </a:solidFill>
                <a:latin typeface="Arial" pitchFamily="34" charset="0"/>
                <a:ea typeface="Arial" pitchFamily="34" charset="-122"/>
                <a:cs typeface="Arial" pitchFamily="34" charset="-120"/>
              </a:rPr>
              <a:t>One form. A complete lesson package.</a:t>
            </a:r>
            <a:endParaRPr lang="en-US" sz="2400" dirty="0"/>
          </a:p>
        </p:txBody>
      </p:sp>
      <p:sp>
        <p:nvSpPr>
          <p:cNvPr id="12" name="Text 7"/>
          <p:cNvSpPr txBox="1"/>
          <p:nvPr/>
        </p:nvSpPr>
        <p:spPr>
          <a:xfrm>
            <a:off x="1097280" y="4434840"/>
            <a:ext cx="7132320" cy="365760"/>
          </a:xfrm>
          <a:prstGeom prst="rect">
            <a:avLst/>
          </a:prstGeom>
          <a:noFill/>
          <a:ln/>
        </p:spPr>
        <p:txBody>
          <a:bodyPr wrap="square" lIns="0" tIns="0" rIns="0" bIns="0" rtlCol="0" anchor="ctr"/>
          <a:lstStyle/>
          <a:p>
            <a:pPr marL="0" indent="0">
              <a:buNone/>
            </a:pPr>
            <a:r>
              <a:rPr lang="en-US" sz="1800" b="1" dirty="0">
                <a:solidFill>
                  <a:srgbClr val="047954"/>
                </a:solidFill>
                <a:latin typeface="Arial" pitchFamily="34" charset="0"/>
                <a:ea typeface="Arial" pitchFamily="34" charset="-122"/>
                <a:cs typeface="Arial" pitchFamily="34" charset="-120"/>
              </a:rPr>
              <a:t>Presenter's Name: </a:t>
            </a:r>
            <a:r>
              <a:rPr lang="en-US" sz="1800" dirty="0">
                <a:solidFill>
                  <a:srgbClr val="1F2D3A"/>
                </a:solidFill>
                <a:latin typeface="Arial" pitchFamily="34" charset="0"/>
                <a:ea typeface="Arial" pitchFamily="34" charset="-122"/>
                <a:cs typeface="Arial" pitchFamily="34" charset="-120"/>
              </a:rPr>
              <a:t>Ghosoon Amr Samy</a:t>
            </a:r>
            <a:endParaRPr lang="en-US" sz="1800" dirty="0"/>
          </a:p>
        </p:txBody>
      </p:sp>
      <p:sp>
        <p:nvSpPr>
          <p:cNvPr id="13" name="Text 8"/>
          <p:cNvSpPr txBox="1"/>
          <p:nvPr/>
        </p:nvSpPr>
        <p:spPr>
          <a:xfrm>
            <a:off x="1097280" y="4846320"/>
            <a:ext cx="7132320" cy="365760"/>
          </a:xfrm>
          <a:prstGeom prst="rect">
            <a:avLst/>
          </a:prstGeom>
          <a:noFill/>
          <a:ln/>
        </p:spPr>
        <p:txBody>
          <a:bodyPr wrap="square" lIns="0" tIns="0" rIns="0" bIns="0" rtlCol="0" anchor="ctr"/>
          <a:lstStyle/>
          <a:p>
            <a:pPr marL="0" indent="0">
              <a:buNone/>
            </a:pPr>
            <a:r>
              <a:rPr lang="en-US" sz="1800" b="1" dirty="0">
                <a:solidFill>
                  <a:srgbClr val="047954"/>
                </a:solidFill>
                <a:latin typeface="Arial" pitchFamily="34" charset="0"/>
                <a:ea typeface="Arial" pitchFamily="34" charset="-122"/>
                <a:cs typeface="Arial" pitchFamily="34" charset="-120"/>
              </a:rPr>
              <a:t>Team: </a:t>
            </a:r>
            <a:r>
              <a:rPr lang="en-US" sz="1800" dirty="0">
                <a:solidFill>
                  <a:srgbClr val="1F2D3A"/>
                </a:solidFill>
                <a:latin typeface="Arial" pitchFamily="34" charset="0"/>
                <a:ea typeface="Arial" pitchFamily="34" charset="-122"/>
                <a:cs typeface="Arial" pitchFamily="34" charset="-120"/>
              </a:rPr>
              <a:t>TeachWise</a:t>
            </a:r>
            <a:endParaRPr lang="en-US" sz="1800" dirty="0"/>
          </a:p>
        </p:txBody>
      </p:sp>
      <p:sp>
        <p:nvSpPr>
          <p:cNvPr id="14" name="Text 9"/>
          <p:cNvSpPr txBox="1"/>
          <p:nvPr/>
        </p:nvSpPr>
        <p:spPr>
          <a:xfrm>
            <a:off x="1097280" y="5257800"/>
            <a:ext cx="7132320" cy="365760"/>
          </a:xfrm>
          <a:prstGeom prst="rect">
            <a:avLst/>
          </a:prstGeom>
          <a:noFill/>
          <a:ln/>
        </p:spPr>
        <p:txBody>
          <a:bodyPr wrap="square" lIns="0" tIns="0" rIns="0" bIns="0" rtlCol="0" anchor="ctr"/>
          <a:lstStyle/>
          <a:p>
            <a:pPr marL="0" indent="0">
              <a:buNone/>
            </a:pPr>
            <a:r>
              <a:rPr lang="en-US" sz="1800" b="1" dirty="0">
                <a:solidFill>
                  <a:srgbClr val="047954"/>
                </a:solidFill>
                <a:latin typeface="Arial" pitchFamily="34" charset="0"/>
                <a:ea typeface="Arial" pitchFamily="34" charset="-122"/>
                <a:cs typeface="Arial" pitchFamily="34" charset="-120"/>
              </a:rPr>
              <a:t>Date: </a:t>
            </a:r>
            <a:r>
              <a:rPr lang="en-US" sz="1800" dirty="0">
                <a:solidFill>
                  <a:srgbClr val="1F2D3A"/>
                </a:solidFill>
                <a:latin typeface="Arial" pitchFamily="34" charset="0"/>
                <a:ea typeface="Arial" pitchFamily="34" charset="-122"/>
                <a:cs typeface="Arial" pitchFamily="34" charset="-120"/>
              </a:rPr>
              <a:t>31 October 2026</a:t>
            </a:r>
            <a:endParaRPr lang="en-US" sz="1800" dirty="0"/>
          </a:p>
        </p:txBody>
      </p:sp>
      <p:sp>
        <p:nvSpPr>
          <p:cNvPr id="15" name="Shape 10"/>
          <p:cNvSpPr/>
          <p:nvPr/>
        </p:nvSpPr>
        <p:spPr>
          <a:xfrm>
            <a:off x="9966960" y="2423160"/>
            <a:ext cx="0" cy="457200"/>
          </a:xfrm>
          <a:prstGeom prst="line">
            <a:avLst/>
          </a:prstGeom>
          <a:noFill/>
          <a:ln w="25400">
            <a:solidFill>
              <a:srgbClr val="566575"/>
            </a:solidFill>
            <a:prstDash val="solid"/>
            <a:tailEnd type="triangle"/>
          </a:ln>
        </p:spPr>
      </p:sp>
      <p:sp>
        <p:nvSpPr>
          <p:cNvPr id="16" name="Shape 11"/>
          <p:cNvSpPr/>
          <p:nvPr/>
        </p:nvSpPr>
        <p:spPr>
          <a:xfrm>
            <a:off x="9966960" y="4023360"/>
            <a:ext cx="0" cy="457200"/>
          </a:xfrm>
          <a:prstGeom prst="line">
            <a:avLst/>
          </a:prstGeom>
          <a:noFill/>
          <a:ln w="25400">
            <a:solidFill>
              <a:srgbClr val="566575"/>
            </a:solidFill>
            <a:prstDash val="solid"/>
            <a:tailEnd type="triangle"/>
          </a:ln>
        </p:spPr>
      </p:sp>
      <p:sp>
        <p:nvSpPr>
          <p:cNvPr id="17" name="Shape 12"/>
          <p:cNvSpPr/>
          <p:nvPr/>
        </p:nvSpPr>
        <p:spPr>
          <a:xfrm>
            <a:off x="9418320" y="1325880"/>
            <a:ext cx="1097280" cy="1097280"/>
          </a:xfrm>
          <a:prstGeom prst="ellipse">
            <a:avLst/>
          </a:prstGeom>
          <a:solidFill>
            <a:srgbClr val="047954"/>
          </a:solidFill>
          <a:ln w="6350">
            <a:solidFill>
              <a:srgbClr val="047954"/>
            </a:solidFill>
            <a:prstDash val="solid"/>
          </a:ln>
        </p:spPr>
      </p:sp>
      <p:pic>
        <p:nvPicPr>
          <p:cNvPr id="18" name="Image 3" descr="preencoded.png"/>
          <p:cNvPicPr>
            <a:picLocks noChangeAspect="1"/>
          </p:cNvPicPr>
          <p:nvPr/>
        </p:nvPicPr>
        <p:blipFill>
          <a:blip r:embed="rId7"/>
          <a:stretch>
            <a:fillRect/>
          </a:stretch>
        </p:blipFill>
        <p:spPr>
          <a:xfrm>
            <a:off x="9692640" y="1600200"/>
            <a:ext cx="548640" cy="548640"/>
          </a:xfrm>
          <a:prstGeom prst="rect">
            <a:avLst/>
          </a:prstGeom>
        </p:spPr>
      </p:pic>
      <p:sp>
        <p:nvSpPr>
          <p:cNvPr id="19" name="Shape 13"/>
          <p:cNvSpPr/>
          <p:nvPr/>
        </p:nvSpPr>
        <p:spPr>
          <a:xfrm>
            <a:off x="9418320" y="2926080"/>
            <a:ext cx="1097280" cy="1097280"/>
          </a:xfrm>
          <a:prstGeom prst="ellipse">
            <a:avLst/>
          </a:prstGeom>
          <a:solidFill>
            <a:srgbClr val="336EA8"/>
          </a:solidFill>
          <a:ln w="6350">
            <a:solidFill>
              <a:srgbClr val="336EA8"/>
            </a:solidFill>
            <a:prstDash val="solid"/>
          </a:ln>
        </p:spPr>
      </p:sp>
      <p:pic>
        <p:nvPicPr>
          <p:cNvPr id="20" name="Image 4" descr="preencoded.png"/>
          <p:cNvPicPr>
            <a:picLocks noChangeAspect="1"/>
          </p:cNvPicPr>
          <p:nvPr/>
        </p:nvPicPr>
        <p:blipFill>
          <a:blip r:embed="rId8"/>
          <a:stretch>
            <a:fillRect/>
          </a:stretch>
        </p:blipFill>
        <p:spPr>
          <a:xfrm>
            <a:off x="9692640" y="3200400"/>
            <a:ext cx="548640" cy="548640"/>
          </a:xfrm>
          <a:prstGeom prst="rect">
            <a:avLst/>
          </a:prstGeom>
        </p:spPr>
      </p:pic>
      <p:sp>
        <p:nvSpPr>
          <p:cNvPr id="21" name="Shape 14"/>
          <p:cNvSpPr/>
          <p:nvPr/>
        </p:nvSpPr>
        <p:spPr>
          <a:xfrm>
            <a:off x="9418320" y="4526280"/>
            <a:ext cx="1097280" cy="1097280"/>
          </a:xfrm>
          <a:prstGeom prst="ellipse">
            <a:avLst/>
          </a:prstGeom>
          <a:solidFill>
            <a:srgbClr val="D7B119"/>
          </a:solidFill>
          <a:ln w="6350">
            <a:solidFill>
              <a:srgbClr val="D7B119"/>
            </a:solidFill>
            <a:prstDash val="solid"/>
          </a:ln>
        </p:spPr>
      </p:sp>
      <p:pic>
        <p:nvPicPr>
          <p:cNvPr id="22" name="Image 5" descr="preencoded.png"/>
          <p:cNvPicPr>
            <a:picLocks noChangeAspect="1"/>
          </p:cNvPicPr>
          <p:nvPr/>
        </p:nvPicPr>
        <p:blipFill>
          <a:blip r:embed="rId9"/>
          <a:stretch>
            <a:fillRect/>
          </a:stretch>
        </p:blipFill>
        <p:spPr>
          <a:xfrm>
            <a:off x="9692640" y="4800600"/>
            <a:ext cx="548640" cy="548640"/>
          </a:xfrm>
          <a:prstGeom prst="rect">
            <a:avLst/>
          </a:prstGeom>
        </p:spPr>
      </p:pic>
      <p:sp>
        <p:nvSpPr>
          <p:cNvPr id="23" name="Text 15"/>
          <p:cNvSpPr txBox="1"/>
          <p:nvPr/>
        </p:nvSpPr>
        <p:spPr>
          <a:xfrm>
            <a:off x="10652760" y="1691640"/>
            <a:ext cx="1280160" cy="365760"/>
          </a:xfrm>
          <a:prstGeom prst="rect">
            <a:avLst/>
          </a:prstGeom>
          <a:noFill/>
          <a:ln/>
        </p:spPr>
        <p:txBody>
          <a:bodyPr wrap="square" lIns="0" tIns="0" rIns="0" bIns="0" rtlCol="0" anchor="ctr"/>
          <a:lstStyle/>
          <a:p>
            <a:pPr marL="0" indent="0">
              <a:buNone/>
            </a:pPr>
            <a:r>
              <a:rPr lang="en-US" sz="1400" b="1" dirty="0">
                <a:solidFill>
                  <a:srgbClr val="1F2D3A"/>
                </a:solidFill>
                <a:latin typeface="Arial" pitchFamily="34" charset="0"/>
                <a:ea typeface="Arial" pitchFamily="34" charset="-122"/>
                <a:cs typeface="Arial" pitchFamily="34" charset="-120"/>
              </a:rPr>
              <a:t>Form</a:t>
            </a:r>
            <a:endParaRPr lang="en-US" sz="1400" dirty="0"/>
          </a:p>
        </p:txBody>
      </p:sp>
      <p:sp>
        <p:nvSpPr>
          <p:cNvPr id="24" name="Text 16"/>
          <p:cNvSpPr txBox="1"/>
          <p:nvPr/>
        </p:nvSpPr>
        <p:spPr>
          <a:xfrm>
            <a:off x="10652760" y="3291840"/>
            <a:ext cx="1371600" cy="365760"/>
          </a:xfrm>
          <a:prstGeom prst="rect">
            <a:avLst/>
          </a:prstGeom>
          <a:noFill/>
          <a:ln/>
        </p:spPr>
        <p:txBody>
          <a:bodyPr wrap="square" lIns="0" tIns="0" rIns="0" bIns="0" rtlCol="0" anchor="ctr"/>
          <a:lstStyle/>
          <a:p>
            <a:pPr marL="0" indent="0">
              <a:buNone/>
            </a:pPr>
            <a:r>
              <a:rPr lang="en-US" sz="1400" b="1" dirty="0">
                <a:solidFill>
                  <a:srgbClr val="1F2D3A"/>
                </a:solidFill>
                <a:latin typeface="Arial" pitchFamily="34" charset="0"/>
                <a:ea typeface="Arial" pitchFamily="34" charset="-122"/>
                <a:cs typeface="Arial" pitchFamily="34" charset="-120"/>
              </a:rPr>
              <a:t>6 AI agents</a:t>
            </a:r>
            <a:endParaRPr lang="en-US" sz="1400" dirty="0"/>
          </a:p>
        </p:txBody>
      </p:sp>
      <p:sp>
        <p:nvSpPr>
          <p:cNvPr id="25" name="Text 17"/>
          <p:cNvSpPr txBox="1"/>
          <p:nvPr/>
        </p:nvSpPr>
        <p:spPr>
          <a:xfrm>
            <a:off x="10652760" y="4892040"/>
            <a:ext cx="1371600" cy="365760"/>
          </a:xfrm>
          <a:prstGeom prst="rect">
            <a:avLst/>
          </a:prstGeom>
          <a:noFill/>
          <a:ln/>
        </p:spPr>
        <p:txBody>
          <a:bodyPr wrap="square" lIns="0" tIns="0" rIns="0" bIns="0" rtlCol="0" anchor="ctr"/>
          <a:lstStyle/>
          <a:p>
            <a:pPr marL="0" indent="0">
              <a:buNone/>
            </a:pPr>
            <a:r>
              <a:rPr lang="en-US" sz="1400" b="1" dirty="0">
                <a:solidFill>
                  <a:srgbClr val="1F2D3A"/>
                </a:solidFill>
                <a:latin typeface="Arial" pitchFamily="34" charset="0"/>
                <a:ea typeface="Arial" pitchFamily="34" charset="-122"/>
                <a:cs typeface="Arial" pitchFamily="34" charset="-120"/>
              </a:rPr>
              <a:t>PDF by email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2</a:t>
            </a:r>
            <a:endParaRPr lang="en-US" sz="1200" dirty="0"/>
          </a:p>
        </p:txBody>
      </p:sp>
      <p:sp>
        <p:nvSpPr>
          <p:cNvPr id="9" name="Text 4"/>
          <p:cNvSpPr txBox="1"/>
          <p:nvPr/>
        </p:nvSpPr>
        <p:spPr>
          <a:xfrm>
            <a:off x="1463040" y="425994"/>
            <a:ext cx="9144000" cy="685800"/>
          </a:xfrm>
          <a:prstGeom prst="rect">
            <a:avLst/>
          </a:prstGeom>
          <a:noFill/>
          <a:ln/>
        </p:spPr>
        <p:txBody>
          <a:bodyPr wrap="square" lIns="0" tIns="0" rIns="0" bIns="0" rtlCol="0" anchor="ctr"/>
          <a:lstStyle/>
          <a:p>
            <a:pPr marL="0" indent="0" algn="ctr">
              <a:buNone/>
            </a:pPr>
            <a:r>
              <a:rPr lang="en-US" sz="2800" b="1" dirty="0">
                <a:solidFill>
                  <a:srgbClr val="047954"/>
                </a:solidFill>
                <a:latin typeface="Arial" pitchFamily="34" charset="0"/>
                <a:ea typeface="Arial" pitchFamily="34" charset="-122"/>
                <a:cs typeface="Arial" pitchFamily="34" charset="-120"/>
              </a:rPr>
              <a:t>Project Idea</a:t>
            </a:r>
            <a:endParaRPr lang="en-US" sz="2800" dirty="0"/>
          </a:p>
        </p:txBody>
      </p:sp>
      <p:sp>
        <p:nvSpPr>
          <p:cNvPr id="10" name="idea card 1"/>
          <p:cNvSpPr/>
          <p:nvPr/>
        </p:nvSpPr>
        <p:spPr>
          <a:xfrm>
            <a:off x="548640" y="1325880"/>
            <a:ext cx="3566160" cy="4206240"/>
          </a:xfrm>
          <a:prstGeom prst="roundRect">
            <a:avLst>
              <a:gd name="adj" fmla="val 2564"/>
            </a:avLst>
          </a:prstGeom>
          <a:solidFill>
            <a:srgbClr val="FFFFFF"/>
          </a:solidFill>
          <a:ln w="12700">
            <a:solidFill>
              <a:srgbClr val="CFDDD6"/>
            </a:solidFill>
            <a:prstDash val="solid"/>
          </a:ln>
        </p:spPr>
      </p:sp>
      <p:sp>
        <p:nvSpPr>
          <p:cNvPr id="11" name="Shape 6"/>
          <p:cNvSpPr/>
          <p:nvPr/>
        </p:nvSpPr>
        <p:spPr>
          <a:xfrm>
            <a:off x="800100" y="1577340"/>
            <a:ext cx="685800" cy="685800"/>
          </a:xfrm>
          <a:prstGeom prst="ellipse">
            <a:avLst/>
          </a:prstGeom>
          <a:solidFill>
            <a:srgbClr val="047954"/>
          </a:solidFill>
          <a:ln w="6350">
            <a:solidFill>
              <a:srgbClr val="047954"/>
            </a:solidFill>
            <a:prstDash val="solid"/>
          </a:ln>
        </p:spPr>
      </p:sp>
      <p:pic>
        <p:nvPicPr>
          <p:cNvPr id="12" name="Image 3" descr="preencoded.png"/>
          <p:cNvPicPr>
            <a:picLocks noChangeAspect="1"/>
          </p:cNvPicPr>
          <p:nvPr/>
        </p:nvPicPr>
        <p:blipFill>
          <a:blip r:embed="rId7"/>
          <a:stretch>
            <a:fillRect/>
          </a:stretch>
        </p:blipFill>
        <p:spPr>
          <a:xfrm>
            <a:off x="971550" y="1748790"/>
            <a:ext cx="342900" cy="342900"/>
          </a:xfrm>
          <a:prstGeom prst="rect">
            <a:avLst/>
          </a:prstGeom>
        </p:spPr>
      </p:pic>
      <p:sp>
        <p:nvSpPr>
          <p:cNvPr id="13" name="Text 7"/>
          <p:cNvSpPr txBox="1"/>
          <p:nvPr/>
        </p:nvSpPr>
        <p:spPr>
          <a:xfrm>
            <a:off x="1691640" y="1600200"/>
            <a:ext cx="2286000" cy="640080"/>
          </a:xfrm>
          <a:prstGeom prst="rect">
            <a:avLst/>
          </a:prstGeom>
          <a:noFill/>
          <a:ln/>
        </p:spPr>
        <p:txBody>
          <a:bodyPr wrap="square" lIns="0" tIns="0" rIns="0" bIns="0" rtlCol="0" anchor="ctr"/>
          <a:lstStyle/>
          <a:p>
            <a:pPr marL="0" indent="0">
              <a:buNone/>
            </a:pPr>
            <a:r>
              <a:rPr lang="en-US" sz="1800" b="1" dirty="0">
                <a:solidFill>
                  <a:srgbClr val="047954"/>
                </a:solidFill>
                <a:latin typeface="Arial" pitchFamily="34" charset="0"/>
                <a:ea typeface="Arial" pitchFamily="34" charset="-122"/>
                <a:cs typeface="Arial" pitchFamily="34" charset="-120"/>
              </a:rPr>
              <a:t>The problem</a:t>
            </a:r>
            <a:endParaRPr lang="en-US" sz="1800" dirty="0"/>
          </a:p>
        </p:txBody>
      </p:sp>
      <p:sp>
        <p:nvSpPr>
          <p:cNvPr id="14" name="Text 8"/>
          <p:cNvSpPr txBox="1"/>
          <p:nvPr/>
        </p:nvSpPr>
        <p:spPr>
          <a:xfrm>
            <a:off x="822960" y="2468880"/>
            <a:ext cx="306324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Teachers spend hours preparing handouts, activities, quizzes and notes for one lesson</a:t>
            </a:r>
            <a:endParaRPr lang="en-US" sz="1500" dirty="0"/>
          </a:p>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One class mixes beginner, intermediate and advanced learners</a:t>
            </a:r>
            <a:endParaRPr lang="en-US" sz="1500" dirty="0"/>
          </a:p>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Dyslexia-friendly materials take extra time and expertise</a:t>
            </a:r>
            <a:endParaRPr lang="en-US" sz="1500" dirty="0"/>
          </a:p>
        </p:txBody>
      </p:sp>
      <p:sp>
        <p:nvSpPr>
          <p:cNvPr id="15" name="idea card 2"/>
          <p:cNvSpPr/>
          <p:nvPr/>
        </p:nvSpPr>
        <p:spPr>
          <a:xfrm>
            <a:off x="4297680" y="1325880"/>
            <a:ext cx="3566160" cy="4206240"/>
          </a:xfrm>
          <a:prstGeom prst="roundRect">
            <a:avLst>
              <a:gd name="adj" fmla="val 2564"/>
            </a:avLst>
          </a:prstGeom>
          <a:solidFill>
            <a:srgbClr val="FFFFFF"/>
          </a:solidFill>
          <a:ln w="12700">
            <a:solidFill>
              <a:srgbClr val="CFDDD6"/>
            </a:solidFill>
            <a:prstDash val="solid"/>
          </a:ln>
        </p:spPr>
      </p:sp>
      <p:sp>
        <p:nvSpPr>
          <p:cNvPr id="16" name="Shape 10"/>
          <p:cNvSpPr/>
          <p:nvPr/>
        </p:nvSpPr>
        <p:spPr>
          <a:xfrm>
            <a:off x="4549140" y="1577340"/>
            <a:ext cx="685800" cy="685800"/>
          </a:xfrm>
          <a:prstGeom prst="ellipse">
            <a:avLst/>
          </a:prstGeom>
          <a:solidFill>
            <a:srgbClr val="336EA8"/>
          </a:solidFill>
          <a:ln w="6350">
            <a:solidFill>
              <a:srgbClr val="336EA8"/>
            </a:solidFill>
            <a:prstDash val="solid"/>
          </a:ln>
        </p:spPr>
      </p:sp>
      <p:pic>
        <p:nvPicPr>
          <p:cNvPr id="17" name="Image 4" descr="preencoded.png"/>
          <p:cNvPicPr>
            <a:picLocks noChangeAspect="1"/>
          </p:cNvPicPr>
          <p:nvPr/>
        </p:nvPicPr>
        <p:blipFill>
          <a:blip r:embed="rId8"/>
          <a:stretch>
            <a:fillRect/>
          </a:stretch>
        </p:blipFill>
        <p:spPr>
          <a:xfrm>
            <a:off x="4720590" y="1748790"/>
            <a:ext cx="342900" cy="342900"/>
          </a:xfrm>
          <a:prstGeom prst="rect">
            <a:avLst/>
          </a:prstGeom>
        </p:spPr>
      </p:pic>
      <p:sp>
        <p:nvSpPr>
          <p:cNvPr id="18" name="Text 11"/>
          <p:cNvSpPr txBox="1"/>
          <p:nvPr/>
        </p:nvSpPr>
        <p:spPr>
          <a:xfrm>
            <a:off x="5440680" y="1600200"/>
            <a:ext cx="2286000" cy="640080"/>
          </a:xfrm>
          <a:prstGeom prst="rect">
            <a:avLst/>
          </a:prstGeom>
          <a:noFill/>
          <a:ln/>
        </p:spPr>
        <p:txBody>
          <a:bodyPr wrap="square" lIns="0" tIns="0" rIns="0" bIns="0" rtlCol="0" anchor="ctr"/>
          <a:lstStyle/>
          <a:p>
            <a:pPr marL="0" indent="0">
              <a:buNone/>
            </a:pPr>
            <a:r>
              <a:rPr lang="en-US" sz="1800" b="1" dirty="0">
                <a:solidFill>
                  <a:srgbClr val="047954"/>
                </a:solidFill>
                <a:latin typeface="Arial" pitchFamily="34" charset="0"/>
                <a:ea typeface="Arial" pitchFamily="34" charset="-122"/>
                <a:cs typeface="Arial" pitchFamily="34" charset="-120"/>
              </a:rPr>
              <a:t>Proposed solution</a:t>
            </a:r>
            <a:endParaRPr lang="en-US" sz="1800" dirty="0"/>
          </a:p>
        </p:txBody>
      </p:sp>
      <p:sp>
        <p:nvSpPr>
          <p:cNvPr id="19" name="Text 12"/>
          <p:cNvSpPr txBox="1"/>
          <p:nvPr/>
        </p:nvSpPr>
        <p:spPr>
          <a:xfrm>
            <a:off x="4572000" y="2468880"/>
            <a:ext cx="306324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One web form with 11 fields</a:t>
            </a:r>
            <a:endParaRPr lang="en-US" sz="1500" dirty="0"/>
          </a:p>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Six AI agents write 12 sections (A to L), one after another</a:t>
            </a:r>
            <a:endParaRPr lang="en-US" sz="1500" dirty="0"/>
          </a:p>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An automatic check confirms all 12 sections are present</a:t>
            </a:r>
            <a:endParaRPr lang="en-US" sz="1500" dirty="0"/>
          </a:p>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One PDF is made and emailed to the teacher in about a minute</a:t>
            </a:r>
            <a:endParaRPr lang="en-US" sz="1500" dirty="0"/>
          </a:p>
        </p:txBody>
      </p:sp>
      <p:sp>
        <p:nvSpPr>
          <p:cNvPr id="20" name="idea card 3"/>
          <p:cNvSpPr/>
          <p:nvPr/>
        </p:nvSpPr>
        <p:spPr>
          <a:xfrm>
            <a:off x="8046720" y="1325880"/>
            <a:ext cx="3566160" cy="4206240"/>
          </a:xfrm>
          <a:prstGeom prst="roundRect">
            <a:avLst>
              <a:gd name="adj" fmla="val 2564"/>
            </a:avLst>
          </a:prstGeom>
          <a:solidFill>
            <a:srgbClr val="FFFFFF"/>
          </a:solidFill>
          <a:ln w="12700">
            <a:solidFill>
              <a:srgbClr val="CFDDD6"/>
            </a:solidFill>
            <a:prstDash val="solid"/>
          </a:ln>
        </p:spPr>
      </p:sp>
      <p:sp>
        <p:nvSpPr>
          <p:cNvPr id="21" name="Shape 14"/>
          <p:cNvSpPr/>
          <p:nvPr/>
        </p:nvSpPr>
        <p:spPr>
          <a:xfrm>
            <a:off x="8298180" y="1577340"/>
            <a:ext cx="685800" cy="685800"/>
          </a:xfrm>
          <a:prstGeom prst="ellipse">
            <a:avLst/>
          </a:prstGeom>
          <a:solidFill>
            <a:srgbClr val="D7B119"/>
          </a:solidFill>
          <a:ln w="6350">
            <a:solidFill>
              <a:srgbClr val="D7B119"/>
            </a:solidFill>
            <a:prstDash val="solid"/>
          </a:ln>
        </p:spPr>
      </p:sp>
      <p:pic>
        <p:nvPicPr>
          <p:cNvPr id="22" name="Image 5" descr="preencoded.png"/>
          <p:cNvPicPr>
            <a:picLocks noChangeAspect="1"/>
          </p:cNvPicPr>
          <p:nvPr/>
        </p:nvPicPr>
        <p:blipFill>
          <a:blip r:embed="rId9"/>
          <a:stretch>
            <a:fillRect/>
          </a:stretch>
        </p:blipFill>
        <p:spPr>
          <a:xfrm>
            <a:off x="8469630" y="1748790"/>
            <a:ext cx="342900" cy="342900"/>
          </a:xfrm>
          <a:prstGeom prst="rect">
            <a:avLst/>
          </a:prstGeom>
        </p:spPr>
      </p:pic>
      <p:sp>
        <p:nvSpPr>
          <p:cNvPr id="23" name="Text 15"/>
          <p:cNvSpPr txBox="1"/>
          <p:nvPr/>
        </p:nvSpPr>
        <p:spPr>
          <a:xfrm>
            <a:off x="9189720" y="1600200"/>
            <a:ext cx="2286000" cy="640080"/>
          </a:xfrm>
          <a:prstGeom prst="rect">
            <a:avLst/>
          </a:prstGeom>
          <a:noFill/>
          <a:ln/>
        </p:spPr>
        <p:txBody>
          <a:bodyPr wrap="square" lIns="0" tIns="0" rIns="0" bIns="0" rtlCol="0" anchor="ctr"/>
          <a:lstStyle/>
          <a:p>
            <a:pPr marL="0" indent="0">
              <a:buNone/>
            </a:pPr>
            <a:r>
              <a:rPr lang="en-US" sz="1800" b="1" dirty="0">
                <a:solidFill>
                  <a:srgbClr val="047954"/>
                </a:solidFill>
                <a:latin typeface="Arial" pitchFamily="34" charset="0"/>
                <a:ea typeface="Arial" pitchFamily="34" charset="-122"/>
                <a:cs typeface="Arial" pitchFamily="34" charset="-120"/>
              </a:rPr>
              <a:t>Unique value proposition</a:t>
            </a:r>
            <a:endParaRPr lang="en-US" sz="1800" dirty="0"/>
          </a:p>
        </p:txBody>
      </p:sp>
      <p:sp>
        <p:nvSpPr>
          <p:cNvPr id="24" name="Text 16"/>
          <p:cNvSpPr txBox="1"/>
          <p:nvPr/>
        </p:nvSpPr>
        <p:spPr>
          <a:xfrm>
            <a:off x="8321040" y="2468880"/>
            <a:ext cx="306324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Three levels plus a dyslexia-friendly version in one package</a:t>
            </a:r>
            <a:endParaRPr lang="en-US" sz="1500" dirty="0"/>
          </a:p>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Built-in checks: an automatic completeness check, then the teacher's review</a:t>
            </a:r>
            <a:endParaRPr lang="en-US" sz="1500" dirty="0"/>
          </a:p>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Complete: objectives to quiz, answer key and teacher guidance</a:t>
            </a:r>
            <a:endParaRPr lang="en-US" sz="1500" dirty="0"/>
          </a:p>
          <a:p>
            <a:pPr marL="342900" indent="-342900">
              <a:spcAft>
                <a:spcPts val="800"/>
              </a:spcAft>
              <a:buSzPct val="100000"/>
              <a:buChar char="•"/>
            </a:pPr>
            <a:r>
              <a:rPr lang="en-US" sz="1500" dirty="0">
                <a:solidFill>
                  <a:srgbClr val="1F2D3A"/>
                </a:solidFill>
                <a:latin typeface="Arial" pitchFamily="34" charset="0"/>
                <a:ea typeface="Arial" pitchFamily="34" charset="-122"/>
                <a:cs typeface="Arial" pitchFamily="34" charset="-120"/>
              </a:rPr>
              <a:t>Never invents curriculum standards: it states its assumptions</a:t>
            </a:r>
            <a:endParaRPr lang="en-US" sz="1500" dirty="0"/>
          </a:p>
        </p:txBody>
      </p:sp>
      <p:sp>
        <p:nvSpPr>
          <p:cNvPr id="25" name="Shape 17"/>
          <p:cNvSpPr/>
          <p:nvPr/>
        </p:nvSpPr>
        <p:spPr>
          <a:xfrm>
            <a:off x="548640" y="5623560"/>
            <a:ext cx="11064240" cy="548640"/>
          </a:xfrm>
          <a:prstGeom prst="roundRect">
            <a:avLst>
              <a:gd name="adj" fmla="val 16667"/>
            </a:avLst>
          </a:prstGeom>
          <a:solidFill>
            <a:srgbClr val="047954"/>
          </a:solidFill>
          <a:ln w="6350">
            <a:solidFill>
              <a:srgbClr val="047954"/>
            </a:solidFill>
            <a:prstDash val="solid"/>
          </a:ln>
        </p:spPr>
      </p:sp>
      <p:sp>
        <p:nvSpPr>
          <p:cNvPr id="26" name="Text 18"/>
          <p:cNvSpPr txBox="1"/>
          <p:nvPr/>
        </p:nvSpPr>
        <p:spPr>
          <a:xfrm>
            <a:off x="548640" y="5623560"/>
            <a:ext cx="110642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One form in, one checked and differentiated PDF out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3</a:t>
            </a:r>
            <a:endParaRPr lang="en-US" sz="1200" dirty="0"/>
          </a:p>
        </p:txBody>
      </p:sp>
      <p:sp>
        <p:nvSpPr>
          <p:cNvPr id="9" name="Text 4"/>
          <p:cNvSpPr txBox="1"/>
          <p:nvPr/>
        </p:nvSpPr>
        <p:spPr>
          <a:xfrm>
            <a:off x="1463040" y="411480"/>
            <a:ext cx="9144000" cy="685800"/>
          </a:xfrm>
          <a:prstGeom prst="rect">
            <a:avLst/>
          </a:prstGeom>
          <a:noFill/>
          <a:ln/>
        </p:spPr>
        <p:txBody>
          <a:bodyPr wrap="square" lIns="0" tIns="0" rIns="0" bIns="0" rtlCol="0" anchor="ctr"/>
          <a:lstStyle/>
          <a:p>
            <a:pPr marL="0" indent="0" algn="ctr">
              <a:buNone/>
            </a:pPr>
            <a:r>
              <a:rPr lang="en-US" sz="2800" b="1" dirty="0">
                <a:solidFill>
                  <a:srgbClr val="047954"/>
                </a:solidFill>
                <a:latin typeface="Arial" pitchFamily="34" charset="0"/>
                <a:ea typeface="Arial" pitchFamily="34" charset="-122"/>
                <a:cs typeface="Arial" pitchFamily="34" charset="-120"/>
              </a:rPr>
              <a:t>Project Wireframe</a:t>
            </a:r>
            <a:endParaRPr lang="en-US" sz="2800" dirty="0"/>
          </a:p>
        </p:txBody>
      </p:sp>
      <p:sp>
        <p:nvSpPr>
          <p:cNvPr id="10" name="Shape 5"/>
          <p:cNvSpPr/>
          <p:nvPr/>
        </p:nvSpPr>
        <p:spPr>
          <a:xfrm>
            <a:off x="566928" y="1316736"/>
            <a:ext cx="329184" cy="329184"/>
          </a:xfrm>
          <a:prstGeom prst="ellipse">
            <a:avLst/>
          </a:prstGeom>
          <a:solidFill>
            <a:srgbClr val="047954"/>
          </a:solidFill>
          <a:ln w="19050">
            <a:solidFill>
              <a:srgbClr val="FFFFFF"/>
            </a:solidFill>
            <a:prstDash val="solid"/>
          </a:ln>
        </p:spPr>
      </p:sp>
      <p:sp>
        <p:nvSpPr>
          <p:cNvPr id="11" name="Text 6"/>
          <p:cNvSpPr txBox="1"/>
          <p:nvPr/>
        </p:nvSpPr>
        <p:spPr>
          <a:xfrm>
            <a:off x="566928" y="131673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7"/>
          <p:cNvSpPr txBox="1"/>
          <p:nvPr/>
        </p:nvSpPr>
        <p:spPr>
          <a:xfrm>
            <a:off x="1005840" y="1325880"/>
            <a:ext cx="3749040" cy="320040"/>
          </a:xfrm>
          <a:prstGeom prst="rect">
            <a:avLst/>
          </a:prstGeom>
          <a:noFill/>
          <a:ln/>
        </p:spPr>
        <p:txBody>
          <a:bodyPr wrap="square" lIns="0" tIns="0" rIns="0" bIns="0" rtlCol="0" anchor="ctr"/>
          <a:lstStyle/>
          <a:p>
            <a:pPr marL="0" indent="0">
              <a:buNone/>
            </a:pPr>
            <a:r>
              <a:rPr lang="en-US" sz="1500" b="1" dirty="0">
                <a:solidFill>
                  <a:srgbClr val="047954"/>
                </a:solidFill>
                <a:latin typeface="Arial" pitchFamily="34" charset="0"/>
                <a:ea typeface="Arial" pitchFamily="34" charset="-122"/>
                <a:cs typeface="Arial" pitchFamily="34" charset="-120"/>
              </a:rPr>
              <a:t>Teacher form</a:t>
            </a:r>
            <a:endParaRPr lang="en-US" sz="1500" dirty="0"/>
          </a:p>
        </p:txBody>
      </p:sp>
      <p:sp>
        <p:nvSpPr>
          <p:cNvPr id="13" name="Shape 8"/>
          <p:cNvSpPr/>
          <p:nvPr/>
        </p:nvSpPr>
        <p:spPr>
          <a:xfrm>
            <a:off x="4956048" y="1316736"/>
            <a:ext cx="329184" cy="329184"/>
          </a:xfrm>
          <a:prstGeom prst="ellipse">
            <a:avLst/>
          </a:prstGeom>
          <a:solidFill>
            <a:srgbClr val="336EA8"/>
          </a:solidFill>
          <a:ln w="19050">
            <a:solidFill>
              <a:srgbClr val="FFFFFF"/>
            </a:solidFill>
            <a:prstDash val="solid"/>
          </a:ln>
        </p:spPr>
      </p:sp>
      <p:sp>
        <p:nvSpPr>
          <p:cNvPr id="14" name="Text 9"/>
          <p:cNvSpPr txBox="1"/>
          <p:nvPr/>
        </p:nvSpPr>
        <p:spPr>
          <a:xfrm>
            <a:off x="4956048" y="131673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0"/>
          <p:cNvSpPr txBox="1"/>
          <p:nvPr/>
        </p:nvSpPr>
        <p:spPr>
          <a:xfrm>
            <a:off x="5394960" y="1325880"/>
            <a:ext cx="3474720" cy="320040"/>
          </a:xfrm>
          <a:prstGeom prst="rect">
            <a:avLst/>
          </a:prstGeom>
          <a:noFill/>
          <a:ln/>
        </p:spPr>
        <p:txBody>
          <a:bodyPr wrap="square" lIns="0" tIns="0" rIns="0" bIns="0" rtlCol="0" anchor="ctr"/>
          <a:lstStyle/>
          <a:p>
            <a:pPr marL="0" indent="0">
              <a:buNone/>
            </a:pPr>
            <a:r>
              <a:rPr lang="en-US" sz="1500" b="1" dirty="0">
                <a:solidFill>
                  <a:srgbClr val="047954"/>
                </a:solidFill>
                <a:latin typeface="Arial" pitchFamily="34" charset="0"/>
                <a:ea typeface="Arial" pitchFamily="34" charset="-122"/>
                <a:cs typeface="Arial" pitchFamily="34" charset="-120"/>
              </a:rPr>
              <a:t>Email delivery</a:t>
            </a:r>
            <a:endParaRPr lang="en-US" sz="1500" dirty="0"/>
          </a:p>
        </p:txBody>
      </p:sp>
      <p:sp>
        <p:nvSpPr>
          <p:cNvPr id="16" name="Shape 11"/>
          <p:cNvSpPr/>
          <p:nvPr/>
        </p:nvSpPr>
        <p:spPr>
          <a:xfrm>
            <a:off x="9116568" y="1316736"/>
            <a:ext cx="329184" cy="329184"/>
          </a:xfrm>
          <a:prstGeom prst="ellipse">
            <a:avLst/>
          </a:prstGeom>
          <a:solidFill>
            <a:srgbClr val="D7B119"/>
          </a:solidFill>
          <a:ln w="19050">
            <a:solidFill>
              <a:srgbClr val="FFFFFF"/>
            </a:solidFill>
            <a:prstDash val="solid"/>
          </a:ln>
        </p:spPr>
      </p:sp>
      <p:sp>
        <p:nvSpPr>
          <p:cNvPr id="17" name="Text 12"/>
          <p:cNvSpPr txBox="1"/>
          <p:nvPr/>
        </p:nvSpPr>
        <p:spPr>
          <a:xfrm>
            <a:off x="9116568" y="131673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3"/>
          <p:cNvSpPr txBox="1"/>
          <p:nvPr/>
        </p:nvSpPr>
        <p:spPr>
          <a:xfrm>
            <a:off x="9555480" y="1325880"/>
            <a:ext cx="1737360" cy="320040"/>
          </a:xfrm>
          <a:prstGeom prst="rect">
            <a:avLst/>
          </a:prstGeom>
          <a:noFill/>
          <a:ln/>
        </p:spPr>
        <p:txBody>
          <a:bodyPr wrap="square" lIns="0" tIns="0" rIns="0" bIns="0" rtlCol="0" anchor="ctr"/>
          <a:lstStyle/>
          <a:p>
            <a:pPr marL="0" indent="0">
              <a:buNone/>
            </a:pPr>
            <a:r>
              <a:rPr lang="en-US" sz="1500" b="1" dirty="0">
                <a:solidFill>
                  <a:srgbClr val="047954"/>
                </a:solidFill>
                <a:latin typeface="Arial" pitchFamily="34" charset="0"/>
                <a:ea typeface="Arial" pitchFamily="34" charset="-122"/>
                <a:cs typeface="Arial" pitchFamily="34" charset="-120"/>
              </a:rPr>
              <a:t>Generated PDF</a:t>
            </a:r>
            <a:endParaRPr lang="en-US" sz="1500" dirty="0"/>
          </a:p>
        </p:txBody>
      </p:sp>
      <p:sp>
        <p:nvSpPr>
          <p:cNvPr id="19" name="wireframe form"/>
          <p:cNvSpPr/>
          <p:nvPr/>
        </p:nvSpPr>
        <p:spPr>
          <a:xfrm>
            <a:off x="548640" y="1737360"/>
            <a:ext cx="4206240" cy="3063240"/>
          </a:xfrm>
          <a:prstGeom prst="roundRect">
            <a:avLst>
              <a:gd name="adj" fmla="val 2985"/>
            </a:avLst>
          </a:prstGeom>
          <a:solidFill>
            <a:srgbClr val="FFFFFF"/>
          </a:solidFill>
          <a:ln w="12700">
            <a:solidFill>
              <a:srgbClr val="CFDDD6"/>
            </a:solidFill>
            <a:prstDash val="solid"/>
          </a:ln>
        </p:spPr>
      </p:sp>
      <p:sp>
        <p:nvSpPr>
          <p:cNvPr id="20" name="Text 15"/>
          <p:cNvSpPr txBox="1"/>
          <p:nvPr/>
        </p:nvSpPr>
        <p:spPr>
          <a:xfrm>
            <a:off x="731520" y="1810512"/>
            <a:ext cx="3840480" cy="274320"/>
          </a:xfrm>
          <a:prstGeom prst="rect">
            <a:avLst/>
          </a:prstGeom>
          <a:noFill/>
          <a:ln/>
        </p:spPr>
        <p:txBody>
          <a:bodyPr wrap="square" lIns="0" tIns="0" rIns="0" bIns="0" rtlCol="0" anchor="ctr"/>
          <a:lstStyle/>
          <a:p>
            <a:pPr marL="0" indent="0">
              <a:buNone/>
            </a:pPr>
            <a:r>
              <a:rPr lang="en-US" sz="1400" b="1" dirty="0">
                <a:solidFill>
                  <a:srgbClr val="1F2D3A"/>
                </a:solidFill>
                <a:latin typeface="Arial" pitchFamily="34" charset="0"/>
                <a:ea typeface="Arial" pitchFamily="34" charset="-122"/>
                <a:cs typeface="Arial" pitchFamily="34" charset="-120"/>
              </a:rPr>
              <a:t>Teaching Materials Generator</a:t>
            </a:r>
            <a:endParaRPr lang="en-US" sz="1400" dirty="0"/>
          </a:p>
        </p:txBody>
      </p:sp>
      <p:sp>
        <p:nvSpPr>
          <p:cNvPr id="21" name="Text 16"/>
          <p:cNvSpPr txBox="1"/>
          <p:nvPr/>
        </p:nvSpPr>
        <p:spPr>
          <a:xfrm>
            <a:off x="731520" y="2084832"/>
            <a:ext cx="3840480" cy="228600"/>
          </a:xfrm>
          <a:prstGeom prst="rect">
            <a:avLst/>
          </a:prstGeom>
          <a:noFill/>
          <a:ln/>
        </p:spPr>
        <p:txBody>
          <a:bodyPr wrap="square" lIns="0" tIns="0" rIns="0" bIns="0" rtlCol="0" anchor="ctr"/>
          <a:lstStyle/>
          <a:p>
            <a:pPr marL="0" indent="0">
              <a:buNone/>
            </a:pPr>
            <a:r>
              <a:rPr lang="en-US" sz="1000" dirty="0">
                <a:solidFill>
                  <a:srgbClr val="566575"/>
                </a:solidFill>
                <a:latin typeface="Arial" pitchFamily="34" charset="0"/>
                <a:ea typeface="Arial" pitchFamily="34" charset="-122"/>
                <a:cs typeface="Arial" pitchFamily="34" charset="-120"/>
              </a:rPr>
              <a:t>Enter a topic once and get a full resource package by email</a:t>
            </a:r>
            <a:endParaRPr lang="en-US" sz="1000" dirty="0"/>
          </a:p>
        </p:txBody>
      </p:sp>
      <p:sp>
        <p:nvSpPr>
          <p:cNvPr id="22" name="Text 17"/>
          <p:cNvSpPr txBox="1"/>
          <p:nvPr/>
        </p:nvSpPr>
        <p:spPr>
          <a:xfrm>
            <a:off x="731520" y="2395728"/>
            <a:ext cx="1828800" cy="182880"/>
          </a:xfrm>
          <a:prstGeom prst="rect">
            <a:avLst/>
          </a:prstGeom>
          <a:noFill/>
          <a:ln/>
        </p:spPr>
        <p:txBody>
          <a:bodyPr wrap="square" lIns="0" tIns="0" rIns="0" bIns="0" rtlCol="0" anchor="ctr"/>
          <a:lstStyle/>
          <a:p>
            <a:pPr marL="0" indent="0">
              <a:buNone/>
            </a:pPr>
            <a:r>
              <a:rPr lang="en-US" sz="1000" b="1" dirty="0">
                <a:solidFill>
                  <a:srgbClr val="566575"/>
                </a:solidFill>
                <a:latin typeface="Arial" pitchFamily="34" charset="0"/>
                <a:ea typeface="Arial" pitchFamily="34" charset="-122"/>
                <a:cs typeface="Arial" pitchFamily="34" charset="-120"/>
              </a:rPr>
              <a:t>Subject *</a:t>
            </a:r>
            <a:endParaRPr lang="en-US" sz="1000" dirty="0"/>
          </a:p>
        </p:txBody>
      </p:sp>
      <p:sp>
        <p:nvSpPr>
          <p:cNvPr id="23" name="Shape 18"/>
          <p:cNvSpPr/>
          <p:nvPr/>
        </p:nvSpPr>
        <p:spPr>
          <a:xfrm>
            <a:off x="731520" y="2587752"/>
            <a:ext cx="1828800" cy="228600"/>
          </a:xfrm>
          <a:prstGeom prst="rect">
            <a:avLst/>
          </a:prstGeom>
          <a:solidFill>
            <a:srgbClr val="F1F5F3"/>
          </a:solidFill>
          <a:ln w="9525">
            <a:solidFill>
              <a:srgbClr val="CFDDD6"/>
            </a:solidFill>
            <a:prstDash val="solid"/>
          </a:ln>
        </p:spPr>
      </p:sp>
      <p:sp>
        <p:nvSpPr>
          <p:cNvPr id="24" name="Text 19"/>
          <p:cNvSpPr txBox="1"/>
          <p:nvPr/>
        </p:nvSpPr>
        <p:spPr>
          <a:xfrm>
            <a:off x="2743200" y="2395728"/>
            <a:ext cx="1828800" cy="182880"/>
          </a:xfrm>
          <a:prstGeom prst="rect">
            <a:avLst/>
          </a:prstGeom>
          <a:noFill/>
          <a:ln/>
        </p:spPr>
        <p:txBody>
          <a:bodyPr wrap="square" lIns="0" tIns="0" rIns="0" bIns="0" rtlCol="0" anchor="ctr"/>
          <a:lstStyle/>
          <a:p>
            <a:pPr marL="0" indent="0">
              <a:buNone/>
            </a:pPr>
            <a:r>
              <a:rPr lang="en-US" sz="1000" b="1" dirty="0">
                <a:solidFill>
                  <a:srgbClr val="566575"/>
                </a:solidFill>
                <a:latin typeface="Arial" pitchFamily="34" charset="0"/>
                <a:ea typeface="Arial" pitchFamily="34" charset="-122"/>
                <a:cs typeface="Arial" pitchFamily="34" charset="-120"/>
              </a:rPr>
              <a:t>Grade Level *</a:t>
            </a:r>
            <a:endParaRPr lang="en-US" sz="1000" dirty="0"/>
          </a:p>
        </p:txBody>
      </p:sp>
      <p:sp>
        <p:nvSpPr>
          <p:cNvPr id="25" name="Shape 20"/>
          <p:cNvSpPr/>
          <p:nvPr/>
        </p:nvSpPr>
        <p:spPr>
          <a:xfrm>
            <a:off x="2743200" y="2587752"/>
            <a:ext cx="1828800" cy="228600"/>
          </a:xfrm>
          <a:prstGeom prst="rect">
            <a:avLst/>
          </a:prstGeom>
          <a:solidFill>
            <a:srgbClr val="F1F5F3"/>
          </a:solidFill>
          <a:ln w="9525">
            <a:solidFill>
              <a:srgbClr val="CFDDD6"/>
            </a:solidFill>
            <a:prstDash val="solid"/>
          </a:ln>
        </p:spPr>
      </p:sp>
      <p:sp>
        <p:nvSpPr>
          <p:cNvPr id="26" name="Text 21"/>
          <p:cNvSpPr txBox="1"/>
          <p:nvPr/>
        </p:nvSpPr>
        <p:spPr>
          <a:xfrm>
            <a:off x="731520" y="2871216"/>
            <a:ext cx="1828800" cy="182880"/>
          </a:xfrm>
          <a:prstGeom prst="rect">
            <a:avLst/>
          </a:prstGeom>
          <a:noFill/>
          <a:ln/>
        </p:spPr>
        <p:txBody>
          <a:bodyPr wrap="square" lIns="0" tIns="0" rIns="0" bIns="0" rtlCol="0" anchor="ctr"/>
          <a:lstStyle/>
          <a:p>
            <a:pPr marL="0" indent="0">
              <a:buNone/>
            </a:pPr>
            <a:r>
              <a:rPr lang="en-US" sz="1000" b="1" dirty="0">
                <a:solidFill>
                  <a:srgbClr val="566575"/>
                </a:solidFill>
                <a:latin typeface="Arial" pitchFamily="34" charset="0"/>
                <a:ea typeface="Arial" pitchFamily="34" charset="-122"/>
                <a:cs typeface="Arial" pitchFamily="34" charset="-120"/>
              </a:rPr>
              <a:t>Lesson Topic *</a:t>
            </a:r>
            <a:endParaRPr lang="en-US" sz="1000" dirty="0"/>
          </a:p>
        </p:txBody>
      </p:sp>
      <p:sp>
        <p:nvSpPr>
          <p:cNvPr id="27" name="Shape 22"/>
          <p:cNvSpPr/>
          <p:nvPr/>
        </p:nvSpPr>
        <p:spPr>
          <a:xfrm>
            <a:off x="731520" y="3063240"/>
            <a:ext cx="1828800" cy="228600"/>
          </a:xfrm>
          <a:prstGeom prst="rect">
            <a:avLst/>
          </a:prstGeom>
          <a:solidFill>
            <a:srgbClr val="F1F5F3"/>
          </a:solidFill>
          <a:ln w="9525">
            <a:solidFill>
              <a:srgbClr val="CFDDD6"/>
            </a:solidFill>
            <a:prstDash val="solid"/>
          </a:ln>
        </p:spPr>
      </p:sp>
      <p:sp>
        <p:nvSpPr>
          <p:cNvPr id="28" name="Text 23"/>
          <p:cNvSpPr txBox="1"/>
          <p:nvPr/>
        </p:nvSpPr>
        <p:spPr>
          <a:xfrm>
            <a:off x="2743200" y="2871216"/>
            <a:ext cx="1828800" cy="182880"/>
          </a:xfrm>
          <a:prstGeom prst="rect">
            <a:avLst/>
          </a:prstGeom>
          <a:noFill/>
          <a:ln/>
        </p:spPr>
        <p:txBody>
          <a:bodyPr wrap="square" lIns="0" tIns="0" rIns="0" bIns="0" rtlCol="0" anchor="ctr"/>
          <a:lstStyle/>
          <a:p>
            <a:pPr marL="0" indent="0">
              <a:buNone/>
            </a:pPr>
            <a:r>
              <a:rPr lang="en-US" sz="1000" b="1" dirty="0">
                <a:solidFill>
                  <a:srgbClr val="566575"/>
                </a:solidFill>
                <a:latin typeface="Arial" pitchFamily="34" charset="0"/>
                <a:ea typeface="Arial" pitchFamily="34" charset="-122"/>
                <a:cs typeface="Arial" pitchFamily="34" charset="-120"/>
              </a:rPr>
              <a:t>Learning Objective *</a:t>
            </a:r>
            <a:endParaRPr lang="en-US" sz="1000" dirty="0"/>
          </a:p>
        </p:txBody>
      </p:sp>
      <p:sp>
        <p:nvSpPr>
          <p:cNvPr id="29" name="Shape 24"/>
          <p:cNvSpPr/>
          <p:nvPr/>
        </p:nvSpPr>
        <p:spPr>
          <a:xfrm>
            <a:off x="2743200" y="3063240"/>
            <a:ext cx="1828800" cy="228600"/>
          </a:xfrm>
          <a:prstGeom prst="rect">
            <a:avLst/>
          </a:prstGeom>
          <a:solidFill>
            <a:srgbClr val="F1F5F3"/>
          </a:solidFill>
          <a:ln w="9525">
            <a:solidFill>
              <a:srgbClr val="CFDDD6"/>
            </a:solidFill>
            <a:prstDash val="solid"/>
          </a:ln>
        </p:spPr>
      </p:sp>
      <p:sp>
        <p:nvSpPr>
          <p:cNvPr id="30" name="Text 25"/>
          <p:cNvSpPr txBox="1"/>
          <p:nvPr/>
        </p:nvSpPr>
        <p:spPr>
          <a:xfrm>
            <a:off x="731520" y="3346704"/>
            <a:ext cx="1828800" cy="182880"/>
          </a:xfrm>
          <a:prstGeom prst="rect">
            <a:avLst/>
          </a:prstGeom>
          <a:noFill/>
          <a:ln/>
        </p:spPr>
        <p:txBody>
          <a:bodyPr wrap="square" lIns="0" tIns="0" rIns="0" bIns="0" rtlCol="0" anchor="ctr"/>
          <a:lstStyle/>
          <a:p>
            <a:pPr marL="0" indent="0">
              <a:buNone/>
            </a:pPr>
            <a:r>
              <a:rPr lang="en-US" sz="1000" b="1" dirty="0">
                <a:solidFill>
                  <a:srgbClr val="566575"/>
                </a:solidFill>
                <a:latin typeface="Arial" pitchFamily="34" charset="0"/>
                <a:ea typeface="Arial" pitchFamily="34" charset="-122"/>
                <a:cs typeface="Arial" pitchFamily="34" charset="-120"/>
              </a:rPr>
              <a:t>Lesson Duration *</a:t>
            </a:r>
            <a:endParaRPr lang="en-US" sz="1000" dirty="0"/>
          </a:p>
        </p:txBody>
      </p:sp>
      <p:sp>
        <p:nvSpPr>
          <p:cNvPr id="31" name="Shape 26"/>
          <p:cNvSpPr/>
          <p:nvPr/>
        </p:nvSpPr>
        <p:spPr>
          <a:xfrm>
            <a:off x="731520" y="3538728"/>
            <a:ext cx="1828800" cy="228600"/>
          </a:xfrm>
          <a:prstGeom prst="rect">
            <a:avLst/>
          </a:prstGeom>
          <a:solidFill>
            <a:srgbClr val="F1F5F3"/>
          </a:solidFill>
          <a:ln w="9525">
            <a:solidFill>
              <a:srgbClr val="CFDDD6"/>
            </a:solidFill>
            <a:prstDash val="solid"/>
          </a:ln>
        </p:spPr>
      </p:sp>
      <p:sp>
        <p:nvSpPr>
          <p:cNvPr id="32" name="Text 27"/>
          <p:cNvSpPr txBox="1"/>
          <p:nvPr/>
        </p:nvSpPr>
        <p:spPr>
          <a:xfrm>
            <a:off x="2743200" y="3346704"/>
            <a:ext cx="1828800" cy="182880"/>
          </a:xfrm>
          <a:prstGeom prst="rect">
            <a:avLst/>
          </a:prstGeom>
          <a:noFill/>
          <a:ln/>
        </p:spPr>
        <p:txBody>
          <a:bodyPr wrap="square" lIns="0" tIns="0" rIns="0" bIns="0" rtlCol="0" anchor="ctr"/>
          <a:lstStyle/>
          <a:p>
            <a:pPr marL="0" indent="0">
              <a:buNone/>
            </a:pPr>
            <a:r>
              <a:rPr lang="en-US" sz="1000" b="1" dirty="0">
                <a:solidFill>
                  <a:srgbClr val="566575"/>
                </a:solidFill>
                <a:latin typeface="Arial" pitchFamily="34" charset="0"/>
                <a:ea typeface="Arial" pitchFamily="34" charset="-122"/>
                <a:cs typeface="Arial" pitchFamily="34" charset="-120"/>
              </a:rPr>
              <a:t>Language *</a:t>
            </a:r>
            <a:endParaRPr lang="en-US" sz="1000" dirty="0"/>
          </a:p>
        </p:txBody>
      </p:sp>
      <p:sp>
        <p:nvSpPr>
          <p:cNvPr id="33" name="Shape 28"/>
          <p:cNvSpPr/>
          <p:nvPr/>
        </p:nvSpPr>
        <p:spPr>
          <a:xfrm>
            <a:off x="2743200" y="3538728"/>
            <a:ext cx="1828800" cy="228600"/>
          </a:xfrm>
          <a:prstGeom prst="rect">
            <a:avLst/>
          </a:prstGeom>
          <a:solidFill>
            <a:srgbClr val="F1F5F3"/>
          </a:solidFill>
          <a:ln w="9525">
            <a:solidFill>
              <a:srgbClr val="CFDDD6"/>
            </a:solidFill>
            <a:prstDash val="solid"/>
          </a:ln>
        </p:spPr>
      </p:sp>
      <p:sp>
        <p:nvSpPr>
          <p:cNvPr id="34" name="Text 29"/>
          <p:cNvSpPr txBox="1"/>
          <p:nvPr/>
        </p:nvSpPr>
        <p:spPr>
          <a:xfrm>
            <a:off x="731520" y="3822192"/>
            <a:ext cx="1828800" cy="182880"/>
          </a:xfrm>
          <a:prstGeom prst="rect">
            <a:avLst/>
          </a:prstGeom>
          <a:noFill/>
          <a:ln/>
        </p:spPr>
        <p:txBody>
          <a:bodyPr wrap="square" lIns="0" tIns="0" rIns="0" bIns="0" rtlCol="0" anchor="ctr"/>
          <a:lstStyle/>
          <a:p>
            <a:pPr marL="0" indent="0">
              <a:buNone/>
            </a:pPr>
            <a:r>
              <a:rPr lang="en-US" sz="1000" b="1" dirty="0">
                <a:solidFill>
                  <a:srgbClr val="566575"/>
                </a:solidFill>
                <a:latin typeface="Arial" pitchFamily="34" charset="0"/>
                <a:ea typeface="Arial" pitchFamily="34" charset="-122"/>
                <a:cs typeface="Arial" pitchFamily="34" charset="-120"/>
              </a:rPr>
              <a:t>Email *</a:t>
            </a:r>
            <a:endParaRPr lang="en-US" sz="1000" dirty="0"/>
          </a:p>
        </p:txBody>
      </p:sp>
      <p:sp>
        <p:nvSpPr>
          <p:cNvPr id="35" name="Shape 30"/>
          <p:cNvSpPr/>
          <p:nvPr/>
        </p:nvSpPr>
        <p:spPr>
          <a:xfrm>
            <a:off x="731520" y="4014216"/>
            <a:ext cx="1828800" cy="228600"/>
          </a:xfrm>
          <a:prstGeom prst="rect">
            <a:avLst/>
          </a:prstGeom>
          <a:solidFill>
            <a:srgbClr val="F1F5F3"/>
          </a:solidFill>
          <a:ln w="9525">
            <a:solidFill>
              <a:srgbClr val="CFDDD6"/>
            </a:solidFill>
            <a:prstDash val="solid"/>
          </a:ln>
        </p:spPr>
      </p:sp>
      <p:sp>
        <p:nvSpPr>
          <p:cNvPr id="36" name="Text 31"/>
          <p:cNvSpPr txBox="1"/>
          <p:nvPr/>
        </p:nvSpPr>
        <p:spPr>
          <a:xfrm>
            <a:off x="2743200" y="3840480"/>
            <a:ext cx="1828800" cy="274320"/>
          </a:xfrm>
          <a:prstGeom prst="rect">
            <a:avLst/>
          </a:prstGeom>
          <a:noFill/>
          <a:ln/>
        </p:spPr>
        <p:txBody>
          <a:bodyPr wrap="square" lIns="0" tIns="0" rIns="0" bIns="0" rtlCol="0" anchor="ctr"/>
          <a:lstStyle/>
          <a:p>
            <a:pPr marL="0" indent="0">
              <a:buNone/>
            </a:pPr>
            <a:r>
              <a:rPr lang="en-US" sz="1000" i="1" dirty="0">
                <a:solidFill>
                  <a:srgbClr val="566575"/>
                </a:solidFill>
                <a:latin typeface="Arial" pitchFamily="34" charset="0"/>
                <a:ea typeface="Arial" pitchFamily="34" charset="-122"/>
                <a:cs typeface="Arial" pitchFamily="34" charset="-120"/>
              </a:rPr>
              <a:t>+ 4 optional fields</a:t>
            </a:r>
            <a:endParaRPr lang="en-US" sz="1000" dirty="0"/>
          </a:p>
        </p:txBody>
      </p:sp>
      <p:sp>
        <p:nvSpPr>
          <p:cNvPr id="37" name="Shape 32"/>
          <p:cNvSpPr/>
          <p:nvPr/>
        </p:nvSpPr>
        <p:spPr>
          <a:xfrm>
            <a:off x="731520" y="4343400"/>
            <a:ext cx="1188720" cy="310896"/>
          </a:xfrm>
          <a:prstGeom prst="roundRect">
            <a:avLst>
              <a:gd name="adj" fmla="val 50000"/>
            </a:avLst>
          </a:prstGeom>
          <a:solidFill>
            <a:srgbClr val="047954"/>
          </a:solidFill>
          <a:ln w="6350">
            <a:solidFill>
              <a:srgbClr val="047954"/>
            </a:solidFill>
            <a:prstDash val="solid"/>
          </a:ln>
        </p:spPr>
      </p:sp>
      <p:sp>
        <p:nvSpPr>
          <p:cNvPr id="38" name="Text 33"/>
          <p:cNvSpPr txBox="1"/>
          <p:nvPr/>
        </p:nvSpPr>
        <p:spPr>
          <a:xfrm>
            <a:off x="731520" y="4343400"/>
            <a:ext cx="118872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Submit</a:t>
            </a:r>
            <a:endParaRPr lang="en-US" sz="1200" dirty="0"/>
          </a:p>
        </p:txBody>
      </p:sp>
      <p:sp>
        <p:nvSpPr>
          <p:cNvPr id="39" name="wireframe email"/>
          <p:cNvSpPr/>
          <p:nvPr/>
        </p:nvSpPr>
        <p:spPr>
          <a:xfrm>
            <a:off x="4937760" y="1737360"/>
            <a:ext cx="3931920" cy="3063240"/>
          </a:xfrm>
          <a:prstGeom prst="roundRect">
            <a:avLst>
              <a:gd name="adj" fmla="val 2985"/>
            </a:avLst>
          </a:prstGeom>
          <a:solidFill>
            <a:srgbClr val="FFFFFF"/>
          </a:solidFill>
          <a:ln w="12700">
            <a:solidFill>
              <a:srgbClr val="CFDDD6"/>
            </a:solidFill>
            <a:prstDash val="solid"/>
          </a:ln>
        </p:spPr>
      </p:sp>
      <p:sp>
        <p:nvSpPr>
          <p:cNvPr id="40" name="Text 35"/>
          <p:cNvSpPr txBox="1"/>
          <p:nvPr/>
        </p:nvSpPr>
        <p:spPr>
          <a:xfrm>
            <a:off x="5120640" y="1810512"/>
            <a:ext cx="3566160" cy="274320"/>
          </a:xfrm>
          <a:prstGeom prst="rect">
            <a:avLst/>
          </a:prstGeom>
          <a:noFill/>
          <a:ln/>
        </p:spPr>
        <p:txBody>
          <a:bodyPr wrap="square" lIns="0" tIns="0" rIns="0" bIns="0" rtlCol="0" anchor="ctr"/>
          <a:lstStyle/>
          <a:p>
            <a:pPr marL="0" indent="0">
              <a:buNone/>
            </a:pPr>
            <a:r>
              <a:rPr lang="en-US" sz="1200" b="1" dirty="0">
                <a:solidFill>
                  <a:srgbClr val="1F2D3A"/>
                </a:solidFill>
                <a:latin typeface="Arial" pitchFamily="34" charset="0"/>
                <a:ea typeface="Arial" pitchFamily="34" charset="-122"/>
                <a:cs typeface="Arial" pitchFamily="34" charset="-120"/>
              </a:rPr>
              <a:t>Teaching package: How the insects grow</a:t>
            </a:r>
            <a:endParaRPr lang="en-US" sz="1200" dirty="0"/>
          </a:p>
        </p:txBody>
      </p:sp>
      <p:sp>
        <p:nvSpPr>
          <p:cNvPr id="41" name="Shape 36"/>
          <p:cNvSpPr/>
          <p:nvPr/>
        </p:nvSpPr>
        <p:spPr>
          <a:xfrm>
            <a:off x="5120640" y="2130552"/>
            <a:ext cx="3566160" cy="0"/>
          </a:xfrm>
          <a:prstGeom prst="line">
            <a:avLst/>
          </a:prstGeom>
          <a:noFill/>
          <a:ln w="12700">
            <a:solidFill>
              <a:srgbClr val="CFDDD6"/>
            </a:solidFill>
            <a:prstDash val="solid"/>
          </a:ln>
        </p:spPr>
      </p:sp>
      <p:sp>
        <p:nvSpPr>
          <p:cNvPr id="42" name="Text 37"/>
          <p:cNvSpPr txBox="1"/>
          <p:nvPr/>
        </p:nvSpPr>
        <p:spPr>
          <a:xfrm>
            <a:off x="5120640" y="2221992"/>
            <a:ext cx="3566160" cy="228600"/>
          </a:xfrm>
          <a:prstGeom prst="rect">
            <a:avLst/>
          </a:prstGeom>
          <a:noFill/>
          <a:ln/>
        </p:spPr>
        <p:txBody>
          <a:bodyPr wrap="square" lIns="0" tIns="0" rIns="0" bIns="0" rtlCol="0" anchor="ctr"/>
          <a:lstStyle/>
          <a:p>
            <a:pPr marL="0" indent="0">
              <a:buNone/>
            </a:pPr>
            <a:r>
              <a:rPr lang="en-US" sz="1100" dirty="0">
                <a:solidFill>
                  <a:srgbClr val="1F2D3A"/>
                </a:solidFill>
                <a:latin typeface="Arial" pitchFamily="34" charset="0"/>
                <a:ea typeface="Arial" pitchFamily="34" charset="-122"/>
                <a:cs typeface="Arial" pitchFamily="34" charset="-120"/>
              </a:rPr>
              <a:t>Your complete teaching package is attached.</a:t>
            </a:r>
            <a:endParaRPr lang="en-US" sz="1100" dirty="0"/>
          </a:p>
        </p:txBody>
      </p:sp>
      <p:sp>
        <p:nvSpPr>
          <p:cNvPr id="43" name="Shape 38"/>
          <p:cNvSpPr/>
          <p:nvPr/>
        </p:nvSpPr>
        <p:spPr>
          <a:xfrm>
            <a:off x="5120640" y="2542032"/>
            <a:ext cx="2468880" cy="502920"/>
          </a:xfrm>
          <a:prstGeom prst="roundRect">
            <a:avLst>
              <a:gd name="adj" fmla="val 14545"/>
            </a:avLst>
          </a:prstGeom>
          <a:solidFill>
            <a:srgbClr val="FAF3D3"/>
          </a:solidFill>
          <a:ln w="12700">
            <a:solidFill>
              <a:srgbClr val="D7B119"/>
            </a:solidFill>
            <a:prstDash val="solid"/>
          </a:ln>
        </p:spPr>
      </p:sp>
      <p:pic>
        <p:nvPicPr>
          <p:cNvPr id="44" name="Image 3" descr="preencoded.png"/>
          <p:cNvPicPr>
            <a:picLocks noChangeAspect="1"/>
          </p:cNvPicPr>
          <p:nvPr/>
        </p:nvPicPr>
        <p:blipFill>
          <a:blip r:embed="rId7"/>
          <a:stretch>
            <a:fillRect/>
          </a:stretch>
        </p:blipFill>
        <p:spPr>
          <a:xfrm>
            <a:off x="5212080" y="2651760"/>
            <a:ext cx="292608" cy="292608"/>
          </a:xfrm>
          <a:prstGeom prst="rect">
            <a:avLst/>
          </a:prstGeom>
        </p:spPr>
      </p:pic>
      <p:sp>
        <p:nvSpPr>
          <p:cNvPr id="45" name="Text 39"/>
          <p:cNvSpPr txBox="1"/>
          <p:nvPr/>
        </p:nvSpPr>
        <p:spPr>
          <a:xfrm>
            <a:off x="5577840" y="2542032"/>
            <a:ext cx="1920240" cy="502920"/>
          </a:xfrm>
          <a:prstGeom prst="rect">
            <a:avLst/>
          </a:prstGeom>
          <a:noFill/>
          <a:ln/>
        </p:spPr>
        <p:txBody>
          <a:bodyPr wrap="square" lIns="0" tIns="0" rIns="0" bIns="0" rtlCol="0" anchor="ctr"/>
          <a:lstStyle/>
          <a:p>
            <a:pPr marL="0" indent="0">
              <a:buNone/>
            </a:pPr>
            <a:r>
              <a:rPr lang="en-US" sz="1100" b="1" dirty="0">
                <a:solidFill>
                  <a:srgbClr val="1F2D3A"/>
                </a:solidFill>
                <a:latin typeface="Arial" pitchFamily="34" charset="0"/>
                <a:ea typeface="Arial" pitchFamily="34" charset="-122"/>
                <a:cs typeface="Arial" pitchFamily="34" charset="-120"/>
              </a:rPr>
              <a:t>Teaching package (PDF)</a:t>
            </a:r>
            <a:endParaRPr lang="en-US" sz="1100" dirty="0"/>
          </a:p>
        </p:txBody>
      </p:sp>
      <p:sp>
        <p:nvSpPr>
          <p:cNvPr id="46" name="Text 40"/>
          <p:cNvSpPr txBox="1"/>
          <p:nvPr/>
        </p:nvSpPr>
        <p:spPr>
          <a:xfrm>
            <a:off x="5120640" y="3154680"/>
            <a:ext cx="3566160" cy="201168"/>
          </a:xfrm>
          <a:prstGeom prst="rect">
            <a:avLst/>
          </a:prstGeom>
          <a:noFill/>
          <a:ln/>
        </p:spPr>
        <p:txBody>
          <a:bodyPr wrap="square" lIns="0" tIns="0" rIns="0" bIns="0" rtlCol="0" anchor="ctr"/>
          <a:lstStyle/>
          <a:p>
            <a:pPr marL="0" indent="0">
              <a:buNone/>
            </a:pPr>
            <a:r>
              <a:rPr lang="en-US" sz="1000" i="1" dirty="0">
                <a:solidFill>
                  <a:srgbClr val="566575"/>
                </a:solidFill>
                <a:latin typeface="Arial" pitchFamily="34" charset="0"/>
                <a:ea typeface="Arial" pitchFamily="34" charset="-122"/>
                <a:cs typeface="Arial" pitchFamily="34" charset="-120"/>
              </a:rPr>
              <a:t>or, if a section is missing:</a:t>
            </a:r>
            <a:endParaRPr lang="en-US" sz="1000" dirty="0"/>
          </a:p>
        </p:txBody>
      </p:sp>
      <p:sp>
        <p:nvSpPr>
          <p:cNvPr id="47" name="Shape 41"/>
          <p:cNvSpPr/>
          <p:nvPr/>
        </p:nvSpPr>
        <p:spPr>
          <a:xfrm>
            <a:off x="5120640" y="3401568"/>
            <a:ext cx="3566160" cy="1234440"/>
          </a:xfrm>
          <a:prstGeom prst="roundRect">
            <a:avLst>
              <a:gd name="adj" fmla="val 5926"/>
            </a:avLst>
          </a:prstGeom>
          <a:solidFill>
            <a:srgbClr val="FFF6F4"/>
          </a:solidFill>
          <a:ln w="12700">
            <a:solidFill>
              <a:srgbClr val="C0392B"/>
            </a:solidFill>
            <a:prstDash val="solid"/>
          </a:ln>
        </p:spPr>
      </p:sp>
      <p:sp>
        <p:nvSpPr>
          <p:cNvPr id="48" name="Text 42"/>
          <p:cNvSpPr txBox="1"/>
          <p:nvPr/>
        </p:nvSpPr>
        <p:spPr>
          <a:xfrm>
            <a:off x="5257800" y="3474720"/>
            <a:ext cx="3291840" cy="274320"/>
          </a:xfrm>
          <a:prstGeom prst="rect">
            <a:avLst/>
          </a:prstGeom>
          <a:noFill/>
          <a:ln/>
        </p:spPr>
        <p:txBody>
          <a:bodyPr wrap="square" lIns="0" tIns="0" rIns="0" bIns="0" rtlCol="0" anchor="ctr"/>
          <a:lstStyle/>
          <a:p>
            <a:pPr marL="0" indent="0">
              <a:buNone/>
            </a:pPr>
            <a:r>
              <a:rPr lang="en-US" sz="1200" b="1" dirty="0">
                <a:solidFill>
                  <a:srgbClr val="C0392B"/>
                </a:solidFill>
                <a:latin typeface="Arial" pitchFamily="34" charset="0"/>
                <a:ea typeface="Arial" pitchFamily="34" charset="-122"/>
                <a:cs typeface="Arial" pitchFamily="34" charset="-120"/>
              </a:rPr>
              <a:t>Teaching package incomplete</a:t>
            </a:r>
            <a:endParaRPr lang="en-US" sz="1200" dirty="0"/>
          </a:p>
        </p:txBody>
      </p:sp>
      <p:sp>
        <p:nvSpPr>
          <p:cNvPr id="49" name="Text 43"/>
          <p:cNvSpPr txBox="1"/>
          <p:nvPr/>
        </p:nvSpPr>
        <p:spPr>
          <a:xfrm>
            <a:off x="5257800" y="3794760"/>
            <a:ext cx="3291840" cy="457200"/>
          </a:xfrm>
          <a:prstGeom prst="rect">
            <a:avLst/>
          </a:prstGeom>
          <a:noFill/>
          <a:ln/>
        </p:spPr>
        <p:txBody>
          <a:bodyPr wrap="square" lIns="0" tIns="0" rIns="0" bIns="0" rtlCol="0" anchor="t"/>
          <a:lstStyle/>
          <a:p>
            <a:pPr marL="0" indent="0">
              <a:buNone/>
            </a:pPr>
            <a:r>
              <a:rPr lang="en-US" sz="1100" dirty="0">
                <a:solidFill>
                  <a:srgbClr val="1F2D3A"/>
                </a:solidFill>
                <a:latin typeface="Arial" pitchFamily="34" charset="0"/>
                <a:ea typeface="Arial" pitchFamily="34" charset="-122"/>
                <a:cs typeface="Arial" pitchFamily="34" charset="-120"/>
              </a:rPr>
              <a:t>A section is missing. Please run the form again.</a:t>
            </a:r>
            <a:endParaRPr lang="en-US" sz="1100" dirty="0"/>
          </a:p>
        </p:txBody>
      </p:sp>
      <p:sp>
        <p:nvSpPr>
          <p:cNvPr id="50" name="Text 44"/>
          <p:cNvSpPr txBox="1"/>
          <p:nvPr/>
        </p:nvSpPr>
        <p:spPr>
          <a:xfrm>
            <a:off x="5257800" y="4315968"/>
            <a:ext cx="3291840" cy="228600"/>
          </a:xfrm>
          <a:prstGeom prst="rect">
            <a:avLst/>
          </a:prstGeom>
          <a:noFill/>
          <a:ln/>
        </p:spPr>
        <p:txBody>
          <a:bodyPr wrap="square" lIns="0" tIns="0" rIns="0" bIns="0" rtlCol="0" anchor="ctr"/>
          <a:lstStyle/>
          <a:p>
            <a:pPr marL="0" indent="0">
              <a:buNone/>
            </a:pPr>
            <a:r>
              <a:rPr lang="en-US" sz="900" i="1" dirty="0">
                <a:solidFill>
                  <a:srgbClr val="566575"/>
                </a:solidFill>
                <a:latin typeface="Arial" pitchFamily="34" charset="0"/>
                <a:ea typeface="Arial" pitchFamily="34" charset="-122"/>
                <a:cs typeface="Arial" pitchFamily="34" charset="-120"/>
              </a:rPr>
              <a:t>Sent by the n8n Gmail node</a:t>
            </a:r>
            <a:endParaRPr lang="en-US" sz="900" dirty="0"/>
          </a:p>
        </p:txBody>
      </p:sp>
      <p:pic>
        <p:nvPicPr>
          <p:cNvPr id="51" name="screenshot generated pdf" descr="/home/claude/deck/shots/pdf1.png"/>
          <p:cNvPicPr>
            <a:picLocks noChangeAspect="1"/>
          </p:cNvPicPr>
          <p:nvPr/>
        </p:nvPicPr>
        <p:blipFill>
          <a:blip r:embed="rId8"/>
          <a:stretch>
            <a:fillRect/>
          </a:stretch>
        </p:blipFill>
        <p:spPr>
          <a:xfrm>
            <a:off x="9098280" y="1737360"/>
            <a:ext cx="2194560" cy="3102737"/>
          </a:xfrm>
          <a:prstGeom prst="rect">
            <a:avLst/>
          </a:prstGeom>
        </p:spPr>
      </p:pic>
      <p:sp>
        <p:nvSpPr>
          <p:cNvPr id="52" name="Shape 45"/>
          <p:cNvSpPr/>
          <p:nvPr/>
        </p:nvSpPr>
        <p:spPr>
          <a:xfrm>
            <a:off x="9098280" y="1737360"/>
            <a:ext cx="2194560" cy="3102737"/>
          </a:xfrm>
          <a:prstGeom prst="rect">
            <a:avLst/>
          </a:prstGeom>
          <a:solidFill>
            <a:srgbClr val="FFFFFF">
              <a:alpha val="0"/>
            </a:srgbClr>
          </a:solidFill>
          <a:ln w="12700">
            <a:solidFill>
              <a:srgbClr val="CFDDD6"/>
            </a:solidFill>
            <a:prstDash val="solid"/>
          </a:ln>
        </p:spPr>
      </p:sp>
      <p:sp>
        <p:nvSpPr>
          <p:cNvPr id="53" name="Shape 46"/>
          <p:cNvSpPr/>
          <p:nvPr/>
        </p:nvSpPr>
        <p:spPr>
          <a:xfrm>
            <a:off x="548640" y="4983480"/>
            <a:ext cx="1737360" cy="594360"/>
          </a:xfrm>
          <a:prstGeom prst="roundRect">
            <a:avLst>
              <a:gd name="adj" fmla="val 15385"/>
            </a:avLst>
          </a:prstGeom>
          <a:solidFill>
            <a:srgbClr val="047954"/>
          </a:solidFill>
          <a:ln w="6350">
            <a:solidFill>
              <a:srgbClr val="FFFFFF"/>
            </a:solidFill>
            <a:prstDash val="solid"/>
          </a:ln>
        </p:spPr>
      </p:sp>
      <p:sp>
        <p:nvSpPr>
          <p:cNvPr id="54" name="Text 47"/>
          <p:cNvSpPr txBox="1"/>
          <p:nvPr/>
        </p:nvSpPr>
        <p:spPr>
          <a:xfrm>
            <a:off x="621792" y="4983480"/>
            <a:ext cx="1591056"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  Open the form</a:t>
            </a:r>
            <a:endParaRPr lang="en-US" sz="1200" dirty="0"/>
          </a:p>
        </p:txBody>
      </p:sp>
      <p:sp>
        <p:nvSpPr>
          <p:cNvPr id="55" name="Shape 48"/>
          <p:cNvSpPr/>
          <p:nvPr/>
        </p:nvSpPr>
        <p:spPr>
          <a:xfrm>
            <a:off x="2295144" y="5280660"/>
            <a:ext cx="109728" cy="0"/>
          </a:xfrm>
          <a:prstGeom prst="line">
            <a:avLst/>
          </a:prstGeom>
          <a:noFill/>
          <a:ln w="19050">
            <a:solidFill>
              <a:srgbClr val="566575"/>
            </a:solidFill>
            <a:prstDash val="solid"/>
            <a:tailEnd type="triangle"/>
          </a:ln>
        </p:spPr>
      </p:sp>
      <p:sp>
        <p:nvSpPr>
          <p:cNvPr id="56" name="Shape 49"/>
          <p:cNvSpPr/>
          <p:nvPr/>
        </p:nvSpPr>
        <p:spPr>
          <a:xfrm>
            <a:off x="2414016" y="4983480"/>
            <a:ext cx="1737360" cy="594360"/>
          </a:xfrm>
          <a:prstGeom prst="roundRect">
            <a:avLst>
              <a:gd name="adj" fmla="val 15385"/>
            </a:avLst>
          </a:prstGeom>
          <a:solidFill>
            <a:srgbClr val="336EA8"/>
          </a:solidFill>
          <a:ln w="6350">
            <a:solidFill>
              <a:srgbClr val="FFFFFF"/>
            </a:solidFill>
            <a:prstDash val="solid"/>
          </a:ln>
        </p:spPr>
      </p:sp>
      <p:sp>
        <p:nvSpPr>
          <p:cNvPr id="57" name="Text 50"/>
          <p:cNvSpPr txBox="1"/>
          <p:nvPr/>
        </p:nvSpPr>
        <p:spPr>
          <a:xfrm>
            <a:off x="2487168" y="4983480"/>
            <a:ext cx="1591056"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  Fill 7 required fields</a:t>
            </a:r>
            <a:endParaRPr lang="en-US" sz="1200" dirty="0"/>
          </a:p>
        </p:txBody>
      </p:sp>
      <p:sp>
        <p:nvSpPr>
          <p:cNvPr id="58" name="Shape 51"/>
          <p:cNvSpPr/>
          <p:nvPr/>
        </p:nvSpPr>
        <p:spPr>
          <a:xfrm>
            <a:off x="4160520" y="5280660"/>
            <a:ext cx="109728" cy="0"/>
          </a:xfrm>
          <a:prstGeom prst="line">
            <a:avLst/>
          </a:prstGeom>
          <a:noFill/>
          <a:ln w="19050">
            <a:solidFill>
              <a:srgbClr val="566575"/>
            </a:solidFill>
            <a:prstDash val="solid"/>
            <a:tailEnd type="triangle"/>
          </a:ln>
        </p:spPr>
      </p:sp>
      <p:sp>
        <p:nvSpPr>
          <p:cNvPr id="59" name="Shape 52"/>
          <p:cNvSpPr/>
          <p:nvPr/>
        </p:nvSpPr>
        <p:spPr>
          <a:xfrm>
            <a:off x="4279392" y="4983480"/>
            <a:ext cx="1737360" cy="594360"/>
          </a:xfrm>
          <a:prstGeom prst="roundRect">
            <a:avLst>
              <a:gd name="adj" fmla="val 15385"/>
            </a:avLst>
          </a:prstGeom>
          <a:solidFill>
            <a:srgbClr val="047954"/>
          </a:solidFill>
          <a:ln w="6350">
            <a:solidFill>
              <a:srgbClr val="FFFFFF"/>
            </a:solidFill>
            <a:prstDash val="solid"/>
          </a:ln>
        </p:spPr>
      </p:sp>
      <p:sp>
        <p:nvSpPr>
          <p:cNvPr id="60" name="Text 53"/>
          <p:cNvSpPr txBox="1"/>
          <p:nvPr/>
        </p:nvSpPr>
        <p:spPr>
          <a:xfrm>
            <a:off x="4352544" y="4983480"/>
            <a:ext cx="1591056"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  Submit</a:t>
            </a:r>
            <a:endParaRPr lang="en-US" sz="1200" dirty="0"/>
          </a:p>
        </p:txBody>
      </p:sp>
      <p:sp>
        <p:nvSpPr>
          <p:cNvPr id="61" name="Shape 54"/>
          <p:cNvSpPr/>
          <p:nvPr/>
        </p:nvSpPr>
        <p:spPr>
          <a:xfrm>
            <a:off x="6025896" y="5280660"/>
            <a:ext cx="109728" cy="0"/>
          </a:xfrm>
          <a:prstGeom prst="line">
            <a:avLst/>
          </a:prstGeom>
          <a:noFill/>
          <a:ln w="19050">
            <a:solidFill>
              <a:srgbClr val="566575"/>
            </a:solidFill>
            <a:prstDash val="solid"/>
            <a:tailEnd type="triangle"/>
          </a:ln>
        </p:spPr>
      </p:sp>
      <p:sp>
        <p:nvSpPr>
          <p:cNvPr id="62" name="Shape 55"/>
          <p:cNvSpPr/>
          <p:nvPr/>
        </p:nvSpPr>
        <p:spPr>
          <a:xfrm>
            <a:off x="6144768" y="4983480"/>
            <a:ext cx="1737360" cy="594360"/>
          </a:xfrm>
          <a:prstGeom prst="roundRect">
            <a:avLst>
              <a:gd name="adj" fmla="val 15385"/>
            </a:avLst>
          </a:prstGeom>
          <a:solidFill>
            <a:srgbClr val="D7B119"/>
          </a:solidFill>
          <a:ln w="6350">
            <a:solidFill>
              <a:srgbClr val="FFFFFF"/>
            </a:solidFill>
            <a:prstDash val="solid"/>
          </a:ln>
        </p:spPr>
      </p:sp>
      <p:sp>
        <p:nvSpPr>
          <p:cNvPr id="63" name="Text 56"/>
          <p:cNvSpPr txBox="1"/>
          <p:nvPr/>
        </p:nvSpPr>
        <p:spPr>
          <a:xfrm>
            <a:off x="6217920" y="4983480"/>
            <a:ext cx="1591056" cy="594360"/>
          </a:xfrm>
          <a:prstGeom prst="rect">
            <a:avLst/>
          </a:prstGeom>
          <a:noFill/>
          <a:ln/>
        </p:spPr>
        <p:txBody>
          <a:bodyPr wrap="square" lIns="0" tIns="0" rIns="0" bIns="0" rtlCol="0" anchor="ctr"/>
          <a:lstStyle/>
          <a:p>
            <a:pPr marL="0" indent="0" algn="ctr">
              <a:buNone/>
            </a:pPr>
            <a:r>
              <a:rPr lang="en-US" sz="1200" b="1" dirty="0">
                <a:solidFill>
                  <a:srgbClr val="1F2D3A"/>
                </a:solidFill>
                <a:latin typeface="Arial" pitchFamily="34" charset="0"/>
                <a:ea typeface="Arial" pitchFamily="34" charset="-122"/>
                <a:cs typeface="Arial" pitchFamily="34" charset="-120"/>
              </a:rPr>
              <a:t>4  Automatic check of 12 sections</a:t>
            </a:r>
            <a:endParaRPr lang="en-US" sz="1200" dirty="0"/>
          </a:p>
        </p:txBody>
      </p:sp>
      <p:sp>
        <p:nvSpPr>
          <p:cNvPr id="64" name="Shape 57"/>
          <p:cNvSpPr/>
          <p:nvPr/>
        </p:nvSpPr>
        <p:spPr>
          <a:xfrm>
            <a:off x="7891272" y="5280660"/>
            <a:ext cx="109728" cy="0"/>
          </a:xfrm>
          <a:prstGeom prst="line">
            <a:avLst/>
          </a:prstGeom>
          <a:noFill/>
          <a:ln w="19050">
            <a:solidFill>
              <a:srgbClr val="566575"/>
            </a:solidFill>
            <a:prstDash val="solid"/>
            <a:tailEnd type="triangle"/>
          </a:ln>
        </p:spPr>
      </p:sp>
      <p:sp>
        <p:nvSpPr>
          <p:cNvPr id="65" name="Shape 58"/>
          <p:cNvSpPr/>
          <p:nvPr/>
        </p:nvSpPr>
        <p:spPr>
          <a:xfrm>
            <a:off x="8010144" y="4983480"/>
            <a:ext cx="1737360" cy="594360"/>
          </a:xfrm>
          <a:prstGeom prst="roundRect">
            <a:avLst>
              <a:gd name="adj" fmla="val 15385"/>
            </a:avLst>
          </a:prstGeom>
          <a:solidFill>
            <a:srgbClr val="047954"/>
          </a:solidFill>
          <a:ln w="6350">
            <a:solidFill>
              <a:srgbClr val="FFFFFF"/>
            </a:solidFill>
            <a:prstDash val="solid"/>
          </a:ln>
        </p:spPr>
      </p:sp>
      <p:sp>
        <p:nvSpPr>
          <p:cNvPr id="66" name="Text 59"/>
          <p:cNvSpPr txBox="1"/>
          <p:nvPr/>
        </p:nvSpPr>
        <p:spPr>
          <a:xfrm>
            <a:off x="8083296" y="4983480"/>
            <a:ext cx="1591056"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  Receive the PDF by email</a:t>
            </a:r>
            <a:endParaRPr lang="en-US" sz="1200" dirty="0"/>
          </a:p>
        </p:txBody>
      </p:sp>
      <p:sp>
        <p:nvSpPr>
          <p:cNvPr id="67" name="Shape 60"/>
          <p:cNvSpPr/>
          <p:nvPr/>
        </p:nvSpPr>
        <p:spPr>
          <a:xfrm>
            <a:off x="9756648" y="5280660"/>
            <a:ext cx="109728" cy="0"/>
          </a:xfrm>
          <a:prstGeom prst="line">
            <a:avLst/>
          </a:prstGeom>
          <a:noFill/>
          <a:ln w="19050">
            <a:solidFill>
              <a:srgbClr val="566575"/>
            </a:solidFill>
            <a:prstDash val="solid"/>
            <a:tailEnd type="triangle"/>
          </a:ln>
        </p:spPr>
      </p:sp>
      <p:sp>
        <p:nvSpPr>
          <p:cNvPr id="68" name="Shape 61"/>
          <p:cNvSpPr/>
          <p:nvPr/>
        </p:nvSpPr>
        <p:spPr>
          <a:xfrm>
            <a:off x="9875520" y="4983480"/>
            <a:ext cx="1737360" cy="594360"/>
          </a:xfrm>
          <a:prstGeom prst="roundRect">
            <a:avLst>
              <a:gd name="adj" fmla="val 15385"/>
            </a:avLst>
          </a:prstGeom>
          <a:solidFill>
            <a:srgbClr val="336EA8"/>
          </a:solidFill>
          <a:ln w="6350">
            <a:solidFill>
              <a:srgbClr val="FFFFFF"/>
            </a:solidFill>
            <a:prstDash val="solid"/>
          </a:ln>
        </p:spPr>
      </p:sp>
      <p:sp>
        <p:nvSpPr>
          <p:cNvPr id="69" name="Text 62"/>
          <p:cNvSpPr txBox="1"/>
          <p:nvPr/>
        </p:nvSpPr>
        <p:spPr>
          <a:xfrm>
            <a:off x="9948672" y="4983480"/>
            <a:ext cx="1591056"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  Teacher reviews it</a:t>
            </a:r>
            <a:endParaRPr lang="en-US" sz="1200" dirty="0"/>
          </a:p>
        </p:txBody>
      </p:sp>
      <p:sp>
        <p:nvSpPr>
          <p:cNvPr id="70" name="usability"/>
          <p:cNvSpPr/>
          <p:nvPr/>
        </p:nvSpPr>
        <p:spPr>
          <a:xfrm>
            <a:off x="548640" y="5669280"/>
            <a:ext cx="11064240" cy="502920"/>
          </a:xfrm>
          <a:prstGeom prst="roundRect">
            <a:avLst>
              <a:gd name="adj" fmla="val 18182"/>
            </a:avLst>
          </a:prstGeom>
          <a:solidFill>
            <a:srgbClr val="E0F5EE"/>
          </a:solidFill>
          <a:ln w="12700">
            <a:solidFill>
              <a:srgbClr val="CFDDD6"/>
            </a:solidFill>
            <a:prstDash val="solid"/>
          </a:ln>
        </p:spPr>
      </p:sp>
      <p:sp>
        <p:nvSpPr>
          <p:cNvPr id="71" name="Text 64"/>
          <p:cNvSpPr txBox="1"/>
          <p:nvPr/>
        </p:nvSpPr>
        <p:spPr>
          <a:xfrm>
            <a:off x="731520" y="5669280"/>
            <a:ext cx="10698480" cy="502920"/>
          </a:xfrm>
          <a:prstGeom prst="rect">
            <a:avLst/>
          </a:prstGeom>
          <a:noFill/>
          <a:ln/>
        </p:spPr>
        <p:txBody>
          <a:bodyPr wrap="square" lIns="0" tIns="0" rIns="0" bIns="0" rtlCol="0" anchor="ctr"/>
          <a:lstStyle/>
          <a:p>
            <a:pPr marL="0" indent="0">
              <a:buNone/>
            </a:pPr>
            <a:r>
              <a:rPr lang="en-US" sz="1300" b="1" dirty="0">
                <a:solidFill>
                  <a:srgbClr val="047954"/>
                </a:solidFill>
                <a:latin typeface="Arial" pitchFamily="34" charset="0"/>
                <a:ea typeface="Arial" pitchFamily="34" charset="-122"/>
                <a:cs typeface="Arial" pitchFamily="34" charset="-120"/>
              </a:rPr>
              <a:t>Usability: </a:t>
            </a:r>
            <a:r>
              <a:rPr lang="en-US" sz="1300" dirty="0">
                <a:solidFill>
                  <a:srgbClr val="1F2D3A"/>
                </a:solidFill>
                <a:latin typeface="Arial" pitchFamily="34" charset="0"/>
                <a:ea typeface="Arial" pitchFamily="34" charset="-122"/>
                <a:cs typeface="Arial" pitchFamily="34" charset="-120"/>
              </a:rPr>
              <a:t>no login or setup, plain-language labels, a clear notice if something is missing, and a sans-serif, well-spaced PDF.</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4</a:t>
            </a:r>
            <a:endParaRPr lang="en-US" sz="1200" dirty="0"/>
          </a:p>
        </p:txBody>
      </p:sp>
      <p:sp>
        <p:nvSpPr>
          <p:cNvPr id="9" name="Text 4"/>
          <p:cNvSpPr txBox="1"/>
          <p:nvPr/>
        </p:nvSpPr>
        <p:spPr>
          <a:xfrm>
            <a:off x="1463040" y="411480"/>
            <a:ext cx="9144000" cy="685800"/>
          </a:xfrm>
          <a:prstGeom prst="rect">
            <a:avLst/>
          </a:prstGeom>
          <a:noFill/>
          <a:ln/>
        </p:spPr>
        <p:txBody>
          <a:bodyPr wrap="square" lIns="0" tIns="0" rIns="0" bIns="0" rtlCol="0" anchor="ctr"/>
          <a:lstStyle/>
          <a:p>
            <a:pPr marL="0" indent="0" algn="ctr">
              <a:buNone/>
            </a:pPr>
            <a:r>
              <a:rPr lang="en-US" sz="2800" b="1" dirty="0">
                <a:solidFill>
                  <a:srgbClr val="047954"/>
                </a:solidFill>
                <a:latin typeface="Arial" pitchFamily="34" charset="0"/>
                <a:ea typeface="Arial" pitchFamily="34" charset="-122"/>
                <a:cs typeface="Arial" pitchFamily="34" charset="-120"/>
              </a:rPr>
              <a:t>End Users + Features</a:t>
            </a:r>
            <a:endParaRPr lang="en-US" sz="2800" dirty="0"/>
          </a:p>
        </p:txBody>
      </p:sp>
      <p:sp>
        <p:nvSpPr>
          <p:cNvPr id="10" name="Shape 5"/>
          <p:cNvSpPr/>
          <p:nvPr/>
        </p:nvSpPr>
        <p:spPr>
          <a:xfrm>
            <a:off x="548640" y="1280160"/>
            <a:ext cx="2743200" cy="384048"/>
          </a:xfrm>
          <a:prstGeom prst="roundRect">
            <a:avLst>
              <a:gd name="adj" fmla="val 50000"/>
            </a:avLst>
          </a:prstGeom>
          <a:solidFill>
            <a:srgbClr val="047954"/>
          </a:solidFill>
          <a:ln w="6350">
            <a:solidFill>
              <a:srgbClr val="047954"/>
            </a:solidFill>
            <a:prstDash val="solid"/>
          </a:ln>
        </p:spPr>
      </p:sp>
      <p:sp>
        <p:nvSpPr>
          <p:cNvPr id="11" name="Text 6"/>
          <p:cNvSpPr txBox="1"/>
          <p:nvPr/>
        </p:nvSpPr>
        <p:spPr>
          <a:xfrm>
            <a:off x="548640" y="1280160"/>
            <a:ext cx="274320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End user</a:t>
            </a:r>
            <a:endParaRPr lang="en-US" sz="1500" dirty="0"/>
          </a:p>
        </p:txBody>
      </p:sp>
      <p:sp>
        <p:nvSpPr>
          <p:cNvPr id="12" name="Shape 7"/>
          <p:cNvSpPr/>
          <p:nvPr/>
        </p:nvSpPr>
        <p:spPr>
          <a:xfrm>
            <a:off x="3429000" y="1280160"/>
            <a:ext cx="2971800" cy="384048"/>
          </a:xfrm>
          <a:prstGeom prst="roundRect">
            <a:avLst>
              <a:gd name="adj" fmla="val 50000"/>
            </a:avLst>
          </a:prstGeom>
          <a:solidFill>
            <a:srgbClr val="336EA8"/>
          </a:solidFill>
          <a:ln w="6350">
            <a:solidFill>
              <a:srgbClr val="336EA8"/>
            </a:solidFill>
            <a:prstDash val="solid"/>
          </a:ln>
        </p:spPr>
      </p:sp>
      <p:sp>
        <p:nvSpPr>
          <p:cNvPr id="13" name="Text 8"/>
          <p:cNvSpPr txBox="1"/>
          <p:nvPr/>
        </p:nvSpPr>
        <p:spPr>
          <a:xfrm>
            <a:off x="3429000" y="1280160"/>
            <a:ext cx="297180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Main need</a:t>
            </a:r>
            <a:endParaRPr lang="en-US" sz="1500" dirty="0"/>
          </a:p>
        </p:txBody>
      </p:sp>
      <p:sp>
        <p:nvSpPr>
          <p:cNvPr id="14" name="Shape 9"/>
          <p:cNvSpPr/>
          <p:nvPr/>
        </p:nvSpPr>
        <p:spPr>
          <a:xfrm>
            <a:off x="6537960" y="1280160"/>
            <a:ext cx="5102352" cy="384048"/>
          </a:xfrm>
          <a:prstGeom prst="roundRect">
            <a:avLst>
              <a:gd name="adj" fmla="val 50000"/>
            </a:avLst>
          </a:prstGeom>
          <a:solidFill>
            <a:srgbClr val="D7B119"/>
          </a:solidFill>
          <a:ln w="6350">
            <a:solidFill>
              <a:srgbClr val="D7B119"/>
            </a:solidFill>
            <a:prstDash val="solid"/>
          </a:ln>
        </p:spPr>
      </p:sp>
      <p:sp>
        <p:nvSpPr>
          <p:cNvPr id="15" name="Text 10"/>
          <p:cNvSpPr txBox="1"/>
          <p:nvPr/>
        </p:nvSpPr>
        <p:spPr>
          <a:xfrm>
            <a:off x="6537960" y="1280160"/>
            <a:ext cx="5102352" cy="384048"/>
          </a:xfrm>
          <a:prstGeom prst="rect">
            <a:avLst/>
          </a:prstGeom>
          <a:noFill/>
          <a:ln/>
        </p:spPr>
        <p:txBody>
          <a:bodyPr wrap="square" lIns="0" tIns="0" rIns="0" bIns="0" rtlCol="0" anchor="ctr"/>
          <a:lstStyle/>
          <a:p>
            <a:pPr marL="0" indent="0" algn="ctr">
              <a:buNone/>
            </a:pPr>
            <a:r>
              <a:rPr lang="en-US" sz="1500" b="1" dirty="0">
                <a:solidFill>
                  <a:srgbClr val="1F2D3A"/>
                </a:solidFill>
                <a:latin typeface="Arial" pitchFamily="34" charset="0"/>
                <a:ea typeface="Arial" pitchFamily="34" charset="-122"/>
                <a:cs typeface="Arial" pitchFamily="34" charset="-120"/>
              </a:rPr>
              <a:t>Key features that solve it</a:t>
            </a:r>
            <a:endParaRPr lang="en-US" sz="1500" dirty="0"/>
          </a:p>
        </p:txBody>
      </p:sp>
      <p:sp>
        <p:nvSpPr>
          <p:cNvPr id="16" name="row 1 col 1"/>
          <p:cNvSpPr/>
          <p:nvPr/>
        </p:nvSpPr>
        <p:spPr>
          <a:xfrm>
            <a:off x="548640" y="1783080"/>
            <a:ext cx="2743200" cy="1325880"/>
          </a:xfrm>
          <a:prstGeom prst="roundRect">
            <a:avLst>
              <a:gd name="adj" fmla="val 6897"/>
            </a:avLst>
          </a:prstGeom>
          <a:solidFill>
            <a:srgbClr val="FFFFFF"/>
          </a:solidFill>
          <a:ln w="12700">
            <a:solidFill>
              <a:srgbClr val="CFDDD6"/>
            </a:solidFill>
            <a:prstDash val="solid"/>
          </a:ln>
        </p:spPr>
      </p:sp>
      <p:sp>
        <p:nvSpPr>
          <p:cNvPr id="17" name="row 1 col 2"/>
          <p:cNvSpPr/>
          <p:nvPr/>
        </p:nvSpPr>
        <p:spPr>
          <a:xfrm>
            <a:off x="3429000" y="1783080"/>
            <a:ext cx="2971800" cy="1325880"/>
          </a:xfrm>
          <a:prstGeom prst="roundRect">
            <a:avLst>
              <a:gd name="adj" fmla="val 6897"/>
            </a:avLst>
          </a:prstGeom>
          <a:solidFill>
            <a:srgbClr val="FFFFFF"/>
          </a:solidFill>
          <a:ln w="12700">
            <a:solidFill>
              <a:srgbClr val="CFDDD6"/>
            </a:solidFill>
            <a:prstDash val="solid"/>
          </a:ln>
        </p:spPr>
      </p:sp>
      <p:sp>
        <p:nvSpPr>
          <p:cNvPr id="18" name="row 1 col 3"/>
          <p:cNvSpPr/>
          <p:nvPr/>
        </p:nvSpPr>
        <p:spPr>
          <a:xfrm>
            <a:off x="6537960" y="1783080"/>
            <a:ext cx="5102352" cy="1325880"/>
          </a:xfrm>
          <a:prstGeom prst="roundRect">
            <a:avLst>
              <a:gd name="adj" fmla="val 6897"/>
            </a:avLst>
          </a:prstGeom>
          <a:solidFill>
            <a:srgbClr val="FFFFFF"/>
          </a:solidFill>
          <a:ln w="12700">
            <a:solidFill>
              <a:srgbClr val="CFDDD6"/>
            </a:solidFill>
            <a:prstDash val="solid"/>
          </a:ln>
        </p:spPr>
      </p:sp>
      <p:sp>
        <p:nvSpPr>
          <p:cNvPr id="19" name="Shape 14"/>
          <p:cNvSpPr/>
          <p:nvPr/>
        </p:nvSpPr>
        <p:spPr>
          <a:xfrm>
            <a:off x="708660" y="2103120"/>
            <a:ext cx="685800" cy="685800"/>
          </a:xfrm>
          <a:prstGeom prst="ellipse">
            <a:avLst/>
          </a:prstGeom>
          <a:solidFill>
            <a:srgbClr val="047954"/>
          </a:solidFill>
          <a:ln w="6350">
            <a:solidFill>
              <a:srgbClr val="047954"/>
            </a:solidFill>
            <a:prstDash val="solid"/>
          </a:ln>
        </p:spPr>
      </p:sp>
      <p:pic>
        <p:nvPicPr>
          <p:cNvPr id="20" name="Image 3" descr="preencoded.png"/>
          <p:cNvPicPr>
            <a:picLocks noChangeAspect="1"/>
          </p:cNvPicPr>
          <p:nvPr/>
        </p:nvPicPr>
        <p:blipFill>
          <a:blip r:embed="rId7"/>
          <a:stretch>
            <a:fillRect/>
          </a:stretch>
        </p:blipFill>
        <p:spPr>
          <a:xfrm>
            <a:off x="880110" y="2274570"/>
            <a:ext cx="342900" cy="342900"/>
          </a:xfrm>
          <a:prstGeom prst="rect">
            <a:avLst/>
          </a:prstGeom>
        </p:spPr>
      </p:pic>
      <p:sp>
        <p:nvSpPr>
          <p:cNvPr id="21" name="Text 15"/>
          <p:cNvSpPr txBox="1"/>
          <p:nvPr/>
        </p:nvSpPr>
        <p:spPr>
          <a:xfrm>
            <a:off x="1463040" y="2039112"/>
            <a:ext cx="1783080" cy="457200"/>
          </a:xfrm>
          <a:prstGeom prst="rect">
            <a:avLst/>
          </a:prstGeom>
          <a:noFill/>
          <a:ln/>
        </p:spPr>
        <p:txBody>
          <a:bodyPr wrap="square" lIns="0" tIns="0" rIns="0" bIns="0" rtlCol="0" anchor="ctr"/>
          <a:lstStyle/>
          <a:p>
            <a:pPr marL="0" indent="0">
              <a:buNone/>
            </a:pPr>
            <a:r>
              <a:rPr lang="en-US" sz="1400" b="1" dirty="0">
                <a:solidFill>
                  <a:srgbClr val="047954"/>
                </a:solidFill>
                <a:latin typeface="Arial" pitchFamily="34" charset="0"/>
                <a:ea typeface="Arial" pitchFamily="34" charset="-122"/>
                <a:cs typeface="Arial" pitchFamily="34" charset="-120"/>
              </a:rPr>
              <a:t>Class teacher</a:t>
            </a:r>
            <a:endParaRPr lang="en-US" sz="1400" dirty="0"/>
          </a:p>
        </p:txBody>
      </p:sp>
      <p:sp>
        <p:nvSpPr>
          <p:cNvPr id="22" name="Text 16"/>
          <p:cNvSpPr txBox="1"/>
          <p:nvPr/>
        </p:nvSpPr>
        <p:spPr>
          <a:xfrm>
            <a:off x="1463040" y="2514600"/>
            <a:ext cx="1783080" cy="32004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Primary school</a:t>
            </a:r>
            <a:endParaRPr lang="en-US" sz="1200" dirty="0"/>
          </a:p>
        </p:txBody>
      </p:sp>
      <p:sp>
        <p:nvSpPr>
          <p:cNvPr id="23" name="Text 17"/>
          <p:cNvSpPr txBox="1"/>
          <p:nvPr/>
        </p:nvSpPr>
        <p:spPr>
          <a:xfrm>
            <a:off x="3611880" y="1874520"/>
            <a:ext cx="2606040" cy="1143000"/>
          </a:xfrm>
          <a:prstGeom prst="rect">
            <a:avLst/>
          </a:prstGeom>
          <a:noFill/>
          <a:ln/>
        </p:spPr>
        <p:txBody>
          <a:bodyPr wrap="square" lIns="0" tIns="0" rIns="0" bIns="0" rtlCol="0" anchor="ctr"/>
          <a:lstStyle/>
          <a:p>
            <a:pPr marL="0" indent="0">
              <a:buNone/>
            </a:pPr>
            <a:r>
              <a:rPr lang="en-US" sz="1400" dirty="0">
                <a:solidFill>
                  <a:srgbClr val="1F2D3A"/>
                </a:solidFill>
                <a:latin typeface="Arial" pitchFamily="34" charset="0"/>
                <a:ea typeface="Arial" pitchFamily="34" charset="-122"/>
                <a:cs typeface="Arial" pitchFamily="34" charset="-120"/>
              </a:rPr>
              <a:t>Saves preparation time and receives a complete package</a:t>
            </a:r>
            <a:endParaRPr lang="en-US" sz="1400" dirty="0"/>
          </a:p>
        </p:txBody>
      </p:sp>
      <p:sp>
        <p:nvSpPr>
          <p:cNvPr id="24" name="Text 18"/>
          <p:cNvSpPr txBox="1"/>
          <p:nvPr/>
        </p:nvSpPr>
        <p:spPr>
          <a:xfrm>
            <a:off x="6720840" y="1874520"/>
            <a:ext cx="4736592" cy="114300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1F2D3A"/>
                </a:solidFill>
                <a:latin typeface="Arial" pitchFamily="34" charset="0"/>
                <a:ea typeface="Arial" pitchFamily="34" charset="-122"/>
                <a:cs typeface="Arial" pitchFamily="34" charset="-120"/>
              </a:rPr>
              <a:t>One form with 11 fields</a:t>
            </a:r>
            <a:endParaRPr lang="en-US" sz="1300" dirty="0"/>
          </a:p>
          <a:p>
            <a:pPr marL="342900" indent="-342900">
              <a:spcAft>
                <a:spcPts val="300"/>
              </a:spcAft>
              <a:buSzPct val="100000"/>
              <a:buChar char="•"/>
            </a:pPr>
            <a:r>
              <a:rPr lang="en-US" sz="1300" dirty="0">
                <a:solidFill>
                  <a:srgbClr val="1F2D3A"/>
                </a:solidFill>
                <a:latin typeface="Arial" pitchFamily="34" charset="0"/>
                <a:ea typeface="Arial" pitchFamily="34" charset="-122"/>
                <a:cs typeface="Arial" pitchFamily="34" charset="-120"/>
              </a:rPr>
              <a:t>12-section package, from objectives to teacher guidance</a:t>
            </a:r>
            <a:endParaRPr lang="en-US" sz="1300" dirty="0"/>
          </a:p>
          <a:p>
            <a:pPr marL="342900" indent="-342900">
              <a:spcAft>
                <a:spcPts val="300"/>
              </a:spcAft>
              <a:buSzPct val="100000"/>
              <a:buChar char="•"/>
            </a:pPr>
            <a:r>
              <a:rPr lang="en-US" sz="1300" dirty="0">
                <a:solidFill>
                  <a:srgbClr val="1F2D3A"/>
                </a:solidFill>
                <a:latin typeface="Arial" pitchFamily="34" charset="0"/>
                <a:ea typeface="Arial" pitchFamily="34" charset="-122"/>
                <a:cs typeface="Arial" pitchFamily="34" charset="-120"/>
              </a:rPr>
              <a:t>Automatic check of all 12 sections, then the PDF in about 1 minute</a:t>
            </a:r>
            <a:endParaRPr lang="en-US" sz="1300" dirty="0"/>
          </a:p>
        </p:txBody>
      </p:sp>
      <p:sp>
        <p:nvSpPr>
          <p:cNvPr id="25" name="row 2 col 1"/>
          <p:cNvSpPr/>
          <p:nvPr/>
        </p:nvSpPr>
        <p:spPr>
          <a:xfrm>
            <a:off x="548640" y="3246120"/>
            <a:ext cx="2743200" cy="1325880"/>
          </a:xfrm>
          <a:prstGeom prst="roundRect">
            <a:avLst>
              <a:gd name="adj" fmla="val 6897"/>
            </a:avLst>
          </a:prstGeom>
          <a:solidFill>
            <a:srgbClr val="FFFFFF"/>
          </a:solidFill>
          <a:ln w="12700">
            <a:solidFill>
              <a:srgbClr val="CFDDD6"/>
            </a:solidFill>
            <a:prstDash val="solid"/>
          </a:ln>
        </p:spPr>
      </p:sp>
      <p:sp>
        <p:nvSpPr>
          <p:cNvPr id="26" name="row 2 col 2"/>
          <p:cNvSpPr/>
          <p:nvPr/>
        </p:nvSpPr>
        <p:spPr>
          <a:xfrm>
            <a:off x="3429000" y="3246120"/>
            <a:ext cx="2971800" cy="1325880"/>
          </a:xfrm>
          <a:prstGeom prst="roundRect">
            <a:avLst>
              <a:gd name="adj" fmla="val 6897"/>
            </a:avLst>
          </a:prstGeom>
          <a:solidFill>
            <a:srgbClr val="FFFFFF"/>
          </a:solidFill>
          <a:ln w="12700">
            <a:solidFill>
              <a:srgbClr val="CFDDD6"/>
            </a:solidFill>
            <a:prstDash val="solid"/>
          </a:ln>
        </p:spPr>
      </p:sp>
      <p:sp>
        <p:nvSpPr>
          <p:cNvPr id="27" name="row 2 col 3"/>
          <p:cNvSpPr/>
          <p:nvPr/>
        </p:nvSpPr>
        <p:spPr>
          <a:xfrm>
            <a:off x="6537960" y="3246120"/>
            <a:ext cx="5102352" cy="1325880"/>
          </a:xfrm>
          <a:prstGeom prst="roundRect">
            <a:avLst>
              <a:gd name="adj" fmla="val 6897"/>
            </a:avLst>
          </a:prstGeom>
          <a:solidFill>
            <a:srgbClr val="FFFFFF"/>
          </a:solidFill>
          <a:ln w="12700">
            <a:solidFill>
              <a:srgbClr val="CFDDD6"/>
            </a:solidFill>
            <a:prstDash val="solid"/>
          </a:ln>
        </p:spPr>
      </p:sp>
      <p:sp>
        <p:nvSpPr>
          <p:cNvPr id="28" name="Shape 22"/>
          <p:cNvSpPr/>
          <p:nvPr/>
        </p:nvSpPr>
        <p:spPr>
          <a:xfrm>
            <a:off x="708660" y="3566160"/>
            <a:ext cx="685800" cy="685800"/>
          </a:xfrm>
          <a:prstGeom prst="ellipse">
            <a:avLst/>
          </a:prstGeom>
          <a:solidFill>
            <a:srgbClr val="336EA8"/>
          </a:solidFill>
          <a:ln w="6350">
            <a:solidFill>
              <a:srgbClr val="336EA8"/>
            </a:solidFill>
            <a:prstDash val="solid"/>
          </a:ln>
        </p:spPr>
      </p:sp>
      <p:pic>
        <p:nvPicPr>
          <p:cNvPr id="29" name="Image 4" descr="preencoded.png"/>
          <p:cNvPicPr>
            <a:picLocks noChangeAspect="1"/>
          </p:cNvPicPr>
          <p:nvPr/>
        </p:nvPicPr>
        <p:blipFill>
          <a:blip r:embed="rId8"/>
          <a:stretch>
            <a:fillRect/>
          </a:stretch>
        </p:blipFill>
        <p:spPr>
          <a:xfrm>
            <a:off x="880110" y="3737610"/>
            <a:ext cx="342900" cy="342900"/>
          </a:xfrm>
          <a:prstGeom prst="rect">
            <a:avLst/>
          </a:prstGeom>
        </p:spPr>
      </p:pic>
      <p:sp>
        <p:nvSpPr>
          <p:cNvPr id="30" name="Text 23"/>
          <p:cNvSpPr txBox="1"/>
          <p:nvPr/>
        </p:nvSpPr>
        <p:spPr>
          <a:xfrm>
            <a:off x="1463040" y="3502152"/>
            <a:ext cx="1783080" cy="457200"/>
          </a:xfrm>
          <a:prstGeom prst="rect">
            <a:avLst/>
          </a:prstGeom>
          <a:noFill/>
          <a:ln/>
        </p:spPr>
        <p:txBody>
          <a:bodyPr wrap="square" lIns="0" tIns="0" rIns="0" bIns="0" rtlCol="0" anchor="ctr"/>
          <a:lstStyle/>
          <a:p>
            <a:pPr marL="0" indent="0">
              <a:buNone/>
            </a:pPr>
            <a:r>
              <a:rPr lang="en-US" sz="1400" b="1" dirty="0">
                <a:solidFill>
                  <a:srgbClr val="047954"/>
                </a:solidFill>
                <a:latin typeface="Arial" pitchFamily="34" charset="0"/>
                <a:ea typeface="Arial" pitchFamily="34" charset="-122"/>
                <a:cs typeface="Arial" pitchFamily="34" charset="-120"/>
              </a:rPr>
              <a:t>Inclusive / support teacher</a:t>
            </a:r>
            <a:endParaRPr lang="en-US" sz="1400" dirty="0"/>
          </a:p>
        </p:txBody>
      </p:sp>
      <p:sp>
        <p:nvSpPr>
          <p:cNvPr id="31" name="Text 24"/>
          <p:cNvSpPr txBox="1"/>
          <p:nvPr/>
        </p:nvSpPr>
        <p:spPr>
          <a:xfrm>
            <a:off x="1463040" y="3977640"/>
            <a:ext cx="1783080" cy="32004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Mixed levels, dyslexia</a:t>
            </a:r>
            <a:endParaRPr lang="en-US" sz="1200" dirty="0"/>
          </a:p>
        </p:txBody>
      </p:sp>
      <p:sp>
        <p:nvSpPr>
          <p:cNvPr id="32" name="Text 25"/>
          <p:cNvSpPr txBox="1"/>
          <p:nvPr/>
        </p:nvSpPr>
        <p:spPr>
          <a:xfrm>
            <a:off x="3611880" y="3337560"/>
            <a:ext cx="2606040" cy="1143000"/>
          </a:xfrm>
          <a:prstGeom prst="rect">
            <a:avLst/>
          </a:prstGeom>
          <a:noFill/>
          <a:ln/>
        </p:spPr>
        <p:txBody>
          <a:bodyPr wrap="square" lIns="0" tIns="0" rIns="0" bIns="0" rtlCol="0" anchor="ctr"/>
          <a:lstStyle/>
          <a:p>
            <a:pPr marL="0" indent="0">
              <a:buNone/>
            </a:pPr>
            <a:r>
              <a:rPr lang="en-US" sz="1400" dirty="0">
                <a:solidFill>
                  <a:srgbClr val="1F2D3A"/>
                </a:solidFill>
                <a:latin typeface="Arial" pitchFamily="34" charset="0"/>
                <a:ea typeface="Arial" pitchFamily="34" charset="-122"/>
                <a:cs typeface="Arial" pitchFamily="34" charset="-120"/>
              </a:rPr>
              <a:t>Supports mixed levels and learners with dyslexia</a:t>
            </a:r>
            <a:endParaRPr lang="en-US" sz="1400" dirty="0"/>
          </a:p>
        </p:txBody>
      </p:sp>
      <p:sp>
        <p:nvSpPr>
          <p:cNvPr id="33" name="Text 26"/>
          <p:cNvSpPr txBox="1"/>
          <p:nvPr/>
        </p:nvSpPr>
        <p:spPr>
          <a:xfrm>
            <a:off x="6720840" y="3337560"/>
            <a:ext cx="4736592" cy="114300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1F2D3A"/>
                </a:solidFill>
                <a:latin typeface="Arial" pitchFamily="34" charset="0"/>
                <a:ea typeface="Arial" pitchFamily="34" charset="-122"/>
                <a:cs typeface="Arial" pitchFamily="34" charset="-120"/>
              </a:rPr>
              <a:t>Beginner, Intermediate and Advanced versions</a:t>
            </a:r>
            <a:endParaRPr lang="en-US" sz="1300" dirty="0"/>
          </a:p>
          <a:p>
            <a:pPr marL="342900" indent="-342900">
              <a:spcAft>
                <a:spcPts val="300"/>
              </a:spcAft>
              <a:buSzPct val="100000"/>
              <a:buChar char="•"/>
            </a:pPr>
            <a:r>
              <a:rPr lang="en-US" sz="1300" dirty="0">
                <a:solidFill>
                  <a:srgbClr val="1F2D3A"/>
                </a:solidFill>
                <a:latin typeface="Arial" pitchFamily="34" charset="0"/>
                <a:ea typeface="Arial" pitchFamily="34" charset="-122"/>
                <a:cs typeface="Arial" pitchFamily="34" charset="-120"/>
              </a:rPr>
              <a:t>Dyslexia-friendly version with word bank and sentence starters</a:t>
            </a:r>
            <a:endParaRPr lang="en-US" sz="1300" dirty="0"/>
          </a:p>
          <a:p>
            <a:pPr marL="342900" indent="-342900">
              <a:spcAft>
                <a:spcPts val="300"/>
              </a:spcAft>
              <a:buSzPct val="100000"/>
              <a:buChar char="•"/>
            </a:pPr>
            <a:r>
              <a:rPr lang="en-US" sz="1300" dirty="0">
                <a:solidFill>
                  <a:srgbClr val="1F2D3A"/>
                </a:solidFill>
                <a:latin typeface="Arial" pitchFamily="34" charset="0"/>
                <a:ea typeface="Arial" pitchFamily="34" charset="-122"/>
                <a:cs typeface="Arial" pitchFamily="34" charset="-120"/>
              </a:rPr>
              <a:t>Accessibility guidance and scaffolding options</a:t>
            </a:r>
            <a:endParaRPr lang="en-US" sz="1300" dirty="0"/>
          </a:p>
        </p:txBody>
      </p:sp>
      <p:sp>
        <p:nvSpPr>
          <p:cNvPr id="34" name="row 3 col 1"/>
          <p:cNvSpPr/>
          <p:nvPr/>
        </p:nvSpPr>
        <p:spPr>
          <a:xfrm>
            <a:off x="548640" y="4709160"/>
            <a:ext cx="2743200" cy="1325880"/>
          </a:xfrm>
          <a:prstGeom prst="roundRect">
            <a:avLst>
              <a:gd name="adj" fmla="val 6897"/>
            </a:avLst>
          </a:prstGeom>
          <a:solidFill>
            <a:srgbClr val="FFFFFF"/>
          </a:solidFill>
          <a:ln w="12700">
            <a:solidFill>
              <a:srgbClr val="CFDDD6"/>
            </a:solidFill>
            <a:prstDash val="solid"/>
          </a:ln>
        </p:spPr>
      </p:sp>
      <p:sp>
        <p:nvSpPr>
          <p:cNvPr id="35" name="row 3 col 2"/>
          <p:cNvSpPr/>
          <p:nvPr/>
        </p:nvSpPr>
        <p:spPr>
          <a:xfrm>
            <a:off x="3429000" y="4709160"/>
            <a:ext cx="2971800" cy="1325880"/>
          </a:xfrm>
          <a:prstGeom prst="roundRect">
            <a:avLst>
              <a:gd name="adj" fmla="val 6897"/>
            </a:avLst>
          </a:prstGeom>
          <a:solidFill>
            <a:srgbClr val="FFFFFF"/>
          </a:solidFill>
          <a:ln w="12700">
            <a:solidFill>
              <a:srgbClr val="CFDDD6"/>
            </a:solidFill>
            <a:prstDash val="solid"/>
          </a:ln>
        </p:spPr>
      </p:sp>
      <p:sp>
        <p:nvSpPr>
          <p:cNvPr id="36" name="row 3 col 3"/>
          <p:cNvSpPr/>
          <p:nvPr/>
        </p:nvSpPr>
        <p:spPr>
          <a:xfrm>
            <a:off x="6537960" y="4709160"/>
            <a:ext cx="5102352" cy="1325880"/>
          </a:xfrm>
          <a:prstGeom prst="roundRect">
            <a:avLst>
              <a:gd name="adj" fmla="val 6897"/>
            </a:avLst>
          </a:prstGeom>
          <a:solidFill>
            <a:srgbClr val="FFFFFF"/>
          </a:solidFill>
          <a:ln w="12700">
            <a:solidFill>
              <a:srgbClr val="CFDDD6"/>
            </a:solidFill>
            <a:prstDash val="solid"/>
          </a:ln>
        </p:spPr>
      </p:sp>
      <p:sp>
        <p:nvSpPr>
          <p:cNvPr id="37" name="Shape 30"/>
          <p:cNvSpPr/>
          <p:nvPr/>
        </p:nvSpPr>
        <p:spPr>
          <a:xfrm>
            <a:off x="708660" y="5029200"/>
            <a:ext cx="685800" cy="685800"/>
          </a:xfrm>
          <a:prstGeom prst="ellipse">
            <a:avLst/>
          </a:prstGeom>
          <a:solidFill>
            <a:srgbClr val="D7B119"/>
          </a:solidFill>
          <a:ln w="6350">
            <a:solidFill>
              <a:srgbClr val="D7B119"/>
            </a:solidFill>
            <a:prstDash val="solid"/>
          </a:ln>
        </p:spPr>
      </p:sp>
      <p:pic>
        <p:nvPicPr>
          <p:cNvPr id="38" name="Image 5" descr="preencoded.png"/>
          <p:cNvPicPr>
            <a:picLocks noChangeAspect="1"/>
          </p:cNvPicPr>
          <p:nvPr/>
        </p:nvPicPr>
        <p:blipFill>
          <a:blip r:embed="rId9"/>
          <a:stretch>
            <a:fillRect/>
          </a:stretch>
        </p:blipFill>
        <p:spPr>
          <a:xfrm>
            <a:off x="880110" y="5200650"/>
            <a:ext cx="342900" cy="342900"/>
          </a:xfrm>
          <a:prstGeom prst="rect">
            <a:avLst/>
          </a:prstGeom>
        </p:spPr>
      </p:pic>
      <p:sp>
        <p:nvSpPr>
          <p:cNvPr id="39" name="Text 31"/>
          <p:cNvSpPr txBox="1"/>
          <p:nvPr/>
        </p:nvSpPr>
        <p:spPr>
          <a:xfrm>
            <a:off x="1463040" y="4965192"/>
            <a:ext cx="1783080" cy="457200"/>
          </a:xfrm>
          <a:prstGeom prst="rect">
            <a:avLst/>
          </a:prstGeom>
          <a:noFill/>
          <a:ln/>
        </p:spPr>
        <p:txBody>
          <a:bodyPr wrap="square" lIns="0" tIns="0" rIns="0" bIns="0" rtlCol="0" anchor="ctr"/>
          <a:lstStyle/>
          <a:p>
            <a:pPr marL="0" indent="0">
              <a:buNone/>
            </a:pPr>
            <a:r>
              <a:rPr lang="en-US" sz="1400" b="1" dirty="0">
                <a:solidFill>
                  <a:srgbClr val="047954"/>
                </a:solidFill>
                <a:latin typeface="Arial" pitchFamily="34" charset="0"/>
                <a:ea typeface="Arial" pitchFamily="34" charset="-122"/>
                <a:cs typeface="Arial" pitchFamily="34" charset="-120"/>
              </a:rPr>
              <a:t>Students</a:t>
            </a:r>
            <a:endParaRPr lang="en-US" sz="1400" dirty="0"/>
          </a:p>
        </p:txBody>
      </p:sp>
      <p:sp>
        <p:nvSpPr>
          <p:cNvPr id="40" name="Text 32"/>
          <p:cNvSpPr txBox="1"/>
          <p:nvPr/>
        </p:nvSpPr>
        <p:spPr>
          <a:xfrm>
            <a:off x="1463040" y="5440680"/>
            <a:ext cx="1783080" cy="32004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Indirect users</a:t>
            </a:r>
            <a:endParaRPr lang="en-US" sz="1200" dirty="0"/>
          </a:p>
        </p:txBody>
      </p:sp>
      <p:sp>
        <p:nvSpPr>
          <p:cNvPr id="41" name="Text 33"/>
          <p:cNvSpPr txBox="1"/>
          <p:nvPr/>
        </p:nvSpPr>
        <p:spPr>
          <a:xfrm>
            <a:off x="3611880" y="4800600"/>
            <a:ext cx="2606040" cy="1143000"/>
          </a:xfrm>
          <a:prstGeom prst="rect">
            <a:avLst/>
          </a:prstGeom>
          <a:noFill/>
          <a:ln/>
        </p:spPr>
        <p:txBody>
          <a:bodyPr wrap="square" lIns="0" tIns="0" rIns="0" bIns="0" rtlCol="0" anchor="ctr"/>
          <a:lstStyle/>
          <a:p>
            <a:pPr marL="0" indent="0">
              <a:buNone/>
            </a:pPr>
            <a:r>
              <a:rPr lang="en-US" sz="1400" dirty="0">
                <a:solidFill>
                  <a:srgbClr val="1F2D3A"/>
                </a:solidFill>
                <a:latin typeface="Arial" pitchFamily="34" charset="0"/>
                <a:ea typeface="Arial" pitchFamily="34" charset="-122"/>
                <a:cs typeface="Arial" pitchFamily="34" charset="-120"/>
              </a:rPr>
              <a:t>Materials at their level that are easy to read</a:t>
            </a:r>
            <a:endParaRPr lang="en-US" sz="1400" dirty="0"/>
          </a:p>
        </p:txBody>
      </p:sp>
      <p:sp>
        <p:nvSpPr>
          <p:cNvPr id="42" name="Text 34"/>
          <p:cNvSpPr txBox="1"/>
          <p:nvPr/>
        </p:nvSpPr>
        <p:spPr>
          <a:xfrm>
            <a:off x="6720840" y="4800600"/>
            <a:ext cx="4736592" cy="1143000"/>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1F2D3A"/>
                </a:solidFill>
                <a:latin typeface="Arial" pitchFamily="34" charset="0"/>
                <a:ea typeface="Arial" pitchFamily="34" charset="-122"/>
                <a:cs typeface="Arial" pitchFamily="34" charset="-120"/>
              </a:rPr>
              <a:t>Student handout and practice exercises</a:t>
            </a:r>
            <a:endParaRPr lang="en-US" sz="1300" dirty="0"/>
          </a:p>
          <a:p>
            <a:pPr marL="342900" indent="-342900">
              <a:spcAft>
                <a:spcPts val="300"/>
              </a:spcAft>
              <a:buSzPct val="100000"/>
              <a:buChar char="•"/>
            </a:pPr>
            <a:r>
              <a:rPr lang="en-US" sz="1300" dirty="0">
                <a:solidFill>
                  <a:srgbClr val="1F2D3A"/>
                </a:solidFill>
                <a:latin typeface="Arial" pitchFamily="34" charset="0"/>
                <a:ea typeface="Arial" pitchFamily="34" charset="-122"/>
                <a:cs typeface="Arial" pitchFamily="34" charset="-120"/>
              </a:rPr>
              <a:t>Discussion questions and visual-content prompts</a:t>
            </a:r>
            <a:endParaRPr lang="en-US" sz="1300" dirty="0"/>
          </a:p>
          <a:p>
            <a:pPr marL="342900" indent="-342900">
              <a:spcAft>
                <a:spcPts val="300"/>
              </a:spcAft>
              <a:buSzPct val="100000"/>
              <a:buChar char="•"/>
            </a:pPr>
            <a:r>
              <a:rPr lang="en-US" sz="1300" dirty="0">
                <a:solidFill>
                  <a:srgbClr val="1F2D3A"/>
                </a:solidFill>
                <a:latin typeface="Arial" pitchFamily="34" charset="0"/>
                <a:ea typeface="Arial" pitchFamily="34" charset="-122"/>
                <a:cs typeface="Arial" pitchFamily="34" charset="-120"/>
              </a:rPr>
              <a:t>Quiz with a teacher answer key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5</a:t>
            </a:r>
            <a:endParaRPr lang="en-US" sz="1200" dirty="0"/>
          </a:p>
        </p:txBody>
      </p:sp>
      <p:sp>
        <p:nvSpPr>
          <p:cNvPr id="9" name="Text 4"/>
          <p:cNvSpPr txBox="1"/>
          <p:nvPr/>
        </p:nvSpPr>
        <p:spPr>
          <a:xfrm>
            <a:off x="1463040" y="411480"/>
            <a:ext cx="9144000" cy="685800"/>
          </a:xfrm>
          <a:prstGeom prst="rect">
            <a:avLst/>
          </a:prstGeom>
          <a:noFill/>
          <a:ln/>
        </p:spPr>
        <p:txBody>
          <a:bodyPr wrap="square" lIns="0" tIns="0" rIns="0" bIns="0" rtlCol="0" anchor="ctr"/>
          <a:lstStyle/>
          <a:p>
            <a:pPr marL="0" indent="0" algn="ctr">
              <a:buNone/>
            </a:pPr>
            <a:r>
              <a:rPr lang="en-US" sz="2800" b="1" dirty="0">
                <a:solidFill>
                  <a:srgbClr val="047954"/>
                </a:solidFill>
                <a:latin typeface="Arial" pitchFamily="34" charset="0"/>
                <a:ea typeface="Arial" pitchFamily="34" charset="-122"/>
                <a:cs typeface="Arial" pitchFamily="34" charset="-120"/>
              </a:rPr>
              <a:t>Data Structure</a:t>
            </a:r>
            <a:endParaRPr lang="en-US" sz="2800" dirty="0"/>
          </a:p>
        </p:txBody>
      </p:sp>
      <p:sp>
        <p:nvSpPr>
          <p:cNvPr id="10" name="entity 1"/>
          <p:cNvSpPr/>
          <p:nvPr/>
        </p:nvSpPr>
        <p:spPr>
          <a:xfrm>
            <a:off x="548640" y="1325880"/>
            <a:ext cx="1417320" cy="2057400"/>
          </a:xfrm>
          <a:prstGeom prst="roundRect">
            <a:avLst>
              <a:gd name="adj" fmla="val 6452"/>
            </a:avLst>
          </a:prstGeom>
          <a:solidFill>
            <a:srgbClr val="FFFFFF"/>
          </a:solidFill>
          <a:ln w="12700">
            <a:solidFill>
              <a:srgbClr val="CFDDD6"/>
            </a:solidFill>
            <a:prstDash val="solid"/>
          </a:ln>
        </p:spPr>
      </p:sp>
      <p:sp>
        <p:nvSpPr>
          <p:cNvPr id="11" name="Shape 6"/>
          <p:cNvSpPr/>
          <p:nvPr/>
        </p:nvSpPr>
        <p:spPr>
          <a:xfrm>
            <a:off x="557784" y="1335024"/>
            <a:ext cx="1399032" cy="548640"/>
          </a:xfrm>
          <a:prstGeom prst="rect">
            <a:avLst/>
          </a:prstGeom>
          <a:solidFill>
            <a:srgbClr val="047954"/>
          </a:solidFill>
          <a:ln w="12700">
            <a:solidFill>
              <a:srgbClr val="047954"/>
            </a:solidFill>
            <a:prstDash val="solid"/>
          </a:ln>
        </p:spPr>
      </p:sp>
      <p:sp>
        <p:nvSpPr>
          <p:cNvPr id="12" name="Text 7"/>
          <p:cNvSpPr txBox="1"/>
          <p:nvPr/>
        </p:nvSpPr>
        <p:spPr>
          <a:xfrm>
            <a:off x="594360" y="1335024"/>
            <a:ext cx="132588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Form submission</a:t>
            </a:r>
            <a:endParaRPr lang="en-US" sz="1200" dirty="0"/>
          </a:p>
        </p:txBody>
      </p:sp>
      <p:sp>
        <p:nvSpPr>
          <p:cNvPr id="13" name="Text 8"/>
          <p:cNvSpPr txBox="1"/>
          <p:nvPr/>
        </p:nvSpPr>
        <p:spPr>
          <a:xfrm>
            <a:off x="640080" y="1965960"/>
            <a:ext cx="1234440" cy="1371600"/>
          </a:xfrm>
          <a:prstGeom prst="rect">
            <a:avLst/>
          </a:prstGeom>
          <a:noFill/>
          <a:ln/>
        </p:spPr>
        <p:txBody>
          <a:bodyPr wrap="square" lIns="0" tIns="0" rIns="0" bIns="0" rtlCol="0" anchor="t"/>
          <a:lstStyle/>
          <a:p>
            <a:pPr marL="0" indent="0">
              <a:buNone/>
            </a:pPr>
            <a:r>
              <a:rPr lang="en-US" sz="1100" dirty="0">
                <a:solidFill>
                  <a:srgbClr val="1F2D3A"/>
                </a:solidFill>
                <a:latin typeface="Arial" pitchFamily="34" charset="0"/>
                <a:ea typeface="Arial" pitchFamily="34" charset="-122"/>
                <a:cs typeface="Arial" pitchFamily="34" charset="-120"/>
              </a:rPr>
              <a:t>JSON item with 11 fields (7 required, 4 optional), including the Email</a:t>
            </a:r>
            <a:endParaRPr lang="en-US" sz="1100" dirty="0"/>
          </a:p>
        </p:txBody>
      </p:sp>
      <p:sp>
        <p:nvSpPr>
          <p:cNvPr id="14" name="Shape 9"/>
          <p:cNvSpPr/>
          <p:nvPr/>
        </p:nvSpPr>
        <p:spPr>
          <a:xfrm>
            <a:off x="1975104" y="1600200"/>
            <a:ext cx="164592" cy="0"/>
          </a:xfrm>
          <a:prstGeom prst="line">
            <a:avLst/>
          </a:prstGeom>
          <a:noFill/>
          <a:ln w="19050">
            <a:solidFill>
              <a:srgbClr val="566575"/>
            </a:solidFill>
            <a:prstDash val="solid"/>
            <a:tailEnd type="triangle"/>
          </a:ln>
        </p:spPr>
      </p:sp>
      <p:sp>
        <p:nvSpPr>
          <p:cNvPr id="15" name="entity 2"/>
          <p:cNvSpPr/>
          <p:nvPr/>
        </p:nvSpPr>
        <p:spPr>
          <a:xfrm>
            <a:off x="2148840" y="1325880"/>
            <a:ext cx="1417320" cy="2057400"/>
          </a:xfrm>
          <a:prstGeom prst="roundRect">
            <a:avLst>
              <a:gd name="adj" fmla="val 6452"/>
            </a:avLst>
          </a:prstGeom>
          <a:solidFill>
            <a:srgbClr val="FFFFFF"/>
          </a:solidFill>
          <a:ln w="12700">
            <a:solidFill>
              <a:srgbClr val="CFDDD6"/>
            </a:solidFill>
            <a:prstDash val="solid"/>
          </a:ln>
        </p:spPr>
      </p:sp>
      <p:sp>
        <p:nvSpPr>
          <p:cNvPr id="16" name="Shape 11"/>
          <p:cNvSpPr/>
          <p:nvPr/>
        </p:nvSpPr>
        <p:spPr>
          <a:xfrm>
            <a:off x="2157984" y="1335024"/>
            <a:ext cx="1399032" cy="548640"/>
          </a:xfrm>
          <a:prstGeom prst="rect">
            <a:avLst/>
          </a:prstGeom>
          <a:solidFill>
            <a:srgbClr val="047954"/>
          </a:solidFill>
          <a:ln w="12700">
            <a:solidFill>
              <a:srgbClr val="047954"/>
            </a:solidFill>
            <a:prstDash val="solid"/>
          </a:ln>
        </p:spPr>
      </p:sp>
      <p:sp>
        <p:nvSpPr>
          <p:cNvPr id="17" name="Text 12"/>
          <p:cNvSpPr txBox="1"/>
          <p:nvPr/>
        </p:nvSpPr>
        <p:spPr>
          <a:xfrm>
            <a:off x="2194560" y="1335024"/>
            <a:ext cx="132588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Agent outputs</a:t>
            </a:r>
            <a:endParaRPr lang="en-US" sz="1200" dirty="0"/>
          </a:p>
        </p:txBody>
      </p:sp>
      <p:sp>
        <p:nvSpPr>
          <p:cNvPr id="18" name="Text 13"/>
          <p:cNvSpPr txBox="1"/>
          <p:nvPr/>
        </p:nvSpPr>
        <p:spPr>
          <a:xfrm>
            <a:off x="2240280" y="1965960"/>
            <a:ext cx="1234440" cy="1371600"/>
          </a:xfrm>
          <a:prstGeom prst="rect">
            <a:avLst/>
          </a:prstGeom>
          <a:noFill/>
          <a:ln/>
        </p:spPr>
        <p:txBody>
          <a:bodyPr wrap="square" lIns="0" tIns="0" rIns="0" bIns="0" rtlCol="0" anchor="t"/>
          <a:lstStyle/>
          <a:p>
            <a:pPr marL="0" indent="0">
              <a:buNone/>
            </a:pPr>
            <a:r>
              <a:rPr lang="en-US" sz="1100" dirty="0">
                <a:solidFill>
                  <a:srgbClr val="1F2D3A"/>
                </a:solidFill>
                <a:latin typeface="Arial" pitchFamily="34" charset="0"/>
                <a:ea typeface="Arial" pitchFamily="34" charset="-122"/>
                <a:cs typeface="Arial" pitchFamily="34" charset="-120"/>
              </a:rPr>
              <a:t>6 text fields named output, one per agent (sections A to L)</a:t>
            </a:r>
            <a:endParaRPr lang="en-US" sz="1100" dirty="0"/>
          </a:p>
        </p:txBody>
      </p:sp>
      <p:sp>
        <p:nvSpPr>
          <p:cNvPr id="19" name="Shape 14"/>
          <p:cNvSpPr/>
          <p:nvPr/>
        </p:nvSpPr>
        <p:spPr>
          <a:xfrm>
            <a:off x="3575304" y="1600200"/>
            <a:ext cx="164592" cy="0"/>
          </a:xfrm>
          <a:prstGeom prst="line">
            <a:avLst/>
          </a:prstGeom>
          <a:noFill/>
          <a:ln w="19050">
            <a:solidFill>
              <a:srgbClr val="566575"/>
            </a:solidFill>
            <a:prstDash val="solid"/>
            <a:tailEnd type="triangle"/>
          </a:ln>
        </p:spPr>
      </p:sp>
      <p:sp>
        <p:nvSpPr>
          <p:cNvPr id="20" name="entity 3"/>
          <p:cNvSpPr/>
          <p:nvPr/>
        </p:nvSpPr>
        <p:spPr>
          <a:xfrm>
            <a:off x="3749040" y="1325880"/>
            <a:ext cx="1417320" cy="2057400"/>
          </a:xfrm>
          <a:prstGeom prst="roundRect">
            <a:avLst>
              <a:gd name="adj" fmla="val 6452"/>
            </a:avLst>
          </a:prstGeom>
          <a:solidFill>
            <a:srgbClr val="FFFFFF"/>
          </a:solidFill>
          <a:ln w="12700">
            <a:solidFill>
              <a:srgbClr val="CFDDD6"/>
            </a:solidFill>
            <a:prstDash val="solid"/>
          </a:ln>
        </p:spPr>
      </p:sp>
      <p:sp>
        <p:nvSpPr>
          <p:cNvPr id="21" name="Shape 16"/>
          <p:cNvSpPr/>
          <p:nvPr/>
        </p:nvSpPr>
        <p:spPr>
          <a:xfrm>
            <a:off x="3758184" y="1335024"/>
            <a:ext cx="1399032" cy="548640"/>
          </a:xfrm>
          <a:prstGeom prst="rect">
            <a:avLst/>
          </a:prstGeom>
          <a:solidFill>
            <a:srgbClr val="336EA8"/>
          </a:solidFill>
          <a:ln w="12700">
            <a:solidFill>
              <a:srgbClr val="336EA8"/>
            </a:solidFill>
            <a:prstDash val="solid"/>
          </a:ln>
        </p:spPr>
      </p:sp>
      <p:sp>
        <p:nvSpPr>
          <p:cNvPr id="22" name="Text 17"/>
          <p:cNvSpPr txBox="1"/>
          <p:nvPr/>
        </p:nvSpPr>
        <p:spPr>
          <a:xfrm>
            <a:off x="3794760" y="1335024"/>
            <a:ext cx="132588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package</a:t>
            </a:r>
            <a:endParaRPr lang="en-US" sz="1200" dirty="0"/>
          </a:p>
        </p:txBody>
      </p:sp>
      <p:sp>
        <p:nvSpPr>
          <p:cNvPr id="23" name="Text 18"/>
          <p:cNvSpPr txBox="1"/>
          <p:nvPr/>
        </p:nvSpPr>
        <p:spPr>
          <a:xfrm>
            <a:off x="3840480" y="1965960"/>
            <a:ext cx="1234440" cy="1371600"/>
          </a:xfrm>
          <a:prstGeom prst="rect">
            <a:avLst/>
          </a:prstGeom>
          <a:noFill/>
          <a:ln/>
        </p:spPr>
        <p:txBody>
          <a:bodyPr wrap="square" lIns="0" tIns="0" rIns="0" bIns="0" rtlCol="0" anchor="t"/>
          <a:lstStyle/>
          <a:p>
            <a:pPr marL="0" indent="0">
              <a:buNone/>
            </a:pPr>
            <a:r>
              <a:rPr lang="en-US" sz="1100" dirty="0">
                <a:solidFill>
                  <a:srgbClr val="1F2D3A"/>
                </a:solidFill>
                <a:latin typeface="Arial" pitchFamily="34" charset="0"/>
                <a:ea typeface="Arial" pitchFamily="34" charset="-122"/>
                <a:cs typeface="Arial" pitchFamily="34" charset="-120"/>
              </a:rPr>
              <a:t>One Markdown string: a title line plus the 6 outputs</a:t>
            </a:r>
            <a:endParaRPr lang="en-US" sz="1100" dirty="0"/>
          </a:p>
        </p:txBody>
      </p:sp>
      <p:sp>
        <p:nvSpPr>
          <p:cNvPr id="24" name="Shape 19"/>
          <p:cNvSpPr/>
          <p:nvPr/>
        </p:nvSpPr>
        <p:spPr>
          <a:xfrm>
            <a:off x="5175504" y="1600200"/>
            <a:ext cx="164592" cy="0"/>
          </a:xfrm>
          <a:prstGeom prst="line">
            <a:avLst/>
          </a:prstGeom>
          <a:noFill/>
          <a:ln w="19050">
            <a:solidFill>
              <a:srgbClr val="566575"/>
            </a:solidFill>
            <a:prstDash val="solid"/>
            <a:tailEnd type="triangle"/>
          </a:ln>
        </p:spPr>
      </p:sp>
      <p:sp>
        <p:nvSpPr>
          <p:cNvPr id="25" name="entity 4"/>
          <p:cNvSpPr/>
          <p:nvPr/>
        </p:nvSpPr>
        <p:spPr>
          <a:xfrm>
            <a:off x="5349240" y="1325880"/>
            <a:ext cx="1417320" cy="2057400"/>
          </a:xfrm>
          <a:prstGeom prst="roundRect">
            <a:avLst>
              <a:gd name="adj" fmla="val 6452"/>
            </a:avLst>
          </a:prstGeom>
          <a:solidFill>
            <a:srgbClr val="FFFFFF"/>
          </a:solidFill>
          <a:ln w="12700">
            <a:solidFill>
              <a:srgbClr val="CFDDD6"/>
            </a:solidFill>
            <a:prstDash val="solid"/>
          </a:ln>
        </p:spPr>
      </p:sp>
      <p:sp>
        <p:nvSpPr>
          <p:cNvPr id="26" name="Shape 21"/>
          <p:cNvSpPr/>
          <p:nvPr/>
        </p:nvSpPr>
        <p:spPr>
          <a:xfrm>
            <a:off x="5358384" y="1335024"/>
            <a:ext cx="1399032" cy="548640"/>
          </a:xfrm>
          <a:prstGeom prst="rect">
            <a:avLst/>
          </a:prstGeom>
          <a:solidFill>
            <a:srgbClr val="D7B119"/>
          </a:solidFill>
          <a:ln w="12700">
            <a:solidFill>
              <a:srgbClr val="D7B119"/>
            </a:solidFill>
            <a:prstDash val="solid"/>
          </a:ln>
        </p:spPr>
      </p:sp>
      <p:sp>
        <p:nvSpPr>
          <p:cNvPr id="27" name="Text 22"/>
          <p:cNvSpPr txBox="1"/>
          <p:nvPr/>
        </p:nvSpPr>
        <p:spPr>
          <a:xfrm>
            <a:off x="5394960" y="1335024"/>
            <a:ext cx="1325880" cy="548640"/>
          </a:xfrm>
          <a:prstGeom prst="rect">
            <a:avLst/>
          </a:prstGeom>
          <a:noFill/>
          <a:ln/>
        </p:spPr>
        <p:txBody>
          <a:bodyPr wrap="square" lIns="0" tIns="0" rIns="0" bIns="0" rtlCol="0" anchor="ctr"/>
          <a:lstStyle/>
          <a:p>
            <a:pPr marL="0" indent="0" algn="ctr">
              <a:buNone/>
            </a:pPr>
            <a:r>
              <a:rPr lang="en-US" sz="1200" b="1" dirty="0">
                <a:solidFill>
                  <a:srgbClr val="1F2D3A"/>
                </a:solidFill>
                <a:latin typeface="Arial" pitchFamily="34" charset="0"/>
                <a:ea typeface="Arial" pitchFamily="34" charset="-122"/>
                <a:cs typeface="Arial" pitchFamily="34" charset="-120"/>
              </a:rPr>
              <a:t>Completeness check</a:t>
            </a:r>
            <a:endParaRPr lang="en-US" sz="1200" dirty="0"/>
          </a:p>
        </p:txBody>
      </p:sp>
      <p:sp>
        <p:nvSpPr>
          <p:cNvPr id="28" name="Text 23"/>
          <p:cNvSpPr txBox="1"/>
          <p:nvPr/>
        </p:nvSpPr>
        <p:spPr>
          <a:xfrm>
            <a:off x="5440680" y="1965960"/>
            <a:ext cx="1234440" cy="1371600"/>
          </a:xfrm>
          <a:prstGeom prst="rect">
            <a:avLst/>
          </a:prstGeom>
          <a:noFill/>
          <a:ln/>
        </p:spPr>
        <p:txBody>
          <a:bodyPr wrap="square" lIns="0" tIns="0" rIns="0" bIns="0" rtlCol="0" anchor="t"/>
          <a:lstStyle/>
          <a:p>
            <a:pPr marL="0" indent="0">
              <a:buNone/>
            </a:pPr>
            <a:r>
              <a:rPr lang="en-US" sz="1100" dirty="0">
                <a:solidFill>
                  <a:srgbClr val="1F2D3A"/>
                </a:solidFill>
                <a:latin typeface="Arial" pitchFamily="34" charset="0"/>
                <a:ea typeface="Arial" pitchFamily="34" charset="-122"/>
                <a:cs typeface="Arial" pitchFamily="34" charset="-120"/>
              </a:rPr>
              <a:t>If node: true only if headings A to L are all in the package</a:t>
            </a:r>
            <a:endParaRPr lang="en-US" sz="1100" dirty="0"/>
          </a:p>
        </p:txBody>
      </p:sp>
      <p:sp>
        <p:nvSpPr>
          <p:cNvPr id="29" name="Shape 24"/>
          <p:cNvSpPr/>
          <p:nvPr/>
        </p:nvSpPr>
        <p:spPr>
          <a:xfrm>
            <a:off x="6775704" y="1600200"/>
            <a:ext cx="164592" cy="0"/>
          </a:xfrm>
          <a:prstGeom prst="line">
            <a:avLst/>
          </a:prstGeom>
          <a:noFill/>
          <a:ln w="19050">
            <a:solidFill>
              <a:srgbClr val="566575"/>
            </a:solidFill>
            <a:prstDash val="solid"/>
            <a:tailEnd type="triangle"/>
          </a:ln>
        </p:spPr>
      </p:sp>
      <p:sp>
        <p:nvSpPr>
          <p:cNvPr id="30" name="entity 5"/>
          <p:cNvSpPr/>
          <p:nvPr/>
        </p:nvSpPr>
        <p:spPr>
          <a:xfrm>
            <a:off x="6949440" y="1325880"/>
            <a:ext cx="1417320" cy="2057400"/>
          </a:xfrm>
          <a:prstGeom prst="roundRect">
            <a:avLst>
              <a:gd name="adj" fmla="val 6452"/>
            </a:avLst>
          </a:prstGeom>
          <a:solidFill>
            <a:srgbClr val="FFFFFF"/>
          </a:solidFill>
          <a:ln w="12700">
            <a:solidFill>
              <a:srgbClr val="CFDDD6"/>
            </a:solidFill>
            <a:prstDash val="solid"/>
          </a:ln>
        </p:spPr>
      </p:sp>
      <p:sp>
        <p:nvSpPr>
          <p:cNvPr id="31" name="Shape 26"/>
          <p:cNvSpPr/>
          <p:nvPr/>
        </p:nvSpPr>
        <p:spPr>
          <a:xfrm>
            <a:off x="6958584" y="1335024"/>
            <a:ext cx="1399032" cy="548640"/>
          </a:xfrm>
          <a:prstGeom prst="rect">
            <a:avLst/>
          </a:prstGeom>
          <a:solidFill>
            <a:srgbClr val="336EA8"/>
          </a:solidFill>
          <a:ln w="12700">
            <a:solidFill>
              <a:srgbClr val="336EA8"/>
            </a:solidFill>
            <a:prstDash val="solid"/>
          </a:ln>
        </p:spPr>
      </p:sp>
      <p:sp>
        <p:nvSpPr>
          <p:cNvPr id="32" name="Text 27"/>
          <p:cNvSpPr txBox="1"/>
          <p:nvPr/>
        </p:nvSpPr>
        <p:spPr>
          <a:xfrm>
            <a:off x="6995160" y="1335024"/>
            <a:ext cx="132588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html and page</a:t>
            </a:r>
            <a:endParaRPr lang="en-US" sz="1200" dirty="0"/>
          </a:p>
        </p:txBody>
      </p:sp>
      <p:sp>
        <p:nvSpPr>
          <p:cNvPr id="33" name="Text 28"/>
          <p:cNvSpPr txBox="1"/>
          <p:nvPr/>
        </p:nvSpPr>
        <p:spPr>
          <a:xfrm>
            <a:off x="7040880" y="1965960"/>
            <a:ext cx="1234440" cy="1371600"/>
          </a:xfrm>
          <a:prstGeom prst="rect">
            <a:avLst/>
          </a:prstGeom>
          <a:noFill/>
          <a:ln/>
        </p:spPr>
        <p:txBody>
          <a:bodyPr wrap="square" lIns="0" tIns="0" rIns="0" bIns="0" rtlCol="0" anchor="t"/>
          <a:lstStyle/>
          <a:p>
            <a:pPr marL="0" indent="0">
              <a:buNone/>
            </a:pPr>
            <a:r>
              <a:rPr lang="en-US" sz="1100" dirty="0">
                <a:solidFill>
                  <a:srgbClr val="1F2D3A"/>
                </a:solidFill>
                <a:latin typeface="Arial" pitchFamily="34" charset="0"/>
                <a:ea typeface="Arial" pitchFamily="34" charset="-122"/>
                <a:cs typeface="Arial" pitchFamily="34" charset="-120"/>
              </a:rPr>
              <a:t>Markdown to HTML, then a styled page (Arial, 14 px)</a:t>
            </a:r>
            <a:endParaRPr lang="en-US" sz="1100" dirty="0"/>
          </a:p>
        </p:txBody>
      </p:sp>
      <p:sp>
        <p:nvSpPr>
          <p:cNvPr id="34" name="Shape 29"/>
          <p:cNvSpPr/>
          <p:nvPr/>
        </p:nvSpPr>
        <p:spPr>
          <a:xfrm>
            <a:off x="8375904" y="1600200"/>
            <a:ext cx="164592" cy="0"/>
          </a:xfrm>
          <a:prstGeom prst="line">
            <a:avLst/>
          </a:prstGeom>
          <a:noFill/>
          <a:ln w="19050">
            <a:solidFill>
              <a:srgbClr val="566575"/>
            </a:solidFill>
            <a:prstDash val="solid"/>
            <a:tailEnd type="triangle"/>
          </a:ln>
        </p:spPr>
      </p:sp>
      <p:sp>
        <p:nvSpPr>
          <p:cNvPr id="35" name="entity 6"/>
          <p:cNvSpPr/>
          <p:nvPr/>
        </p:nvSpPr>
        <p:spPr>
          <a:xfrm>
            <a:off x="8549640" y="1325880"/>
            <a:ext cx="1417320" cy="2057400"/>
          </a:xfrm>
          <a:prstGeom prst="roundRect">
            <a:avLst>
              <a:gd name="adj" fmla="val 6452"/>
            </a:avLst>
          </a:prstGeom>
          <a:solidFill>
            <a:srgbClr val="FFFFFF"/>
          </a:solidFill>
          <a:ln w="12700">
            <a:solidFill>
              <a:srgbClr val="CFDDD6"/>
            </a:solidFill>
            <a:prstDash val="solid"/>
          </a:ln>
        </p:spPr>
      </p:sp>
      <p:sp>
        <p:nvSpPr>
          <p:cNvPr id="36" name="Shape 31"/>
          <p:cNvSpPr/>
          <p:nvPr/>
        </p:nvSpPr>
        <p:spPr>
          <a:xfrm>
            <a:off x="8558784" y="1335024"/>
            <a:ext cx="1399032" cy="548640"/>
          </a:xfrm>
          <a:prstGeom prst="rect">
            <a:avLst/>
          </a:prstGeom>
          <a:solidFill>
            <a:srgbClr val="336EA8"/>
          </a:solidFill>
          <a:ln w="12700">
            <a:solidFill>
              <a:srgbClr val="336EA8"/>
            </a:solidFill>
            <a:prstDash val="solid"/>
          </a:ln>
        </p:spPr>
      </p:sp>
      <p:sp>
        <p:nvSpPr>
          <p:cNvPr id="37" name="Text 32"/>
          <p:cNvSpPr txBox="1"/>
          <p:nvPr/>
        </p:nvSpPr>
        <p:spPr>
          <a:xfrm>
            <a:off x="8595360" y="1335024"/>
            <a:ext cx="132588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PDF file</a:t>
            </a:r>
            <a:endParaRPr lang="en-US" sz="1200" dirty="0"/>
          </a:p>
        </p:txBody>
      </p:sp>
      <p:sp>
        <p:nvSpPr>
          <p:cNvPr id="38" name="Text 33"/>
          <p:cNvSpPr txBox="1"/>
          <p:nvPr/>
        </p:nvSpPr>
        <p:spPr>
          <a:xfrm>
            <a:off x="8641080" y="1965960"/>
            <a:ext cx="1234440" cy="1371600"/>
          </a:xfrm>
          <a:prstGeom prst="rect">
            <a:avLst/>
          </a:prstGeom>
          <a:noFill/>
          <a:ln/>
        </p:spPr>
        <p:txBody>
          <a:bodyPr wrap="square" lIns="0" tIns="0" rIns="0" bIns="0" rtlCol="0" anchor="t"/>
          <a:lstStyle/>
          <a:p>
            <a:pPr marL="0" indent="0">
              <a:buNone/>
            </a:pPr>
            <a:r>
              <a:rPr lang="en-US" sz="1100" dirty="0">
                <a:solidFill>
                  <a:srgbClr val="1F2D3A"/>
                </a:solidFill>
                <a:latin typeface="Arial" pitchFamily="34" charset="0"/>
                <a:ea typeface="Arial" pitchFamily="34" charset="-122"/>
                <a:cs typeface="Arial" pitchFamily="34" charset="-120"/>
              </a:rPr>
              <a:t>Binary file returned by the html2pdf.app API</a:t>
            </a:r>
            <a:endParaRPr lang="en-US" sz="1100" dirty="0"/>
          </a:p>
        </p:txBody>
      </p:sp>
      <p:sp>
        <p:nvSpPr>
          <p:cNvPr id="39" name="Shape 34"/>
          <p:cNvSpPr/>
          <p:nvPr/>
        </p:nvSpPr>
        <p:spPr>
          <a:xfrm>
            <a:off x="9976104" y="1600200"/>
            <a:ext cx="164592" cy="0"/>
          </a:xfrm>
          <a:prstGeom prst="line">
            <a:avLst/>
          </a:prstGeom>
          <a:noFill/>
          <a:ln w="19050">
            <a:solidFill>
              <a:srgbClr val="566575"/>
            </a:solidFill>
            <a:prstDash val="solid"/>
            <a:tailEnd type="triangle"/>
          </a:ln>
        </p:spPr>
      </p:sp>
      <p:sp>
        <p:nvSpPr>
          <p:cNvPr id="40" name="entity 7"/>
          <p:cNvSpPr/>
          <p:nvPr/>
        </p:nvSpPr>
        <p:spPr>
          <a:xfrm>
            <a:off x="10149840" y="1325880"/>
            <a:ext cx="1417320" cy="2057400"/>
          </a:xfrm>
          <a:prstGeom prst="roundRect">
            <a:avLst>
              <a:gd name="adj" fmla="val 6452"/>
            </a:avLst>
          </a:prstGeom>
          <a:solidFill>
            <a:srgbClr val="FFFFFF"/>
          </a:solidFill>
          <a:ln w="12700">
            <a:solidFill>
              <a:srgbClr val="CFDDD6"/>
            </a:solidFill>
            <a:prstDash val="solid"/>
          </a:ln>
        </p:spPr>
      </p:sp>
      <p:sp>
        <p:nvSpPr>
          <p:cNvPr id="41" name="Shape 36"/>
          <p:cNvSpPr/>
          <p:nvPr/>
        </p:nvSpPr>
        <p:spPr>
          <a:xfrm>
            <a:off x="10158984" y="1335024"/>
            <a:ext cx="1399032" cy="548640"/>
          </a:xfrm>
          <a:prstGeom prst="rect">
            <a:avLst/>
          </a:prstGeom>
          <a:solidFill>
            <a:srgbClr val="047954"/>
          </a:solidFill>
          <a:ln w="12700">
            <a:solidFill>
              <a:srgbClr val="047954"/>
            </a:solidFill>
            <a:prstDash val="solid"/>
          </a:ln>
        </p:spPr>
      </p:sp>
      <p:sp>
        <p:nvSpPr>
          <p:cNvPr id="42" name="Text 37"/>
          <p:cNvSpPr txBox="1"/>
          <p:nvPr/>
        </p:nvSpPr>
        <p:spPr>
          <a:xfrm>
            <a:off x="10195560" y="1335024"/>
            <a:ext cx="132588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Email</a:t>
            </a:r>
            <a:endParaRPr lang="en-US" sz="1200" dirty="0"/>
          </a:p>
        </p:txBody>
      </p:sp>
      <p:sp>
        <p:nvSpPr>
          <p:cNvPr id="43" name="Text 38"/>
          <p:cNvSpPr txBox="1"/>
          <p:nvPr/>
        </p:nvSpPr>
        <p:spPr>
          <a:xfrm>
            <a:off x="10241280" y="1965960"/>
            <a:ext cx="1234440" cy="1371600"/>
          </a:xfrm>
          <a:prstGeom prst="rect">
            <a:avLst/>
          </a:prstGeom>
          <a:noFill/>
          <a:ln/>
        </p:spPr>
        <p:txBody>
          <a:bodyPr wrap="square" lIns="0" tIns="0" rIns="0" bIns="0" rtlCol="0" anchor="t"/>
          <a:lstStyle/>
          <a:p>
            <a:pPr marL="0" indent="0">
              <a:buNone/>
            </a:pPr>
            <a:r>
              <a:rPr lang="en-US" sz="1100" dirty="0">
                <a:solidFill>
                  <a:srgbClr val="1F2D3A"/>
                </a:solidFill>
                <a:latin typeface="Arial" pitchFamily="34" charset="0"/>
                <a:ea typeface="Arial" pitchFamily="34" charset="-122"/>
                <a:cs typeface="Arial" pitchFamily="34" charset="-120"/>
              </a:rPr>
              <a:t>Gmail to the form's address: the PDF, or an incomplete notice</a:t>
            </a:r>
            <a:endParaRPr lang="en-US" sz="1100" dirty="0"/>
          </a:p>
        </p:txBody>
      </p:sp>
      <p:sp>
        <p:nvSpPr>
          <p:cNvPr id="44" name="data card 1"/>
          <p:cNvSpPr/>
          <p:nvPr/>
        </p:nvSpPr>
        <p:spPr>
          <a:xfrm>
            <a:off x="548640" y="3566160"/>
            <a:ext cx="3566160" cy="2606040"/>
          </a:xfrm>
          <a:prstGeom prst="roundRect">
            <a:avLst>
              <a:gd name="adj" fmla="val 3509"/>
            </a:avLst>
          </a:prstGeom>
          <a:solidFill>
            <a:srgbClr val="FFFFFF"/>
          </a:solidFill>
          <a:ln w="12700">
            <a:solidFill>
              <a:srgbClr val="CFDDD6"/>
            </a:solidFill>
            <a:prstDash val="solid"/>
          </a:ln>
        </p:spPr>
      </p:sp>
      <p:sp>
        <p:nvSpPr>
          <p:cNvPr id="45" name="Shape 40"/>
          <p:cNvSpPr/>
          <p:nvPr/>
        </p:nvSpPr>
        <p:spPr>
          <a:xfrm>
            <a:off x="777240" y="3794760"/>
            <a:ext cx="548640" cy="548640"/>
          </a:xfrm>
          <a:prstGeom prst="ellipse">
            <a:avLst/>
          </a:prstGeom>
          <a:solidFill>
            <a:srgbClr val="047954"/>
          </a:solidFill>
          <a:ln w="6350">
            <a:solidFill>
              <a:srgbClr val="047954"/>
            </a:solidFill>
            <a:prstDash val="solid"/>
          </a:ln>
        </p:spPr>
      </p:sp>
      <p:pic>
        <p:nvPicPr>
          <p:cNvPr id="46" name="Image 3" descr="preencoded.png"/>
          <p:cNvPicPr>
            <a:picLocks noChangeAspect="1"/>
          </p:cNvPicPr>
          <p:nvPr/>
        </p:nvPicPr>
        <p:blipFill>
          <a:blip r:embed="rId7"/>
          <a:stretch>
            <a:fillRect/>
          </a:stretch>
        </p:blipFill>
        <p:spPr>
          <a:xfrm>
            <a:off x="914400" y="3931920"/>
            <a:ext cx="274320" cy="274320"/>
          </a:xfrm>
          <a:prstGeom prst="rect">
            <a:avLst/>
          </a:prstGeom>
        </p:spPr>
      </p:pic>
      <p:sp>
        <p:nvSpPr>
          <p:cNvPr id="47" name="Text 41"/>
          <p:cNvSpPr txBox="1"/>
          <p:nvPr/>
        </p:nvSpPr>
        <p:spPr>
          <a:xfrm>
            <a:off x="1463040" y="3840480"/>
            <a:ext cx="2560320" cy="457200"/>
          </a:xfrm>
          <a:prstGeom prst="rect">
            <a:avLst/>
          </a:prstGeom>
          <a:noFill/>
          <a:ln/>
        </p:spPr>
        <p:txBody>
          <a:bodyPr wrap="square" lIns="0" tIns="0" rIns="0" bIns="0" rtlCol="0" anchor="ctr"/>
          <a:lstStyle/>
          <a:p>
            <a:pPr marL="0" indent="0">
              <a:buNone/>
            </a:pPr>
            <a:r>
              <a:rPr lang="en-US" sz="1600" b="1" dirty="0">
                <a:solidFill>
                  <a:srgbClr val="047954"/>
                </a:solidFill>
                <a:latin typeface="Arial" pitchFamily="34" charset="0"/>
                <a:ea typeface="Arial" pitchFamily="34" charset="-122"/>
                <a:cs typeface="Arial" pitchFamily="34" charset="-120"/>
              </a:rPr>
              <a:t>Database architecture</a:t>
            </a:r>
            <a:endParaRPr lang="en-US" sz="1600" dirty="0"/>
          </a:p>
        </p:txBody>
      </p:sp>
      <p:sp>
        <p:nvSpPr>
          <p:cNvPr id="48" name="Text 42"/>
          <p:cNvSpPr txBox="1"/>
          <p:nvPr/>
        </p:nvSpPr>
        <p:spPr>
          <a:xfrm>
            <a:off x="777240" y="4526280"/>
            <a:ext cx="3108960" cy="1600200"/>
          </a:xfrm>
          <a:prstGeom prst="rect">
            <a:avLst/>
          </a:prstGeom>
          <a:noFill/>
          <a:ln/>
        </p:spPr>
        <p:txBody>
          <a:bodyPr wrap="square" lIns="0" tIns="0" rIns="0" bIns="0" rtlCol="0" anchor="t"/>
          <a:lstStyle/>
          <a:p>
            <a:pPr marL="0" indent="0">
              <a:buNone/>
            </a:pPr>
            <a:r>
              <a:rPr lang="en-US" sz="1300" dirty="0">
                <a:solidFill>
                  <a:srgbClr val="1F2D3A"/>
                </a:solidFill>
                <a:latin typeface="Arial" pitchFamily="34" charset="0"/>
                <a:ea typeface="Arial" pitchFamily="34" charset="-122"/>
                <a:cs typeface="Arial" pitchFamily="34" charset="-120"/>
              </a:rPr>
              <a:t>No custom database. Non-relational: data travels as JSON items between nodes and is held in memory during a run.</a:t>
            </a:r>
            <a:endParaRPr lang="en-US" sz="1300" dirty="0"/>
          </a:p>
        </p:txBody>
      </p:sp>
      <p:sp>
        <p:nvSpPr>
          <p:cNvPr id="49" name="data card 2"/>
          <p:cNvSpPr/>
          <p:nvPr/>
        </p:nvSpPr>
        <p:spPr>
          <a:xfrm>
            <a:off x="4297680" y="3566160"/>
            <a:ext cx="3566160" cy="2606040"/>
          </a:xfrm>
          <a:prstGeom prst="roundRect">
            <a:avLst>
              <a:gd name="adj" fmla="val 3509"/>
            </a:avLst>
          </a:prstGeom>
          <a:solidFill>
            <a:srgbClr val="FFFFFF"/>
          </a:solidFill>
          <a:ln w="12700">
            <a:solidFill>
              <a:srgbClr val="CFDDD6"/>
            </a:solidFill>
            <a:prstDash val="solid"/>
          </a:ln>
        </p:spPr>
      </p:sp>
      <p:sp>
        <p:nvSpPr>
          <p:cNvPr id="50" name="Shape 44"/>
          <p:cNvSpPr/>
          <p:nvPr/>
        </p:nvSpPr>
        <p:spPr>
          <a:xfrm>
            <a:off x="4526280" y="3794760"/>
            <a:ext cx="548640" cy="548640"/>
          </a:xfrm>
          <a:prstGeom prst="ellipse">
            <a:avLst/>
          </a:prstGeom>
          <a:solidFill>
            <a:srgbClr val="336EA8"/>
          </a:solidFill>
          <a:ln w="6350">
            <a:solidFill>
              <a:srgbClr val="336EA8"/>
            </a:solidFill>
            <a:prstDash val="solid"/>
          </a:ln>
        </p:spPr>
      </p:sp>
      <p:pic>
        <p:nvPicPr>
          <p:cNvPr id="51" name="Image 4" descr="preencoded.png"/>
          <p:cNvPicPr>
            <a:picLocks noChangeAspect="1"/>
          </p:cNvPicPr>
          <p:nvPr/>
        </p:nvPicPr>
        <p:blipFill>
          <a:blip r:embed="rId8"/>
          <a:stretch>
            <a:fillRect/>
          </a:stretch>
        </p:blipFill>
        <p:spPr>
          <a:xfrm>
            <a:off x="4663440" y="3931920"/>
            <a:ext cx="274320" cy="274320"/>
          </a:xfrm>
          <a:prstGeom prst="rect">
            <a:avLst/>
          </a:prstGeom>
        </p:spPr>
      </p:pic>
      <p:sp>
        <p:nvSpPr>
          <p:cNvPr id="52" name="Text 45"/>
          <p:cNvSpPr txBox="1"/>
          <p:nvPr/>
        </p:nvSpPr>
        <p:spPr>
          <a:xfrm>
            <a:off x="5212080" y="3840480"/>
            <a:ext cx="2560320" cy="457200"/>
          </a:xfrm>
          <a:prstGeom prst="rect">
            <a:avLst/>
          </a:prstGeom>
          <a:noFill/>
          <a:ln/>
        </p:spPr>
        <p:txBody>
          <a:bodyPr wrap="square" lIns="0" tIns="0" rIns="0" bIns="0" rtlCol="0" anchor="ctr"/>
          <a:lstStyle/>
          <a:p>
            <a:pPr marL="0" indent="0">
              <a:buNone/>
            </a:pPr>
            <a:r>
              <a:rPr lang="en-US" sz="1600" b="1" dirty="0">
                <a:solidFill>
                  <a:srgbClr val="047954"/>
                </a:solidFill>
                <a:latin typeface="Arial" pitchFamily="34" charset="0"/>
                <a:ea typeface="Arial" pitchFamily="34" charset="-122"/>
                <a:cs typeface="Arial" pitchFamily="34" charset="-120"/>
              </a:rPr>
              <a:t>Entities and relationships</a:t>
            </a:r>
            <a:endParaRPr lang="en-US" sz="1600" dirty="0"/>
          </a:p>
        </p:txBody>
      </p:sp>
      <p:sp>
        <p:nvSpPr>
          <p:cNvPr id="53" name="Text 46"/>
          <p:cNvSpPr txBox="1"/>
          <p:nvPr/>
        </p:nvSpPr>
        <p:spPr>
          <a:xfrm>
            <a:off x="4526280" y="4526280"/>
            <a:ext cx="3108960" cy="1600200"/>
          </a:xfrm>
          <a:prstGeom prst="rect">
            <a:avLst/>
          </a:prstGeom>
          <a:noFill/>
          <a:ln/>
        </p:spPr>
        <p:txBody>
          <a:bodyPr wrap="square" lIns="0" tIns="0" rIns="0" bIns="0" rtlCol="0" anchor="t"/>
          <a:lstStyle/>
          <a:p>
            <a:pPr marL="0" indent="0">
              <a:buNone/>
            </a:pPr>
            <a:r>
              <a:rPr lang="en-US" sz="1300" dirty="0">
                <a:solidFill>
                  <a:srgbClr val="1F2D3A"/>
                </a:solidFill>
                <a:latin typeface="Arial" pitchFamily="34" charset="0"/>
                <a:ea typeface="Arial" pitchFamily="34" charset="-122"/>
                <a:cs typeface="Arial" pitchFamily="34" charset="-120"/>
              </a:rPr>
              <a:t>1 submission leads to 6 agent outputs, 1 package, 1 true/false check, 1 PDF and 1 email. Every agent reads the same 10 teacher inputs by field name.</a:t>
            </a:r>
            <a:endParaRPr lang="en-US" sz="1300" dirty="0"/>
          </a:p>
        </p:txBody>
      </p:sp>
      <p:sp>
        <p:nvSpPr>
          <p:cNvPr id="54" name="data card 3"/>
          <p:cNvSpPr/>
          <p:nvPr/>
        </p:nvSpPr>
        <p:spPr>
          <a:xfrm>
            <a:off x="8046720" y="3566160"/>
            <a:ext cx="3566160" cy="2606040"/>
          </a:xfrm>
          <a:prstGeom prst="roundRect">
            <a:avLst>
              <a:gd name="adj" fmla="val 3509"/>
            </a:avLst>
          </a:prstGeom>
          <a:solidFill>
            <a:srgbClr val="FFFFFF"/>
          </a:solidFill>
          <a:ln w="12700">
            <a:solidFill>
              <a:srgbClr val="CFDDD6"/>
            </a:solidFill>
            <a:prstDash val="solid"/>
          </a:ln>
        </p:spPr>
      </p:sp>
      <p:sp>
        <p:nvSpPr>
          <p:cNvPr id="55" name="Shape 48"/>
          <p:cNvSpPr/>
          <p:nvPr/>
        </p:nvSpPr>
        <p:spPr>
          <a:xfrm>
            <a:off x="8275320" y="3794760"/>
            <a:ext cx="548640" cy="548640"/>
          </a:xfrm>
          <a:prstGeom prst="ellipse">
            <a:avLst/>
          </a:prstGeom>
          <a:solidFill>
            <a:srgbClr val="D7B119"/>
          </a:solidFill>
          <a:ln w="6350">
            <a:solidFill>
              <a:srgbClr val="D7B119"/>
            </a:solidFill>
            <a:prstDash val="solid"/>
          </a:ln>
        </p:spPr>
      </p:sp>
      <p:pic>
        <p:nvPicPr>
          <p:cNvPr id="56" name="Image 5" descr="preencoded.png"/>
          <p:cNvPicPr>
            <a:picLocks noChangeAspect="1"/>
          </p:cNvPicPr>
          <p:nvPr/>
        </p:nvPicPr>
        <p:blipFill>
          <a:blip r:embed="rId9"/>
          <a:stretch>
            <a:fillRect/>
          </a:stretch>
        </p:blipFill>
        <p:spPr>
          <a:xfrm>
            <a:off x="8412480" y="3931920"/>
            <a:ext cx="274320" cy="274320"/>
          </a:xfrm>
          <a:prstGeom prst="rect">
            <a:avLst/>
          </a:prstGeom>
        </p:spPr>
      </p:pic>
      <p:sp>
        <p:nvSpPr>
          <p:cNvPr id="57" name="Text 49"/>
          <p:cNvSpPr txBox="1"/>
          <p:nvPr/>
        </p:nvSpPr>
        <p:spPr>
          <a:xfrm>
            <a:off x="8961120" y="3840480"/>
            <a:ext cx="2560320" cy="457200"/>
          </a:xfrm>
          <a:prstGeom prst="rect">
            <a:avLst/>
          </a:prstGeom>
          <a:noFill/>
          <a:ln/>
        </p:spPr>
        <p:txBody>
          <a:bodyPr wrap="square" lIns="0" tIns="0" rIns="0" bIns="0" rtlCol="0" anchor="ctr"/>
          <a:lstStyle/>
          <a:p>
            <a:pPr marL="0" indent="0">
              <a:buNone/>
            </a:pPr>
            <a:r>
              <a:rPr lang="en-US" sz="1600" b="1" dirty="0">
                <a:solidFill>
                  <a:srgbClr val="047954"/>
                </a:solidFill>
                <a:latin typeface="Arial" pitchFamily="34" charset="0"/>
                <a:ea typeface="Arial" pitchFamily="34" charset="-122"/>
                <a:cs typeface="Arial" pitchFamily="34" charset="-120"/>
              </a:rPr>
              <a:t>Data flow</a:t>
            </a:r>
            <a:endParaRPr lang="en-US" sz="1600" dirty="0"/>
          </a:p>
        </p:txBody>
      </p:sp>
      <p:sp>
        <p:nvSpPr>
          <p:cNvPr id="58" name="Text 50"/>
          <p:cNvSpPr txBox="1"/>
          <p:nvPr/>
        </p:nvSpPr>
        <p:spPr>
          <a:xfrm>
            <a:off x="8275320" y="4526280"/>
            <a:ext cx="3108960" cy="1600200"/>
          </a:xfrm>
          <a:prstGeom prst="rect">
            <a:avLst/>
          </a:prstGeom>
          <a:noFill/>
          <a:ln/>
        </p:spPr>
        <p:txBody>
          <a:bodyPr wrap="square" lIns="0" tIns="0" rIns="0" bIns="0" rtlCol="0" anchor="t"/>
          <a:lstStyle/>
          <a:p>
            <a:pPr marL="0" indent="0">
              <a:buNone/>
            </a:pPr>
            <a:r>
              <a:rPr lang="en-US" sz="1300" dirty="0">
                <a:solidFill>
                  <a:srgbClr val="1F2D3A"/>
                </a:solidFill>
                <a:latin typeface="Arial" pitchFamily="34" charset="0"/>
                <a:ea typeface="Arial" pitchFamily="34" charset="-122"/>
                <a:cs typeface="Arial" pitchFamily="34" charset="-120"/>
              </a:rPr>
              <a:t>Collected by the web form, processed by the agents and checked automatically, then accessed as a PDF by email. If the check fails, an incomplete notice is sent instead. No CSV dataset was used.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txBody>
          <a:bodyPr/>
          <a:lstStyle/>
          <a:p>
            <a:endParaRPr/>
          </a:p>
        </p:txBody>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txBody>
          <a:bodyPr/>
          <a:lstStyle/>
          <a:p>
            <a:endParaRPr/>
          </a:p>
        </p:txBody>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6</a:t>
            </a:r>
            <a:endParaRPr lang="en-US" sz="1200" dirty="0"/>
          </a:p>
        </p:txBody>
      </p:sp>
      <p:sp>
        <p:nvSpPr>
          <p:cNvPr id="9" name="Text 4"/>
          <p:cNvSpPr txBox="1"/>
          <p:nvPr/>
        </p:nvSpPr>
        <p:spPr>
          <a:xfrm>
            <a:off x="1463040" y="411480"/>
            <a:ext cx="9144000" cy="685800"/>
          </a:xfrm>
          <a:prstGeom prst="rect">
            <a:avLst/>
          </a:prstGeom>
          <a:noFill/>
          <a:ln/>
        </p:spPr>
        <p:txBody>
          <a:bodyPr wrap="square" lIns="0" tIns="0" rIns="0" bIns="0" rtlCol="0" anchor="ctr"/>
          <a:lstStyle/>
          <a:p>
            <a:pPr marL="0" indent="0" algn="ctr">
              <a:buNone/>
            </a:pPr>
            <a:r>
              <a:rPr lang="en-US" sz="2800" b="1" dirty="0">
                <a:solidFill>
                  <a:srgbClr val="047954"/>
                </a:solidFill>
                <a:latin typeface="Arial" pitchFamily="34" charset="0"/>
                <a:ea typeface="Arial" pitchFamily="34" charset="-122"/>
                <a:cs typeface="Arial" pitchFamily="34" charset="-120"/>
              </a:rPr>
              <a:t>Programming Languages + Frameworks</a:t>
            </a:r>
            <a:endParaRPr lang="en-US" sz="2800" dirty="0"/>
          </a:p>
        </p:txBody>
      </p:sp>
      <p:sp>
        <p:nvSpPr>
          <p:cNvPr id="10" name="tech card 1"/>
          <p:cNvSpPr/>
          <p:nvPr/>
        </p:nvSpPr>
        <p:spPr>
          <a:xfrm>
            <a:off x="548640" y="1325880"/>
            <a:ext cx="3566160" cy="4114800"/>
          </a:xfrm>
          <a:prstGeom prst="roundRect">
            <a:avLst>
              <a:gd name="adj" fmla="val 2564"/>
            </a:avLst>
          </a:prstGeom>
          <a:solidFill>
            <a:srgbClr val="FFFFFF"/>
          </a:solidFill>
          <a:ln w="12700">
            <a:solidFill>
              <a:srgbClr val="CFDDD6"/>
            </a:solidFill>
            <a:prstDash val="solid"/>
          </a:ln>
        </p:spPr>
        <p:txBody>
          <a:bodyPr/>
          <a:lstStyle/>
          <a:p>
            <a:endParaRPr/>
          </a:p>
        </p:txBody>
      </p:sp>
      <p:sp>
        <p:nvSpPr>
          <p:cNvPr id="11" name="Shape 6"/>
          <p:cNvSpPr/>
          <p:nvPr/>
        </p:nvSpPr>
        <p:spPr>
          <a:xfrm>
            <a:off x="800100" y="1577340"/>
            <a:ext cx="685800" cy="685800"/>
          </a:xfrm>
          <a:prstGeom prst="ellipse">
            <a:avLst/>
          </a:prstGeom>
          <a:solidFill>
            <a:srgbClr val="047954"/>
          </a:solidFill>
          <a:ln w="6350">
            <a:solidFill>
              <a:srgbClr val="047954"/>
            </a:solidFill>
            <a:prstDash val="solid"/>
          </a:ln>
        </p:spPr>
        <p:txBody>
          <a:bodyPr/>
          <a:lstStyle/>
          <a:p>
            <a:endParaRPr/>
          </a:p>
        </p:txBody>
      </p:sp>
      <p:pic>
        <p:nvPicPr>
          <p:cNvPr id="12" name="Image 3" descr="preencoded.png"/>
          <p:cNvPicPr>
            <a:picLocks noChangeAspect="1"/>
          </p:cNvPicPr>
          <p:nvPr/>
        </p:nvPicPr>
        <p:blipFill>
          <a:blip r:embed="rId7"/>
          <a:stretch>
            <a:fillRect/>
          </a:stretch>
        </p:blipFill>
        <p:spPr>
          <a:xfrm>
            <a:off x="971550" y="1748790"/>
            <a:ext cx="342900" cy="342900"/>
          </a:xfrm>
          <a:prstGeom prst="rect">
            <a:avLst/>
          </a:prstGeom>
        </p:spPr>
      </p:pic>
      <p:sp>
        <p:nvSpPr>
          <p:cNvPr id="13" name="Text 7"/>
          <p:cNvSpPr txBox="1"/>
          <p:nvPr/>
        </p:nvSpPr>
        <p:spPr>
          <a:xfrm>
            <a:off x="1691640" y="1600200"/>
            <a:ext cx="2286000" cy="640080"/>
          </a:xfrm>
          <a:prstGeom prst="rect">
            <a:avLst/>
          </a:prstGeom>
          <a:noFill/>
          <a:ln/>
        </p:spPr>
        <p:txBody>
          <a:bodyPr wrap="square" lIns="0" tIns="0" rIns="0" bIns="0" rtlCol="0" anchor="ctr"/>
          <a:lstStyle/>
          <a:p>
            <a:pPr marL="0" indent="0">
              <a:buNone/>
            </a:pPr>
            <a:r>
              <a:rPr lang="en-US" sz="1800" b="1" dirty="0">
                <a:solidFill>
                  <a:srgbClr val="047954"/>
                </a:solidFill>
                <a:latin typeface="Arial" pitchFamily="34" charset="0"/>
                <a:ea typeface="Arial" pitchFamily="34" charset="-122"/>
                <a:cs typeface="Arial" pitchFamily="34" charset="-120"/>
              </a:rPr>
              <a:t>Languages</a:t>
            </a:r>
            <a:endParaRPr lang="en-US" sz="1800" dirty="0"/>
          </a:p>
        </p:txBody>
      </p:sp>
      <p:sp>
        <p:nvSpPr>
          <p:cNvPr id="14" name="Text 8"/>
          <p:cNvSpPr txBox="1"/>
          <p:nvPr/>
        </p:nvSpPr>
        <p:spPr>
          <a:xfrm>
            <a:off x="822960" y="2468880"/>
            <a:ext cx="3063240" cy="28803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JavaScript: n8n expressions and the section check (If node)</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Markdown: the agents write in it</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HTML and CSS: page styling for the PDF</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JSON: data between nodes</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Prompts in natural language (zero-, one- and few-shot)</a:t>
            </a:r>
            <a:endParaRPr lang="en-US" sz="1500" dirty="0"/>
          </a:p>
        </p:txBody>
      </p:sp>
      <p:sp>
        <p:nvSpPr>
          <p:cNvPr id="15" name="tech card 2"/>
          <p:cNvSpPr/>
          <p:nvPr/>
        </p:nvSpPr>
        <p:spPr>
          <a:xfrm>
            <a:off x="4297680" y="1325880"/>
            <a:ext cx="3566160" cy="4114800"/>
          </a:xfrm>
          <a:prstGeom prst="roundRect">
            <a:avLst>
              <a:gd name="adj" fmla="val 2564"/>
            </a:avLst>
          </a:prstGeom>
          <a:solidFill>
            <a:srgbClr val="FFFFFF"/>
          </a:solidFill>
          <a:ln w="12700">
            <a:solidFill>
              <a:srgbClr val="CFDDD6"/>
            </a:solidFill>
            <a:prstDash val="solid"/>
          </a:ln>
        </p:spPr>
        <p:txBody>
          <a:bodyPr/>
          <a:lstStyle/>
          <a:p>
            <a:endParaRPr/>
          </a:p>
        </p:txBody>
      </p:sp>
      <p:sp>
        <p:nvSpPr>
          <p:cNvPr id="16" name="Shape 10"/>
          <p:cNvSpPr/>
          <p:nvPr/>
        </p:nvSpPr>
        <p:spPr>
          <a:xfrm>
            <a:off x="4549140" y="1577340"/>
            <a:ext cx="685800" cy="685800"/>
          </a:xfrm>
          <a:prstGeom prst="ellipse">
            <a:avLst/>
          </a:prstGeom>
          <a:solidFill>
            <a:srgbClr val="336EA8"/>
          </a:solidFill>
          <a:ln w="6350">
            <a:solidFill>
              <a:srgbClr val="336EA8"/>
            </a:solidFill>
            <a:prstDash val="solid"/>
          </a:ln>
        </p:spPr>
        <p:txBody>
          <a:bodyPr/>
          <a:lstStyle/>
          <a:p>
            <a:endParaRPr/>
          </a:p>
        </p:txBody>
      </p:sp>
      <p:pic>
        <p:nvPicPr>
          <p:cNvPr id="17" name="Image 4" descr="preencoded.png"/>
          <p:cNvPicPr>
            <a:picLocks noChangeAspect="1"/>
          </p:cNvPicPr>
          <p:nvPr/>
        </p:nvPicPr>
        <p:blipFill>
          <a:blip r:embed="rId8"/>
          <a:stretch>
            <a:fillRect/>
          </a:stretch>
        </p:blipFill>
        <p:spPr>
          <a:xfrm>
            <a:off x="4720590" y="1748790"/>
            <a:ext cx="342900" cy="342900"/>
          </a:xfrm>
          <a:prstGeom prst="rect">
            <a:avLst/>
          </a:prstGeom>
        </p:spPr>
      </p:pic>
      <p:sp>
        <p:nvSpPr>
          <p:cNvPr id="18" name="Text 11"/>
          <p:cNvSpPr txBox="1"/>
          <p:nvPr/>
        </p:nvSpPr>
        <p:spPr>
          <a:xfrm>
            <a:off x="5440680" y="1600200"/>
            <a:ext cx="2286000" cy="640080"/>
          </a:xfrm>
          <a:prstGeom prst="rect">
            <a:avLst/>
          </a:prstGeom>
          <a:noFill/>
          <a:ln/>
        </p:spPr>
        <p:txBody>
          <a:bodyPr wrap="square" lIns="0" tIns="0" rIns="0" bIns="0" rtlCol="0" anchor="ctr"/>
          <a:lstStyle/>
          <a:p>
            <a:pPr marL="0" indent="0">
              <a:buNone/>
            </a:pPr>
            <a:r>
              <a:rPr lang="en-US" sz="1800" b="1" dirty="0">
                <a:solidFill>
                  <a:srgbClr val="047954"/>
                </a:solidFill>
                <a:latin typeface="Arial" pitchFamily="34" charset="0"/>
                <a:ea typeface="Arial" pitchFamily="34" charset="-122"/>
                <a:cs typeface="Arial" pitchFamily="34" charset="-120"/>
              </a:rPr>
              <a:t>Frameworks and tools</a:t>
            </a:r>
            <a:endParaRPr lang="en-US" sz="1800" dirty="0"/>
          </a:p>
        </p:txBody>
      </p:sp>
      <p:sp>
        <p:nvSpPr>
          <p:cNvPr id="19" name="Text 12"/>
          <p:cNvSpPr txBox="1"/>
          <p:nvPr/>
        </p:nvSpPr>
        <p:spPr>
          <a:xfrm>
            <a:off x="4572000" y="2468880"/>
            <a:ext cx="3063240" cy="28803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n8n: workflow automation, hosted on a server</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n8n AI Agent nodes (LangChain-based)</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Form Trigger, Edit Fields, If, Markdown and HTTP Request nodes</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Google Cloud OAuth for Gmail</a:t>
            </a:r>
            <a:endParaRPr lang="en-US" sz="1500" dirty="0"/>
          </a:p>
        </p:txBody>
      </p:sp>
      <p:sp>
        <p:nvSpPr>
          <p:cNvPr id="20" name="tech card 3"/>
          <p:cNvSpPr/>
          <p:nvPr/>
        </p:nvSpPr>
        <p:spPr>
          <a:xfrm>
            <a:off x="8046720" y="1325880"/>
            <a:ext cx="3566160" cy="4114800"/>
          </a:xfrm>
          <a:prstGeom prst="roundRect">
            <a:avLst>
              <a:gd name="adj" fmla="val 2564"/>
            </a:avLst>
          </a:prstGeom>
          <a:solidFill>
            <a:srgbClr val="FFFFFF"/>
          </a:solidFill>
          <a:ln w="12700">
            <a:solidFill>
              <a:srgbClr val="CFDDD6"/>
            </a:solidFill>
            <a:prstDash val="solid"/>
          </a:ln>
        </p:spPr>
        <p:txBody>
          <a:bodyPr/>
          <a:lstStyle/>
          <a:p>
            <a:endParaRPr/>
          </a:p>
        </p:txBody>
      </p:sp>
      <p:sp>
        <p:nvSpPr>
          <p:cNvPr id="21" name="Shape 14"/>
          <p:cNvSpPr/>
          <p:nvPr/>
        </p:nvSpPr>
        <p:spPr>
          <a:xfrm>
            <a:off x="8298180" y="1577340"/>
            <a:ext cx="685800" cy="685800"/>
          </a:xfrm>
          <a:prstGeom prst="ellipse">
            <a:avLst/>
          </a:prstGeom>
          <a:solidFill>
            <a:srgbClr val="D7B119"/>
          </a:solidFill>
          <a:ln w="6350">
            <a:solidFill>
              <a:srgbClr val="D7B119"/>
            </a:solidFill>
            <a:prstDash val="solid"/>
          </a:ln>
        </p:spPr>
        <p:txBody>
          <a:bodyPr/>
          <a:lstStyle/>
          <a:p>
            <a:endParaRPr/>
          </a:p>
        </p:txBody>
      </p:sp>
      <p:pic>
        <p:nvPicPr>
          <p:cNvPr id="22" name="Image 5" descr="preencoded.png"/>
          <p:cNvPicPr>
            <a:picLocks noChangeAspect="1"/>
          </p:cNvPicPr>
          <p:nvPr/>
        </p:nvPicPr>
        <p:blipFill>
          <a:blip r:embed="rId9"/>
          <a:stretch>
            <a:fillRect/>
          </a:stretch>
        </p:blipFill>
        <p:spPr>
          <a:xfrm>
            <a:off x="8469630" y="1748790"/>
            <a:ext cx="342900" cy="342900"/>
          </a:xfrm>
          <a:prstGeom prst="rect">
            <a:avLst/>
          </a:prstGeom>
        </p:spPr>
      </p:pic>
      <p:sp>
        <p:nvSpPr>
          <p:cNvPr id="23" name="Text 15"/>
          <p:cNvSpPr txBox="1"/>
          <p:nvPr/>
        </p:nvSpPr>
        <p:spPr>
          <a:xfrm>
            <a:off x="9189720" y="1600200"/>
            <a:ext cx="2286000" cy="640080"/>
          </a:xfrm>
          <a:prstGeom prst="rect">
            <a:avLst/>
          </a:prstGeom>
          <a:noFill/>
          <a:ln/>
        </p:spPr>
        <p:txBody>
          <a:bodyPr wrap="square" lIns="0" tIns="0" rIns="0" bIns="0" rtlCol="0" anchor="ctr"/>
          <a:lstStyle/>
          <a:p>
            <a:pPr marL="0" indent="0">
              <a:buNone/>
            </a:pPr>
            <a:r>
              <a:rPr lang="en-US" sz="1800" b="1" dirty="0">
                <a:solidFill>
                  <a:srgbClr val="047954"/>
                </a:solidFill>
                <a:latin typeface="Arial" pitchFamily="34" charset="0"/>
                <a:ea typeface="Arial" pitchFamily="34" charset="-122"/>
                <a:cs typeface="Arial" pitchFamily="34" charset="-120"/>
              </a:rPr>
              <a:t>Supporting technologies</a:t>
            </a:r>
            <a:endParaRPr lang="en-US" sz="1800" dirty="0"/>
          </a:p>
        </p:txBody>
      </p:sp>
      <p:sp>
        <p:nvSpPr>
          <p:cNvPr id="24" name="Text 16"/>
          <p:cNvSpPr txBox="1"/>
          <p:nvPr/>
        </p:nvSpPr>
        <p:spPr>
          <a:xfrm>
            <a:off x="8321040" y="2468880"/>
            <a:ext cx="3063240" cy="28803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Google Gemini API (gemini-3.1-flash-lite)</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html2pdf.app API: HTML to PDF</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Gmail API (OAuth2): email delivery</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Ollama (local llama): first version</a:t>
            </a:r>
            <a:endParaRPr lang="en-US" sz="1500" dirty="0"/>
          </a:p>
          <a:p>
            <a:pPr marL="342900" indent="-342900">
              <a:spcAft>
                <a:spcPts val="700"/>
              </a:spcAft>
              <a:buSzPct val="100000"/>
              <a:buChar char="•"/>
            </a:pPr>
            <a:r>
              <a:rPr lang="en-US" sz="1500" dirty="0">
                <a:solidFill>
                  <a:srgbClr val="1F2D3A"/>
                </a:solidFill>
                <a:latin typeface="Arial" pitchFamily="34" charset="0"/>
                <a:ea typeface="Arial" pitchFamily="34" charset="-122"/>
                <a:cs typeface="Arial" pitchFamily="34" charset="-120"/>
              </a:rPr>
              <a:t>GitHub: code and documentation</a:t>
            </a:r>
            <a:endParaRPr lang="en-US" sz="1500" dirty="0"/>
          </a:p>
        </p:txBody>
      </p:sp>
      <p:sp>
        <p:nvSpPr>
          <p:cNvPr id="25" name="Shape 17"/>
          <p:cNvSpPr/>
          <p:nvPr/>
        </p:nvSpPr>
        <p:spPr>
          <a:xfrm>
            <a:off x="548640" y="5577840"/>
            <a:ext cx="11064240" cy="594360"/>
          </a:xfrm>
          <a:prstGeom prst="roundRect">
            <a:avLst>
              <a:gd name="adj" fmla="val 15385"/>
            </a:avLst>
          </a:prstGeom>
          <a:solidFill>
            <a:srgbClr val="FAF3D3"/>
          </a:solidFill>
          <a:ln w="12700">
            <a:solidFill>
              <a:srgbClr val="D7B119"/>
            </a:solidFill>
            <a:prstDash val="solid"/>
          </a:ln>
        </p:spPr>
        <p:txBody>
          <a:bodyPr/>
          <a:lstStyle/>
          <a:p>
            <a:endParaRPr/>
          </a:p>
        </p:txBody>
      </p:sp>
      <p:sp>
        <p:nvSpPr>
          <p:cNvPr id="26" name="Text 18"/>
          <p:cNvSpPr txBox="1"/>
          <p:nvPr/>
        </p:nvSpPr>
        <p:spPr>
          <a:xfrm>
            <a:off x="548640" y="5577840"/>
            <a:ext cx="11064240" cy="594360"/>
          </a:xfrm>
          <a:prstGeom prst="rect">
            <a:avLst/>
          </a:prstGeom>
          <a:noFill/>
          <a:ln/>
        </p:spPr>
        <p:txBody>
          <a:bodyPr wrap="square" lIns="0" tIns="0" rIns="0" bIns="0" rtlCol="0" anchor="ctr"/>
          <a:lstStyle/>
          <a:p>
            <a:pPr marL="0" indent="0" algn="ctr">
              <a:buNone/>
            </a:pPr>
            <a:r>
              <a:rPr lang="en-US" sz="1400" b="1" dirty="0">
                <a:solidFill>
                  <a:srgbClr val="1F2D3A"/>
                </a:solidFill>
                <a:latin typeface="Arial" pitchFamily="34" charset="0"/>
                <a:ea typeface="Arial" pitchFamily="34" charset="-122"/>
                <a:cs typeface="Arial" pitchFamily="34" charset="-120"/>
              </a:rPr>
              <a:t>First version: local Ollama model (10 to 20 minutes). Final version: Google Gemini in the cloud (about 1 minute).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txBody>
          <a:bodyPr/>
          <a:lstStyle/>
          <a:p>
            <a:endParaRPr/>
          </a:p>
        </p:txBody>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txBody>
          <a:bodyPr/>
          <a:lstStyle/>
          <a:p>
            <a:endParaRPr/>
          </a:p>
        </p:txBody>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7</a:t>
            </a:r>
            <a:endParaRPr lang="en-US" sz="1200" dirty="0"/>
          </a:p>
        </p:txBody>
      </p:sp>
      <p:sp>
        <p:nvSpPr>
          <p:cNvPr id="9" name="Text 4"/>
          <p:cNvSpPr txBox="1"/>
          <p:nvPr/>
        </p:nvSpPr>
        <p:spPr>
          <a:xfrm>
            <a:off x="1463040" y="411480"/>
            <a:ext cx="9144000" cy="685800"/>
          </a:xfrm>
          <a:prstGeom prst="rect">
            <a:avLst/>
          </a:prstGeom>
          <a:noFill/>
          <a:ln/>
        </p:spPr>
        <p:txBody>
          <a:bodyPr wrap="square" lIns="0" tIns="0" rIns="0" bIns="0" rtlCol="0" anchor="ctr"/>
          <a:lstStyle/>
          <a:p>
            <a:pPr marL="0" indent="0" algn="ctr">
              <a:buNone/>
            </a:pPr>
            <a:r>
              <a:rPr lang="en-US" sz="2800" b="1" dirty="0">
                <a:solidFill>
                  <a:srgbClr val="047954"/>
                </a:solidFill>
                <a:latin typeface="Arial" pitchFamily="34" charset="0"/>
                <a:ea typeface="Arial" pitchFamily="34" charset="-122"/>
                <a:cs typeface="Arial" pitchFamily="34" charset="-120"/>
              </a:rPr>
              <a:t>Live Application + Test</a:t>
            </a:r>
            <a:endParaRPr lang="en-US" sz="2800" dirty="0"/>
          </a:p>
        </p:txBody>
      </p:sp>
      <p:sp>
        <p:nvSpPr>
          <p:cNvPr id="10" name="node Form"/>
          <p:cNvSpPr/>
          <p:nvPr/>
        </p:nvSpPr>
        <p:spPr>
          <a:xfrm>
            <a:off x="868680" y="1463040"/>
            <a:ext cx="676656" cy="566928"/>
          </a:xfrm>
          <a:prstGeom prst="roundRect">
            <a:avLst>
              <a:gd name="adj" fmla="val 12903"/>
            </a:avLst>
          </a:prstGeom>
          <a:solidFill>
            <a:srgbClr val="047954"/>
          </a:solidFill>
          <a:ln w="6350">
            <a:solidFill>
              <a:srgbClr val="047954"/>
            </a:solidFill>
            <a:prstDash val="solid"/>
          </a:ln>
        </p:spPr>
        <p:txBody>
          <a:bodyPr/>
          <a:lstStyle/>
          <a:p>
            <a:endParaRPr/>
          </a:p>
        </p:txBody>
      </p:sp>
      <p:sp>
        <p:nvSpPr>
          <p:cNvPr id="11" name="Text 6"/>
          <p:cNvSpPr txBox="1"/>
          <p:nvPr/>
        </p:nvSpPr>
        <p:spPr>
          <a:xfrm>
            <a:off x="868680" y="1463040"/>
            <a:ext cx="676656"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Form</a:t>
            </a:r>
            <a:endParaRPr lang="en-US" sz="900" dirty="0"/>
          </a:p>
        </p:txBody>
      </p:sp>
      <p:sp>
        <p:nvSpPr>
          <p:cNvPr id="12" name="Shape 7"/>
          <p:cNvSpPr/>
          <p:nvPr/>
        </p:nvSpPr>
        <p:spPr>
          <a:xfrm>
            <a:off x="1545336" y="1746504"/>
            <a:ext cx="137160" cy="0"/>
          </a:xfrm>
          <a:prstGeom prst="line">
            <a:avLst/>
          </a:prstGeom>
          <a:noFill/>
          <a:ln w="15875">
            <a:solidFill>
              <a:srgbClr val="566575"/>
            </a:solidFill>
            <a:prstDash val="solid"/>
            <a:tailEnd type="triangle"/>
          </a:ln>
        </p:spPr>
        <p:txBody>
          <a:bodyPr/>
          <a:lstStyle/>
          <a:p>
            <a:endParaRPr/>
          </a:p>
        </p:txBody>
      </p:sp>
      <p:sp>
        <p:nvSpPr>
          <p:cNvPr id="13" name="node Core Content"/>
          <p:cNvSpPr/>
          <p:nvPr/>
        </p:nvSpPr>
        <p:spPr>
          <a:xfrm>
            <a:off x="1682496" y="1463040"/>
            <a:ext cx="676656" cy="566928"/>
          </a:xfrm>
          <a:prstGeom prst="roundRect">
            <a:avLst>
              <a:gd name="adj" fmla="val 12903"/>
            </a:avLst>
          </a:prstGeom>
          <a:solidFill>
            <a:srgbClr val="336EA8"/>
          </a:solidFill>
          <a:ln w="6350">
            <a:solidFill>
              <a:srgbClr val="336EA8"/>
            </a:solidFill>
            <a:prstDash val="solid"/>
          </a:ln>
        </p:spPr>
        <p:txBody>
          <a:bodyPr/>
          <a:lstStyle/>
          <a:p>
            <a:endParaRPr/>
          </a:p>
        </p:txBody>
      </p:sp>
      <p:sp>
        <p:nvSpPr>
          <p:cNvPr id="14" name="Text 9"/>
          <p:cNvSpPr txBox="1"/>
          <p:nvPr/>
        </p:nvSpPr>
        <p:spPr>
          <a:xfrm>
            <a:off x="1682496" y="1463040"/>
            <a:ext cx="676656"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Core Content</a:t>
            </a:r>
            <a:endParaRPr lang="en-US" sz="900" dirty="0"/>
          </a:p>
        </p:txBody>
      </p:sp>
      <p:sp>
        <p:nvSpPr>
          <p:cNvPr id="15" name="Shape 10"/>
          <p:cNvSpPr/>
          <p:nvPr/>
        </p:nvSpPr>
        <p:spPr>
          <a:xfrm>
            <a:off x="2359152" y="1746504"/>
            <a:ext cx="137160" cy="0"/>
          </a:xfrm>
          <a:prstGeom prst="line">
            <a:avLst/>
          </a:prstGeom>
          <a:noFill/>
          <a:ln w="15875">
            <a:solidFill>
              <a:srgbClr val="566575"/>
            </a:solidFill>
            <a:prstDash val="solid"/>
            <a:tailEnd type="triangle"/>
          </a:ln>
        </p:spPr>
        <p:txBody>
          <a:bodyPr/>
          <a:lstStyle/>
          <a:p>
            <a:endParaRPr/>
          </a:p>
        </p:txBody>
      </p:sp>
      <p:sp>
        <p:nvSpPr>
          <p:cNvPr id="16" name="node Differen-tiated"/>
          <p:cNvSpPr/>
          <p:nvPr/>
        </p:nvSpPr>
        <p:spPr>
          <a:xfrm>
            <a:off x="2496312" y="1463040"/>
            <a:ext cx="676656" cy="566928"/>
          </a:xfrm>
          <a:prstGeom prst="roundRect">
            <a:avLst>
              <a:gd name="adj" fmla="val 12903"/>
            </a:avLst>
          </a:prstGeom>
          <a:solidFill>
            <a:srgbClr val="336EA8"/>
          </a:solidFill>
          <a:ln w="6350">
            <a:solidFill>
              <a:srgbClr val="336EA8"/>
            </a:solidFill>
            <a:prstDash val="solid"/>
          </a:ln>
        </p:spPr>
        <p:txBody>
          <a:bodyPr/>
          <a:lstStyle/>
          <a:p>
            <a:endParaRPr/>
          </a:p>
        </p:txBody>
      </p:sp>
      <p:sp>
        <p:nvSpPr>
          <p:cNvPr id="17" name="Text 12"/>
          <p:cNvSpPr txBox="1"/>
          <p:nvPr/>
        </p:nvSpPr>
        <p:spPr>
          <a:xfrm>
            <a:off x="2496312" y="1463040"/>
            <a:ext cx="676656"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Differen-tiated</a:t>
            </a:r>
            <a:endParaRPr lang="en-US" sz="900" dirty="0"/>
          </a:p>
        </p:txBody>
      </p:sp>
      <p:sp>
        <p:nvSpPr>
          <p:cNvPr id="18" name="Shape 13"/>
          <p:cNvSpPr/>
          <p:nvPr/>
        </p:nvSpPr>
        <p:spPr>
          <a:xfrm>
            <a:off x="3172968" y="1746504"/>
            <a:ext cx="137160" cy="0"/>
          </a:xfrm>
          <a:prstGeom prst="line">
            <a:avLst/>
          </a:prstGeom>
          <a:noFill/>
          <a:ln w="15875">
            <a:solidFill>
              <a:srgbClr val="566575"/>
            </a:solidFill>
            <a:prstDash val="solid"/>
            <a:tailEnd type="triangle"/>
          </a:ln>
        </p:spPr>
        <p:txBody>
          <a:bodyPr/>
          <a:lstStyle/>
          <a:p>
            <a:endParaRPr/>
          </a:p>
        </p:txBody>
      </p:sp>
      <p:sp>
        <p:nvSpPr>
          <p:cNvPr id="19" name="node Dyslexia"/>
          <p:cNvSpPr/>
          <p:nvPr/>
        </p:nvSpPr>
        <p:spPr>
          <a:xfrm>
            <a:off x="3310128" y="1463040"/>
            <a:ext cx="676656" cy="566928"/>
          </a:xfrm>
          <a:prstGeom prst="roundRect">
            <a:avLst>
              <a:gd name="adj" fmla="val 12903"/>
            </a:avLst>
          </a:prstGeom>
          <a:solidFill>
            <a:srgbClr val="336EA8"/>
          </a:solidFill>
          <a:ln w="6350">
            <a:solidFill>
              <a:srgbClr val="336EA8"/>
            </a:solidFill>
            <a:prstDash val="solid"/>
          </a:ln>
        </p:spPr>
        <p:txBody>
          <a:bodyPr/>
          <a:lstStyle/>
          <a:p>
            <a:endParaRPr/>
          </a:p>
        </p:txBody>
      </p:sp>
      <p:sp>
        <p:nvSpPr>
          <p:cNvPr id="20" name="Text 15"/>
          <p:cNvSpPr txBox="1"/>
          <p:nvPr/>
        </p:nvSpPr>
        <p:spPr>
          <a:xfrm>
            <a:off x="3310128" y="1463040"/>
            <a:ext cx="676656"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Dyslexia</a:t>
            </a:r>
            <a:endParaRPr lang="en-US" sz="900" dirty="0"/>
          </a:p>
        </p:txBody>
      </p:sp>
      <p:sp>
        <p:nvSpPr>
          <p:cNvPr id="21" name="Shape 16"/>
          <p:cNvSpPr/>
          <p:nvPr/>
        </p:nvSpPr>
        <p:spPr>
          <a:xfrm>
            <a:off x="3986784" y="1746504"/>
            <a:ext cx="137160" cy="0"/>
          </a:xfrm>
          <a:prstGeom prst="line">
            <a:avLst/>
          </a:prstGeom>
          <a:noFill/>
          <a:ln w="15875">
            <a:solidFill>
              <a:srgbClr val="566575"/>
            </a:solidFill>
            <a:prstDash val="solid"/>
            <a:tailEnd type="triangle"/>
          </a:ln>
        </p:spPr>
        <p:txBody>
          <a:bodyPr/>
          <a:lstStyle/>
          <a:p>
            <a:endParaRPr/>
          </a:p>
        </p:txBody>
      </p:sp>
      <p:sp>
        <p:nvSpPr>
          <p:cNvPr id="22" name="node Activities"/>
          <p:cNvSpPr/>
          <p:nvPr/>
        </p:nvSpPr>
        <p:spPr>
          <a:xfrm>
            <a:off x="4123944" y="1463040"/>
            <a:ext cx="676656" cy="566928"/>
          </a:xfrm>
          <a:prstGeom prst="roundRect">
            <a:avLst>
              <a:gd name="adj" fmla="val 12903"/>
            </a:avLst>
          </a:prstGeom>
          <a:solidFill>
            <a:srgbClr val="336EA8"/>
          </a:solidFill>
          <a:ln w="6350">
            <a:solidFill>
              <a:srgbClr val="336EA8"/>
            </a:solidFill>
            <a:prstDash val="solid"/>
          </a:ln>
        </p:spPr>
        <p:txBody>
          <a:bodyPr/>
          <a:lstStyle/>
          <a:p>
            <a:endParaRPr/>
          </a:p>
        </p:txBody>
      </p:sp>
      <p:sp>
        <p:nvSpPr>
          <p:cNvPr id="23" name="Text 18"/>
          <p:cNvSpPr txBox="1"/>
          <p:nvPr/>
        </p:nvSpPr>
        <p:spPr>
          <a:xfrm>
            <a:off x="4123944" y="1463040"/>
            <a:ext cx="676656"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Activities</a:t>
            </a:r>
            <a:endParaRPr lang="en-US" sz="900" dirty="0"/>
          </a:p>
        </p:txBody>
      </p:sp>
      <p:sp>
        <p:nvSpPr>
          <p:cNvPr id="24" name="Shape 19"/>
          <p:cNvSpPr/>
          <p:nvPr/>
        </p:nvSpPr>
        <p:spPr>
          <a:xfrm>
            <a:off x="4800600" y="1746504"/>
            <a:ext cx="137160" cy="0"/>
          </a:xfrm>
          <a:prstGeom prst="line">
            <a:avLst/>
          </a:prstGeom>
          <a:noFill/>
          <a:ln w="15875">
            <a:solidFill>
              <a:srgbClr val="566575"/>
            </a:solidFill>
            <a:prstDash val="solid"/>
            <a:tailEnd type="triangle"/>
          </a:ln>
        </p:spPr>
        <p:txBody>
          <a:bodyPr/>
          <a:lstStyle/>
          <a:p>
            <a:endParaRPr/>
          </a:p>
        </p:txBody>
      </p:sp>
      <p:sp>
        <p:nvSpPr>
          <p:cNvPr id="25" name="node Quiz &amp; Summary"/>
          <p:cNvSpPr/>
          <p:nvPr/>
        </p:nvSpPr>
        <p:spPr>
          <a:xfrm>
            <a:off x="4937760" y="1463040"/>
            <a:ext cx="676656" cy="566928"/>
          </a:xfrm>
          <a:prstGeom prst="roundRect">
            <a:avLst>
              <a:gd name="adj" fmla="val 12903"/>
            </a:avLst>
          </a:prstGeom>
          <a:solidFill>
            <a:srgbClr val="336EA8"/>
          </a:solidFill>
          <a:ln w="6350">
            <a:solidFill>
              <a:srgbClr val="336EA8"/>
            </a:solidFill>
            <a:prstDash val="solid"/>
          </a:ln>
        </p:spPr>
        <p:txBody>
          <a:bodyPr/>
          <a:lstStyle/>
          <a:p>
            <a:endParaRPr/>
          </a:p>
        </p:txBody>
      </p:sp>
      <p:sp>
        <p:nvSpPr>
          <p:cNvPr id="26" name="Text 21"/>
          <p:cNvSpPr txBox="1"/>
          <p:nvPr/>
        </p:nvSpPr>
        <p:spPr>
          <a:xfrm>
            <a:off x="4937760" y="1463040"/>
            <a:ext cx="676656"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Quiz &amp; Summary</a:t>
            </a:r>
            <a:endParaRPr lang="en-US" sz="900" dirty="0"/>
          </a:p>
        </p:txBody>
      </p:sp>
      <p:sp>
        <p:nvSpPr>
          <p:cNvPr id="27" name="Shape 22"/>
          <p:cNvSpPr/>
          <p:nvPr/>
        </p:nvSpPr>
        <p:spPr>
          <a:xfrm>
            <a:off x="5614416" y="1746504"/>
            <a:ext cx="137160" cy="0"/>
          </a:xfrm>
          <a:prstGeom prst="line">
            <a:avLst/>
          </a:prstGeom>
          <a:noFill/>
          <a:ln w="15875">
            <a:solidFill>
              <a:srgbClr val="566575"/>
            </a:solidFill>
            <a:prstDash val="solid"/>
            <a:tailEnd type="triangle"/>
          </a:ln>
        </p:spPr>
        <p:txBody>
          <a:bodyPr/>
          <a:lstStyle/>
          <a:p>
            <a:endParaRPr/>
          </a:p>
        </p:txBody>
      </p:sp>
      <p:sp>
        <p:nvSpPr>
          <p:cNvPr id="28" name="node Visuals"/>
          <p:cNvSpPr/>
          <p:nvPr/>
        </p:nvSpPr>
        <p:spPr>
          <a:xfrm>
            <a:off x="5751576" y="1463040"/>
            <a:ext cx="676656" cy="566928"/>
          </a:xfrm>
          <a:prstGeom prst="roundRect">
            <a:avLst>
              <a:gd name="adj" fmla="val 12903"/>
            </a:avLst>
          </a:prstGeom>
          <a:solidFill>
            <a:srgbClr val="336EA8"/>
          </a:solidFill>
          <a:ln w="6350">
            <a:solidFill>
              <a:srgbClr val="336EA8"/>
            </a:solidFill>
            <a:prstDash val="solid"/>
          </a:ln>
        </p:spPr>
        <p:txBody>
          <a:bodyPr/>
          <a:lstStyle/>
          <a:p>
            <a:endParaRPr/>
          </a:p>
        </p:txBody>
      </p:sp>
      <p:sp>
        <p:nvSpPr>
          <p:cNvPr id="29" name="Text 24"/>
          <p:cNvSpPr txBox="1"/>
          <p:nvPr/>
        </p:nvSpPr>
        <p:spPr>
          <a:xfrm>
            <a:off x="5751576" y="1463040"/>
            <a:ext cx="676656"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Visuals</a:t>
            </a:r>
            <a:endParaRPr lang="en-US" sz="900" dirty="0"/>
          </a:p>
        </p:txBody>
      </p:sp>
      <p:sp>
        <p:nvSpPr>
          <p:cNvPr id="30" name="Shape 25"/>
          <p:cNvSpPr/>
          <p:nvPr/>
        </p:nvSpPr>
        <p:spPr>
          <a:xfrm>
            <a:off x="6428232" y="1746504"/>
            <a:ext cx="137160" cy="0"/>
          </a:xfrm>
          <a:prstGeom prst="line">
            <a:avLst/>
          </a:prstGeom>
          <a:noFill/>
          <a:ln w="15875">
            <a:solidFill>
              <a:srgbClr val="566575"/>
            </a:solidFill>
            <a:prstDash val="solid"/>
            <a:tailEnd type="triangle"/>
          </a:ln>
        </p:spPr>
        <p:txBody>
          <a:bodyPr/>
          <a:lstStyle/>
          <a:p>
            <a:endParaRPr/>
          </a:p>
        </p:txBody>
      </p:sp>
      <p:sp>
        <p:nvSpPr>
          <p:cNvPr id="31" name="node Edit Fields"/>
          <p:cNvSpPr/>
          <p:nvPr/>
        </p:nvSpPr>
        <p:spPr>
          <a:xfrm>
            <a:off x="6565392" y="1463040"/>
            <a:ext cx="676656" cy="566928"/>
          </a:xfrm>
          <a:prstGeom prst="roundRect">
            <a:avLst>
              <a:gd name="adj" fmla="val 12903"/>
            </a:avLst>
          </a:prstGeom>
          <a:solidFill>
            <a:srgbClr val="0FAB7D"/>
          </a:solidFill>
          <a:ln w="6350">
            <a:solidFill>
              <a:srgbClr val="0FAB7D"/>
            </a:solidFill>
            <a:prstDash val="solid"/>
          </a:ln>
        </p:spPr>
        <p:txBody>
          <a:bodyPr/>
          <a:lstStyle/>
          <a:p>
            <a:endParaRPr/>
          </a:p>
        </p:txBody>
      </p:sp>
      <p:sp>
        <p:nvSpPr>
          <p:cNvPr id="32" name="Text 27"/>
          <p:cNvSpPr txBox="1"/>
          <p:nvPr/>
        </p:nvSpPr>
        <p:spPr>
          <a:xfrm>
            <a:off x="6565392" y="1463040"/>
            <a:ext cx="676656" cy="566928"/>
          </a:xfrm>
          <a:prstGeom prst="rect">
            <a:avLst/>
          </a:prstGeom>
          <a:noFill/>
          <a:ln/>
        </p:spPr>
        <p:txBody>
          <a:bodyPr wrap="square" lIns="0" tIns="0" rIns="0" bIns="0" rtlCol="0" anchor="ctr"/>
          <a:lstStyle/>
          <a:p>
            <a:pPr marL="0" indent="0" algn="ctr">
              <a:buNone/>
            </a:pPr>
            <a:r>
              <a:rPr lang="en-US" sz="900" b="1" dirty="0">
                <a:solidFill>
                  <a:srgbClr val="1F2D3A"/>
                </a:solidFill>
                <a:latin typeface="Arial" pitchFamily="34" charset="0"/>
                <a:ea typeface="Arial" pitchFamily="34" charset="-122"/>
                <a:cs typeface="Arial" pitchFamily="34" charset="-120"/>
              </a:rPr>
              <a:t>Edit Fields</a:t>
            </a:r>
            <a:endParaRPr lang="en-US" sz="900" dirty="0"/>
          </a:p>
        </p:txBody>
      </p:sp>
      <p:sp>
        <p:nvSpPr>
          <p:cNvPr id="33" name="Shape 28"/>
          <p:cNvSpPr/>
          <p:nvPr/>
        </p:nvSpPr>
        <p:spPr>
          <a:xfrm>
            <a:off x="7242048" y="1746504"/>
            <a:ext cx="137160" cy="0"/>
          </a:xfrm>
          <a:prstGeom prst="line">
            <a:avLst/>
          </a:prstGeom>
          <a:noFill/>
          <a:ln w="15875">
            <a:solidFill>
              <a:srgbClr val="566575"/>
            </a:solidFill>
            <a:prstDash val="solid"/>
            <a:tailEnd type="triangle"/>
          </a:ln>
        </p:spPr>
        <p:txBody>
          <a:bodyPr/>
          <a:lstStyle/>
          <a:p>
            <a:endParaRPr/>
          </a:p>
        </p:txBody>
      </p:sp>
      <p:sp>
        <p:nvSpPr>
          <p:cNvPr id="34" name="node Check (If)"/>
          <p:cNvSpPr/>
          <p:nvPr/>
        </p:nvSpPr>
        <p:spPr>
          <a:xfrm>
            <a:off x="7379208" y="1463040"/>
            <a:ext cx="676656" cy="566928"/>
          </a:xfrm>
          <a:prstGeom prst="roundRect">
            <a:avLst>
              <a:gd name="adj" fmla="val 12903"/>
            </a:avLst>
          </a:prstGeom>
          <a:solidFill>
            <a:srgbClr val="D7B119"/>
          </a:solidFill>
          <a:ln w="6350">
            <a:solidFill>
              <a:srgbClr val="D7B119"/>
            </a:solidFill>
            <a:prstDash val="solid"/>
          </a:ln>
        </p:spPr>
        <p:txBody>
          <a:bodyPr/>
          <a:lstStyle/>
          <a:p>
            <a:endParaRPr/>
          </a:p>
        </p:txBody>
      </p:sp>
      <p:sp>
        <p:nvSpPr>
          <p:cNvPr id="35" name="Text 30"/>
          <p:cNvSpPr txBox="1"/>
          <p:nvPr/>
        </p:nvSpPr>
        <p:spPr>
          <a:xfrm>
            <a:off x="7379208" y="1463040"/>
            <a:ext cx="676656" cy="566928"/>
          </a:xfrm>
          <a:prstGeom prst="rect">
            <a:avLst/>
          </a:prstGeom>
          <a:noFill/>
          <a:ln/>
        </p:spPr>
        <p:txBody>
          <a:bodyPr wrap="square" lIns="0" tIns="0" rIns="0" bIns="0" rtlCol="0" anchor="ctr"/>
          <a:lstStyle/>
          <a:p>
            <a:pPr marL="0" indent="0" algn="ctr">
              <a:buNone/>
            </a:pPr>
            <a:r>
              <a:rPr lang="en-US" sz="900" b="1" dirty="0">
                <a:solidFill>
                  <a:srgbClr val="1F2D3A"/>
                </a:solidFill>
                <a:latin typeface="Arial" pitchFamily="34" charset="0"/>
                <a:ea typeface="Arial" pitchFamily="34" charset="-122"/>
                <a:cs typeface="Arial" pitchFamily="34" charset="-120"/>
              </a:rPr>
              <a:t>Check (If)</a:t>
            </a:r>
            <a:endParaRPr lang="en-US" sz="900" dirty="0"/>
          </a:p>
        </p:txBody>
      </p:sp>
      <p:sp>
        <p:nvSpPr>
          <p:cNvPr id="36" name="Shape 31"/>
          <p:cNvSpPr/>
          <p:nvPr/>
        </p:nvSpPr>
        <p:spPr>
          <a:xfrm>
            <a:off x="8055864" y="1746504"/>
            <a:ext cx="137160" cy="0"/>
          </a:xfrm>
          <a:prstGeom prst="line">
            <a:avLst/>
          </a:prstGeom>
          <a:noFill/>
          <a:ln w="15875">
            <a:solidFill>
              <a:srgbClr val="566575"/>
            </a:solidFill>
            <a:prstDash val="solid"/>
            <a:tailEnd type="triangle"/>
          </a:ln>
        </p:spPr>
        <p:txBody>
          <a:bodyPr/>
          <a:lstStyle/>
          <a:p>
            <a:endParaRPr/>
          </a:p>
        </p:txBody>
      </p:sp>
      <p:sp>
        <p:nvSpPr>
          <p:cNvPr id="37" name="node Markdown"/>
          <p:cNvSpPr/>
          <p:nvPr/>
        </p:nvSpPr>
        <p:spPr>
          <a:xfrm>
            <a:off x="8193024" y="1463040"/>
            <a:ext cx="676656" cy="566928"/>
          </a:xfrm>
          <a:prstGeom prst="roundRect">
            <a:avLst>
              <a:gd name="adj" fmla="val 12903"/>
            </a:avLst>
          </a:prstGeom>
          <a:solidFill>
            <a:srgbClr val="0FAB7D"/>
          </a:solidFill>
          <a:ln w="6350">
            <a:solidFill>
              <a:srgbClr val="0FAB7D"/>
            </a:solidFill>
            <a:prstDash val="solid"/>
          </a:ln>
        </p:spPr>
        <p:txBody>
          <a:bodyPr/>
          <a:lstStyle/>
          <a:p>
            <a:endParaRPr/>
          </a:p>
        </p:txBody>
      </p:sp>
      <p:sp>
        <p:nvSpPr>
          <p:cNvPr id="38" name="Text 33"/>
          <p:cNvSpPr txBox="1"/>
          <p:nvPr/>
        </p:nvSpPr>
        <p:spPr>
          <a:xfrm>
            <a:off x="8193024" y="1463040"/>
            <a:ext cx="676656" cy="566928"/>
          </a:xfrm>
          <a:prstGeom prst="rect">
            <a:avLst/>
          </a:prstGeom>
          <a:noFill/>
          <a:ln/>
        </p:spPr>
        <p:txBody>
          <a:bodyPr wrap="square" lIns="0" tIns="0" rIns="0" bIns="0" rtlCol="0" anchor="ctr"/>
          <a:lstStyle/>
          <a:p>
            <a:pPr marL="0" indent="0" algn="ctr">
              <a:buNone/>
            </a:pPr>
            <a:r>
              <a:rPr lang="en-US" sz="900" b="1" dirty="0">
                <a:solidFill>
                  <a:srgbClr val="1F2D3A"/>
                </a:solidFill>
                <a:latin typeface="Arial" pitchFamily="34" charset="0"/>
                <a:ea typeface="Arial" pitchFamily="34" charset="-122"/>
                <a:cs typeface="Arial" pitchFamily="34" charset="-120"/>
              </a:rPr>
              <a:t>Markdown</a:t>
            </a:r>
            <a:endParaRPr lang="en-US" sz="900" dirty="0"/>
          </a:p>
        </p:txBody>
      </p:sp>
      <p:sp>
        <p:nvSpPr>
          <p:cNvPr id="39" name="Shape 34"/>
          <p:cNvSpPr/>
          <p:nvPr/>
        </p:nvSpPr>
        <p:spPr>
          <a:xfrm>
            <a:off x="8869680" y="1746504"/>
            <a:ext cx="137160" cy="0"/>
          </a:xfrm>
          <a:prstGeom prst="line">
            <a:avLst/>
          </a:prstGeom>
          <a:noFill/>
          <a:ln w="15875">
            <a:solidFill>
              <a:srgbClr val="566575"/>
            </a:solidFill>
            <a:prstDash val="solid"/>
            <a:tailEnd type="triangle"/>
          </a:ln>
        </p:spPr>
        <p:txBody>
          <a:bodyPr/>
          <a:lstStyle/>
          <a:p>
            <a:endParaRPr/>
          </a:p>
        </p:txBody>
      </p:sp>
      <p:sp>
        <p:nvSpPr>
          <p:cNvPr id="40" name="node Wrap Page"/>
          <p:cNvSpPr/>
          <p:nvPr/>
        </p:nvSpPr>
        <p:spPr>
          <a:xfrm>
            <a:off x="9006840" y="1463040"/>
            <a:ext cx="676656" cy="566928"/>
          </a:xfrm>
          <a:prstGeom prst="roundRect">
            <a:avLst>
              <a:gd name="adj" fmla="val 12903"/>
            </a:avLst>
          </a:prstGeom>
          <a:solidFill>
            <a:srgbClr val="0FAB7D"/>
          </a:solidFill>
          <a:ln w="6350">
            <a:solidFill>
              <a:srgbClr val="0FAB7D"/>
            </a:solidFill>
            <a:prstDash val="solid"/>
          </a:ln>
        </p:spPr>
        <p:txBody>
          <a:bodyPr/>
          <a:lstStyle/>
          <a:p>
            <a:endParaRPr/>
          </a:p>
        </p:txBody>
      </p:sp>
      <p:sp>
        <p:nvSpPr>
          <p:cNvPr id="41" name="Text 36"/>
          <p:cNvSpPr txBox="1"/>
          <p:nvPr/>
        </p:nvSpPr>
        <p:spPr>
          <a:xfrm>
            <a:off x="9006840" y="1463040"/>
            <a:ext cx="676656" cy="566928"/>
          </a:xfrm>
          <a:prstGeom prst="rect">
            <a:avLst/>
          </a:prstGeom>
          <a:noFill/>
          <a:ln/>
        </p:spPr>
        <p:txBody>
          <a:bodyPr wrap="square" lIns="0" tIns="0" rIns="0" bIns="0" rtlCol="0" anchor="ctr"/>
          <a:lstStyle/>
          <a:p>
            <a:pPr marL="0" indent="0" algn="ctr">
              <a:buNone/>
            </a:pPr>
            <a:r>
              <a:rPr lang="en-US" sz="900" b="1" dirty="0">
                <a:solidFill>
                  <a:srgbClr val="1F2D3A"/>
                </a:solidFill>
                <a:latin typeface="Arial" pitchFamily="34" charset="0"/>
                <a:ea typeface="Arial" pitchFamily="34" charset="-122"/>
                <a:cs typeface="Arial" pitchFamily="34" charset="-120"/>
              </a:rPr>
              <a:t>Wrap Page</a:t>
            </a:r>
            <a:endParaRPr lang="en-US" sz="900" dirty="0"/>
          </a:p>
        </p:txBody>
      </p:sp>
      <p:sp>
        <p:nvSpPr>
          <p:cNvPr id="42" name="Shape 37"/>
          <p:cNvSpPr/>
          <p:nvPr/>
        </p:nvSpPr>
        <p:spPr>
          <a:xfrm>
            <a:off x="9683496" y="1746504"/>
            <a:ext cx="137160" cy="0"/>
          </a:xfrm>
          <a:prstGeom prst="line">
            <a:avLst/>
          </a:prstGeom>
          <a:noFill/>
          <a:ln w="15875">
            <a:solidFill>
              <a:srgbClr val="566575"/>
            </a:solidFill>
            <a:prstDash val="solid"/>
            <a:tailEnd type="triangle"/>
          </a:ln>
        </p:spPr>
        <p:txBody>
          <a:bodyPr/>
          <a:lstStyle/>
          <a:p>
            <a:endParaRPr/>
          </a:p>
        </p:txBody>
      </p:sp>
      <p:sp>
        <p:nvSpPr>
          <p:cNvPr id="43" name="node PDF (API)"/>
          <p:cNvSpPr/>
          <p:nvPr/>
        </p:nvSpPr>
        <p:spPr>
          <a:xfrm>
            <a:off x="9820656" y="1463040"/>
            <a:ext cx="676656" cy="566928"/>
          </a:xfrm>
          <a:prstGeom prst="roundRect">
            <a:avLst>
              <a:gd name="adj" fmla="val 12903"/>
            </a:avLst>
          </a:prstGeom>
          <a:solidFill>
            <a:srgbClr val="0FAB7D"/>
          </a:solidFill>
          <a:ln w="6350">
            <a:solidFill>
              <a:srgbClr val="0FAB7D"/>
            </a:solidFill>
            <a:prstDash val="solid"/>
          </a:ln>
        </p:spPr>
        <p:txBody>
          <a:bodyPr/>
          <a:lstStyle/>
          <a:p>
            <a:endParaRPr/>
          </a:p>
        </p:txBody>
      </p:sp>
      <p:sp>
        <p:nvSpPr>
          <p:cNvPr id="44" name="Text 39"/>
          <p:cNvSpPr txBox="1"/>
          <p:nvPr/>
        </p:nvSpPr>
        <p:spPr>
          <a:xfrm>
            <a:off x="9820656" y="1463040"/>
            <a:ext cx="676656" cy="566928"/>
          </a:xfrm>
          <a:prstGeom prst="rect">
            <a:avLst/>
          </a:prstGeom>
          <a:noFill/>
          <a:ln/>
        </p:spPr>
        <p:txBody>
          <a:bodyPr wrap="square" lIns="0" tIns="0" rIns="0" bIns="0" rtlCol="0" anchor="ctr"/>
          <a:lstStyle/>
          <a:p>
            <a:pPr marL="0" indent="0" algn="ctr">
              <a:buNone/>
            </a:pPr>
            <a:r>
              <a:rPr lang="en-US" sz="900" b="1" dirty="0">
                <a:solidFill>
                  <a:srgbClr val="1F2D3A"/>
                </a:solidFill>
                <a:latin typeface="Arial" pitchFamily="34" charset="0"/>
                <a:ea typeface="Arial" pitchFamily="34" charset="-122"/>
                <a:cs typeface="Arial" pitchFamily="34" charset="-120"/>
              </a:rPr>
              <a:t>PDF (API)</a:t>
            </a:r>
            <a:endParaRPr lang="en-US" sz="900" dirty="0"/>
          </a:p>
        </p:txBody>
      </p:sp>
      <p:sp>
        <p:nvSpPr>
          <p:cNvPr id="45" name="Shape 40"/>
          <p:cNvSpPr/>
          <p:nvPr/>
        </p:nvSpPr>
        <p:spPr>
          <a:xfrm>
            <a:off x="10497312" y="1746504"/>
            <a:ext cx="137160" cy="0"/>
          </a:xfrm>
          <a:prstGeom prst="line">
            <a:avLst/>
          </a:prstGeom>
          <a:noFill/>
          <a:ln w="15875">
            <a:solidFill>
              <a:srgbClr val="566575"/>
            </a:solidFill>
            <a:prstDash val="solid"/>
            <a:tailEnd type="triangle"/>
          </a:ln>
        </p:spPr>
        <p:txBody>
          <a:bodyPr/>
          <a:lstStyle/>
          <a:p>
            <a:endParaRPr/>
          </a:p>
        </p:txBody>
      </p:sp>
      <p:sp>
        <p:nvSpPr>
          <p:cNvPr id="46" name="node Gmail"/>
          <p:cNvSpPr/>
          <p:nvPr/>
        </p:nvSpPr>
        <p:spPr>
          <a:xfrm>
            <a:off x="10634472" y="1463040"/>
            <a:ext cx="676656" cy="566928"/>
          </a:xfrm>
          <a:prstGeom prst="roundRect">
            <a:avLst>
              <a:gd name="adj" fmla="val 12903"/>
            </a:avLst>
          </a:prstGeom>
          <a:solidFill>
            <a:srgbClr val="047954"/>
          </a:solidFill>
          <a:ln w="6350">
            <a:solidFill>
              <a:srgbClr val="047954"/>
            </a:solidFill>
            <a:prstDash val="solid"/>
          </a:ln>
        </p:spPr>
        <p:txBody>
          <a:bodyPr/>
          <a:lstStyle/>
          <a:p>
            <a:endParaRPr/>
          </a:p>
        </p:txBody>
      </p:sp>
      <p:sp>
        <p:nvSpPr>
          <p:cNvPr id="47" name="Text 42"/>
          <p:cNvSpPr txBox="1"/>
          <p:nvPr/>
        </p:nvSpPr>
        <p:spPr>
          <a:xfrm>
            <a:off x="10634472" y="1463040"/>
            <a:ext cx="676656"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Gmail</a:t>
            </a:r>
            <a:endParaRPr lang="en-US" sz="900" dirty="0"/>
          </a:p>
        </p:txBody>
      </p:sp>
      <p:sp>
        <p:nvSpPr>
          <p:cNvPr id="48" name="Text 43"/>
          <p:cNvSpPr txBox="1"/>
          <p:nvPr/>
        </p:nvSpPr>
        <p:spPr>
          <a:xfrm>
            <a:off x="7964424" y="1243584"/>
            <a:ext cx="457200" cy="182880"/>
          </a:xfrm>
          <a:prstGeom prst="rect">
            <a:avLst/>
          </a:prstGeom>
          <a:noFill/>
          <a:ln/>
        </p:spPr>
        <p:txBody>
          <a:bodyPr wrap="square" lIns="0" tIns="0" rIns="0" bIns="0" rtlCol="0" anchor="ctr"/>
          <a:lstStyle/>
          <a:p>
            <a:pPr marL="0" indent="0">
              <a:buNone/>
            </a:pPr>
            <a:r>
              <a:rPr lang="en-US" sz="900" b="1" dirty="0">
                <a:solidFill>
                  <a:srgbClr val="047954"/>
                </a:solidFill>
                <a:latin typeface="Arial" pitchFamily="34" charset="0"/>
                <a:ea typeface="Arial" pitchFamily="34" charset="-122"/>
                <a:cs typeface="Arial" pitchFamily="34" charset="-120"/>
              </a:rPr>
              <a:t>true</a:t>
            </a:r>
            <a:endParaRPr lang="en-US" sz="900" dirty="0"/>
          </a:p>
        </p:txBody>
      </p:sp>
      <p:sp>
        <p:nvSpPr>
          <p:cNvPr id="49" name="Shape 44"/>
          <p:cNvSpPr/>
          <p:nvPr/>
        </p:nvSpPr>
        <p:spPr>
          <a:xfrm>
            <a:off x="1682496" y="2103120"/>
            <a:ext cx="4745736" cy="274320"/>
          </a:xfrm>
          <a:prstGeom prst="roundRect">
            <a:avLst>
              <a:gd name="adj" fmla="val 50000"/>
            </a:avLst>
          </a:prstGeom>
          <a:solidFill>
            <a:srgbClr val="E3ECF5"/>
          </a:solidFill>
          <a:ln w="9525">
            <a:solidFill>
              <a:srgbClr val="336EA8"/>
            </a:solidFill>
            <a:prstDash val="solid"/>
          </a:ln>
        </p:spPr>
        <p:txBody>
          <a:bodyPr/>
          <a:lstStyle/>
          <a:p>
            <a:endParaRPr/>
          </a:p>
        </p:txBody>
      </p:sp>
      <p:sp>
        <p:nvSpPr>
          <p:cNvPr id="50" name="Text 45"/>
          <p:cNvSpPr txBox="1"/>
          <p:nvPr/>
        </p:nvSpPr>
        <p:spPr>
          <a:xfrm>
            <a:off x="1682496" y="2103120"/>
            <a:ext cx="4745736" cy="274320"/>
          </a:xfrm>
          <a:prstGeom prst="rect">
            <a:avLst/>
          </a:prstGeom>
          <a:noFill/>
          <a:ln/>
        </p:spPr>
        <p:txBody>
          <a:bodyPr wrap="square" lIns="0" tIns="0" rIns="0" bIns="0" rtlCol="0" anchor="ctr"/>
          <a:lstStyle/>
          <a:p>
            <a:pPr marL="0" indent="0" algn="ctr">
              <a:buNone/>
            </a:pPr>
            <a:r>
              <a:rPr lang="en-US" sz="1000" b="1" dirty="0">
                <a:solidFill>
                  <a:srgbClr val="1F2D3A"/>
                </a:solidFill>
                <a:latin typeface="Arial" pitchFamily="34" charset="0"/>
                <a:ea typeface="Arial" pitchFamily="34" charset="-122"/>
                <a:cs typeface="Arial" pitchFamily="34" charset="-120"/>
              </a:rPr>
              <a:t>Google Gemini chat model (one per agent)</a:t>
            </a:r>
            <a:endParaRPr lang="en-US" sz="1000" dirty="0"/>
          </a:p>
        </p:txBody>
      </p:sp>
      <p:sp>
        <p:nvSpPr>
          <p:cNvPr id="51" name="Shape 46"/>
          <p:cNvSpPr/>
          <p:nvPr/>
        </p:nvSpPr>
        <p:spPr>
          <a:xfrm>
            <a:off x="7717536" y="2029968"/>
            <a:ext cx="0" cy="457200"/>
          </a:xfrm>
          <a:prstGeom prst="line">
            <a:avLst/>
          </a:prstGeom>
          <a:noFill/>
          <a:ln w="19050">
            <a:solidFill>
              <a:srgbClr val="C0392B"/>
            </a:solidFill>
            <a:prstDash val="solid"/>
            <a:tailEnd type="triangle"/>
          </a:ln>
        </p:spPr>
        <p:txBody>
          <a:bodyPr/>
          <a:lstStyle/>
          <a:p>
            <a:endParaRPr/>
          </a:p>
        </p:txBody>
      </p:sp>
      <p:sp>
        <p:nvSpPr>
          <p:cNvPr id="52" name="Text 47"/>
          <p:cNvSpPr txBox="1"/>
          <p:nvPr/>
        </p:nvSpPr>
        <p:spPr>
          <a:xfrm>
            <a:off x="7790688" y="2103120"/>
            <a:ext cx="457200" cy="182880"/>
          </a:xfrm>
          <a:prstGeom prst="rect">
            <a:avLst/>
          </a:prstGeom>
          <a:noFill/>
          <a:ln/>
        </p:spPr>
        <p:txBody>
          <a:bodyPr wrap="square" lIns="0" tIns="0" rIns="0" bIns="0" rtlCol="0" anchor="ctr"/>
          <a:lstStyle/>
          <a:p>
            <a:pPr marL="0" indent="0">
              <a:buNone/>
            </a:pPr>
            <a:r>
              <a:rPr lang="en-US" sz="900" b="1" dirty="0">
                <a:solidFill>
                  <a:srgbClr val="C0392B"/>
                </a:solidFill>
                <a:latin typeface="Arial" pitchFamily="34" charset="0"/>
                <a:ea typeface="Arial" pitchFamily="34" charset="-122"/>
                <a:cs typeface="Arial" pitchFamily="34" charset="-120"/>
              </a:rPr>
              <a:t>false</a:t>
            </a:r>
            <a:endParaRPr lang="en-US" sz="900" dirty="0"/>
          </a:p>
        </p:txBody>
      </p:sp>
      <p:sp>
        <p:nvSpPr>
          <p:cNvPr id="53" name="Shape 48"/>
          <p:cNvSpPr/>
          <p:nvPr/>
        </p:nvSpPr>
        <p:spPr>
          <a:xfrm>
            <a:off x="6803136" y="2514600"/>
            <a:ext cx="1828800" cy="347472"/>
          </a:xfrm>
          <a:prstGeom prst="roundRect">
            <a:avLst>
              <a:gd name="adj" fmla="val 21053"/>
            </a:avLst>
          </a:prstGeom>
          <a:solidFill>
            <a:srgbClr val="FFF6F4"/>
          </a:solidFill>
          <a:ln w="12700">
            <a:solidFill>
              <a:srgbClr val="C0392B"/>
            </a:solidFill>
            <a:prstDash val="solid"/>
          </a:ln>
        </p:spPr>
        <p:txBody>
          <a:bodyPr/>
          <a:lstStyle/>
          <a:p>
            <a:endParaRPr/>
          </a:p>
        </p:txBody>
      </p:sp>
      <p:sp>
        <p:nvSpPr>
          <p:cNvPr id="54" name="Text 49"/>
          <p:cNvSpPr txBox="1"/>
          <p:nvPr/>
        </p:nvSpPr>
        <p:spPr>
          <a:xfrm>
            <a:off x="6803136" y="2514600"/>
            <a:ext cx="1828800" cy="347472"/>
          </a:xfrm>
          <a:prstGeom prst="rect">
            <a:avLst/>
          </a:prstGeom>
          <a:noFill/>
          <a:ln/>
        </p:spPr>
        <p:txBody>
          <a:bodyPr wrap="square" lIns="0" tIns="0" rIns="0" bIns="0" rtlCol="0" anchor="ctr"/>
          <a:lstStyle/>
          <a:p>
            <a:pPr marL="0" indent="0" algn="ctr">
              <a:buNone/>
            </a:pPr>
            <a:r>
              <a:rPr lang="en-US" sz="1000" b="1" dirty="0">
                <a:solidFill>
                  <a:srgbClr val="1F2D3A"/>
                </a:solidFill>
                <a:latin typeface="Arial" pitchFamily="34" charset="0"/>
                <a:ea typeface="Arial" pitchFamily="34" charset="-122"/>
                <a:cs typeface="Arial" pitchFamily="34" charset="-120"/>
              </a:rPr>
              <a:t>Email: section missing</a:t>
            </a:r>
            <a:endParaRPr lang="en-US" sz="1000" dirty="0"/>
          </a:p>
        </p:txBody>
      </p:sp>
      <p:sp>
        <p:nvSpPr>
          <p:cNvPr id="55" name="Text 50"/>
          <p:cNvSpPr txBox="1"/>
          <p:nvPr/>
        </p:nvSpPr>
        <p:spPr>
          <a:xfrm>
            <a:off x="868680" y="2788920"/>
            <a:ext cx="5029200" cy="201168"/>
          </a:xfrm>
          <a:prstGeom prst="rect">
            <a:avLst/>
          </a:prstGeom>
          <a:noFill/>
          <a:ln/>
        </p:spPr>
        <p:txBody>
          <a:bodyPr wrap="square" lIns="0" tIns="0" rIns="0" bIns="0" rtlCol="0" anchor="ctr"/>
          <a:lstStyle/>
          <a:p>
            <a:pPr marL="0" indent="0">
              <a:buNone/>
            </a:pPr>
            <a:r>
              <a:rPr lang="en-US" sz="1000" i="1" dirty="0">
                <a:solidFill>
                  <a:srgbClr val="566575"/>
                </a:solidFill>
                <a:latin typeface="Arial" pitchFamily="34" charset="0"/>
                <a:ea typeface="Arial" pitchFamily="34" charset="-122"/>
                <a:cs typeface="Arial" pitchFamily="34" charset="-120"/>
              </a:rPr>
              <a:t>Final workflow, drawn from the exported JSON (20 nodes)</a:t>
            </a:r>
            <a:endParaRPr lang="en-US" sz="1000" dirty="0"/>
          </a:p>
        </p:txBody>
      </p:sp>
      <p:sp>
        <p:nvSpPr>
          <p:cNvPr id="56" name="test card 1"/>
          <p:cNvSpPr/>
          <p:nvPr/>
        </p:nvSpPr>
        <p:spPr>
          <a:xfrm>
            <a:off x="548640" y="3154680"/>
            <a:ext cx="3566160" cy="3017520"/>
          </a:xfrm>
          <a:prstGeom prst="roundRect">
            <a:avLst>
              <a:gd name="adj" fmla="val 3030"/>
            </a:avLst>
          </a:prstGeom>
          <a:solidFill>
            <a:srgbClr val="FFFFFF"/>
          </a:solidFill>
          <a:ln w="12700">
            <a:solidFill>
              <a:srgbClr val="CFDDD6"/>
            </a:solidFill>
            <a:prstDash val="solid"/>
          </a:ln>
        </p:spPr>
        <p:txBody>
          <a:bodyPr/>
          <a:lstStyle/>
          <a:p>
            <a:endParaRPr/>
          </a:p>
        </p:txBody>
      </p:sp>
      <p:sp>
        <p:nvSpPr>
          <p:cNvPr id="57" name="Shape 52"/>
          <p:cNvSpPr/>
          <p:nvPr/>
        </p:nvSpPr>
        <p:spPr>
          <a:xfrm>
            <a:off x="731520" y="3291840"/>
            <a:ext cx="3200400" cy="365760"/>
          </a:xfrm>
          <a:prstGeom prst="roundRect">
            <a:avLst>
              <a:gd name="adj" fmla="val 50000"/>
            </a:avLst>
          </a:prstGeom>
          <a:solidFill>
            <a:srgbClr val="047954"/>
          </a:solidFill>
          <a:ln w="6350">
            <a:solidFill>
              <a:srgbClr val="047954"/>
            </a:solidFill>
            <a:prstDash val="solid"/>
          </a:ln>
        </p:spPr>
        <p:txBody>
          <a:bodyPr/>
          <a:lstStyle/>
          <a:p>
            <a:endParaRPr/>
          </a:p>
        </p:txBody>
      </p:sp>
      <p:sp>
        <p:nvSpPr>
          <p:cNvPr id="58" name="Text 53"/>
          <p:cNvSpPr txBox="1"/>
          <p:nvPr/>
        </p:nvSpPr>
        <p:spPr>
          <a:xfrm>
            <a:off x="731520" y="3291840"/>
            <a:ext cx="3200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Current state</a:t>
            </a:r>
            <a:endParaRPr lang="en-US" sz="1400" dirty="0"/>
          </a:p>
        </p:txBody>
      </p:sp>
      <p:sp>
        <p:nvSpPr>
          <p:cNvPr id="59" name="Text 54"/>
          <p:cNvSpPr txBox="1"/>
          <p:nvPr/>
        </p:nvSpPr>
        <p:spPr>
          <a:xfrm>
            <a:off x="777240" y="3794760"/>
            <a:ext cx="3108960" cy="22860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Working beta in n8n; the workflow is active</a:t>
            </a:r>
            <a:endParaRPr lang="en-US" sz="1250" dirty="0"/>
          </a:p>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Six Gemini agents, automatic check and automatic PDF</a:t>
            </a:r>
            <a:endParaRPr lang="en-US" sz="1250" dirty="0"/>
          </a:p>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About 1 minute per package</a:t>
            </a:r>
            <a:endParaRPr lang="en-US" sz="1250" dirty="0"/>
          </a:p>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Live application: </a:t>
            </a:r>
            <a:r>
              <a:rPr lang="en-US" sz="1250" dirty="0">
                <a:solidFill>
                  <a:srgbClr val="1F2D3A"/>
                </a:solidFill>
                <a:latin typeface="Arial" pitchFamily="34" charset="0"/>
                <a:ea typeface="Arial" pitchFamily="34" charset="-122"/>
                <a:cs typeface="Arial" pitchFamily="34" charset="-120"/>
                <a:hlinkClick r:id="rId7"/>
              </a:rPr>
              <a:t>95c73deb.kube-ops.com</a:t>
            </a:r>
            <a:endParaRPr lang="en-US" sz="1250" dirty="0"/>
          </a:p>
        </p:txBody>
      </p:sp>
      <p:sp>
        <p:nvSpPr>
          <p:cNvPr id="60" name="test card 2"/>
          <p:cNvSpPr/>
          <p:nvPr/>
        </p:nvSpPr>
        <p:spPr>
          <a:xfrm>
            <a:off x="4297680" y="3154680"/>
            <a:ext cx="3566160" cy="3017520"/>
          </a:xfrm>
          <a:prstGeom prst="roundRect">
            <a:avLst>
              <a:gd name="adj" fmla="val 3030"/>
            </a:avLst>
          </a:prstGeom>
          <a:solidFill>
            <a:srgbClr val="FAF3D3"/>
          </a:solidFill>
          <a:ln w="12700">
            <a:solidFill>
              <a:srgbClr val="CFDDD6"/>
            </a:solidFill>
            <a:prstDash val="solid"/>
          </a:ln>
        </p:spPr>
        <p:txBody>
          <a:bodyPr/>
          <a:lstStyle/>
          <a:p>
            <a:endParaRPr/>
          </a:p>
        </p:txBody>
      </p:sp>
      <p:sp>
        <p:nvSpPr>
          <p:cNvPr id="61" name="Shape 56"/>
          <p:cNvSpPr/>
          <p:nvPr/>
        </p:nvSpPr>
        <p:spPr>
          <a:xfrm>
            <a:off x="4480560" y="3291840"/>
            <a:ext cx="3200400" cy="365760"/>
          </a:xfrm>
          <a:prstGeom prst="roundRect">
            <a:avLst>
              <a:gd name="adj" fmla="val 50000"/>
            </a:avLst>
          </a:prstGeom>
          <a:solidFill>
            <a:srgbClr val="D7B119"/>
          </a:solidFill>
          <a:ln w="6350">
            <a:solidFill>
              <a:srgbClr val="D7B119"/>
            </a:solidFill>
            <a:prstDash val="solid"/>
          </a:ln>
        </p:spPr>
        <p:txBody>
          <a:bodyPr/>
          <a:lstStyle/>
          <a:p>
            <a:endParaRPr/>
          </a:p>
        </p:txBody>
      </p:sp>
      <p:sp>
        <p:nvSpPr>
          <p:cNvPr id="62" name="Text 57"/>
          <p:cNvSpPr txBox="1"/>
          <p:nvPr/>
        </p:nvSpPr>
        <p:spPr>
          <a:xfrm>
            <a:off x="4480560" y="3291840"/>
            <a:ext cx="3200400" cy="365760"/>
          </a:xfrm>
          <a:prstGeom prst="rect">
            <a:avLst/>
          </a:prstGeom>
          <a:noFill/>
          <a:ln/>
        </p:spPr>
        <p:txBody>
          <a:bodyPr wrap="square" lIns="0" tIns="0" rIns="0" bIns="0" rtlCol="0" anchor="ctr"/>
          <a:lstStyle/>
          <a:p>
            <a:pPr marL="0" indent="0" algn="ctr">
              <a:buNone/>
            </a:pPr>
            <a:r>
              <a:rPr lang="en-US" sz="1400" b="1" dirty="0">
                <a:solidFill>
                  <a:srgbClr val="1F2D3A"/>
                </a:solidFill>
                <a:latin typeface="Arial" pitchFamily="34" charset="0"/>
                <a:ea typeface="Arial" pitchFamily="34" charset="-122"/>
                <a:cs typeface="Arial" pitchFamily="34" charset="-120"/>
              </a:rPr>
              <a:t>Verification</a:t>
            </a:r>
            <a:endParaRPr lang="en-US" sz="1400" dirty="0"/>
          </a:p>
        </p:txBody>
      </p:sp>
      <p:sp>
        <p:nvSpPr>
          <p:cNvPr id="63" name="Text 58"/>
          <p:cNvSpPr txBox="1"/>
          <p:nvPr/>
        </p:nvSpPr>
        <p:spPr>
          <a:xfrm>
            <a:off x="4526280" y="3794760"/>
            <a:ext cx="3108960" cy="22860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Automatic: the workflow checks that all 12 section headings (A to L) are present</a:t>
            </a:r>
            <a:endParaRPr lang="en-US" sz="1250" dirty="0"/>
          </a:p>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If one is missing, the teacher gets an incomplete notice and submits the form again</a:t>
            </a:r>
            <a:endParaRPr lang="en-US" sz="1250" dirty="0"/>
          </a:p>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By hand: the teacher checks facts, quiz answers and the answer key before class</a:t>
            </a:r>
            <a:endParaRPr lang="en-US" sz="1250" dirty="0"/>
          </a:p>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Limit: the check sees structure, not accuracy</a:t>
            </a:r>
            <a:endParaRPr lang="en-US" sz="1250" dirty="0"/>
          </a:p>
        </p:txBody>
      </p:sp>
      <p:sp>
        <p:nvSpPr>
          <p:cNvPr id="64" name="test card 3"/>
          <p:cNvSpPr/>
          <p:nvPr/>
        </p:nvSpPr>
        <p:spPr>
          <a:xfrm>
            <a:off x="8046720" y="3154680"/>
            <a:ext cx="3566160" cy="3017520"/>
          </a:xfrm>
          <a:prstGeom prst="roundRect">
            <a:avLst>
              <a:gd name="adj" fmla="val 3030"/>
            </a:avLst>
          </a:prstGeom>
          <a:solidFill>
            <a:srgbClr val="FFFFFF"/>
          </a:solidFill>
          <a:ln w="12700">
            <a:solidFill>
              <a:srgbClr val="CFDDD6"/>
            </a:solidFill>
            <a:prstDash val="solid"/>
          </a:ln>
        </p:spPr>
        <p:txBody>
          <a:bodyPr/>
          <a:lstStyle/>
          <a:p>
            <a:endParaRPr/>
          </a:p>
        </p:txBody>
      </p:sp>
      <p:sp>
        <p:nvSpPr>
          <p:cNvPr id="65" name="Shape 60"/>
          <p:cNvSpPr/>
          <p:nvPr/>
        </p:nvSpPr>
        <p:spPr>
          <a:xfrm>
            <a:off x="8229600" y="3291840"/>
            <a:ext cx="3200400" cy="365760"/>
          </a:xfrm>
          <a:prstGeom prst="roundRect">
            <a:avLst>
              <a:gd name="adj" fmla="val 50000"/>
            </a:avLst>
          </a:prstGeom>
          <a:solidFill>
            <a:srgbClr val="336EA8"/>
          </a:solidFill>
          <a:ln w="6350">
            <a:solidFill>
              <a:srgbClr val="336EA8"/>
            </a:solidFill>
            <a:prstDash val="solid"/>
          </a:ln>
        </p:spPr>
        <p:txBody>
          <a:bodyPr/>
          <a:lstStyle/>
          <a:p>
            <a:endParaRPr/>
          </a:p>
        </p:txBody>
      </p:sp>
      <p:sp>
        <p:nvSpPr>
          <p:cNvPr id="66" name="Text 61"/>
          <p:cNvSpPr txBox="1"/>
          <p:nvPr/>
        </p:nvSpPr>
        <p:spPr>
          <a:xfrm>
            <a:off x="8229600" y="3291840"/>
            <a:ext cx="32004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Testing and QA findings</a:t>
            </a:r>
            <a:endParaRPr lang="en-US" sz="1400" dirty="0"/>
          </a:p>
        </p:txBody>
      </p:sp>
      <p:sp>
        <p:nvSpPr>
          <p:cNvPr id="67" name="Text 62"/>
          <p:cNvSpPr txBox="1"/>
          <p:nvPr/>
        </p:nvSpPr>
        <p:spPr>
          <a:xfrm>
            <a:off x="8275320" y="3794760"/>
            <a:ext cx="3108960" cy="22860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Unit: each node run alone. Integration: full runs from form to inbox</a:t>
            </a:r>
            <a:endParaRPr lang="en-US" sz="1250" dirty="0"/>
          </a:p>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Found: title and subject ran together, a typo and a quiz numbering slip</a:t>
            </a:r>
            <a:endParaRPr lang="en-US" sz="1250" dirty="0"/>
          </a:p>
          <a:p>
            <a:pPr marL="342900" indent="-342900">
              <a:spcAft>
                <a:spcPts val="500"/>
              </a:spcAft>
              <a:buSzPct val="100000"/>
              <a:buChar char="•"/>
            </a:pPr>
            <a:r>
              <a:rPr lang="en-US" sz="1250" dirty="0">
                <a:solidFill>
                  <a:srgbClr val="1F2D3A"/>
                </a:solidFill>
                <a:latin typeface="Arial" pitchFamily="34" charset="0"/>
                <a:ea typeface="Arial" pitchFamily="34" charset="-122"/>
                <a:cs typeface="Arial" pitchFamily="34" charset="-120"/>
              </a:rPr>
              <a:t>Next steps: automatic rerun, error alerts and a content review step</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8</a:t>
            </a:r>
            <a:endParaRPr lang="en-US" sz="1200" dirty="0"/>
          </a:p>
        </p:txBody>
      </p:sp>
      <p:sp>
        <p:nvSpPr>
          <p:cNvPr id="9" name="Text 4"/>
          <p:cNvSpPr txBox="1"/>
          <p:nvPr/>
        </p:nvSpPr>
        <p:spPr>
          <a:xfrm>
            <a:off x="1463040" y="411480"/>
            <a:ext cx="9144000" cy="685800"/>
          </a:xfrm>
          <a:prstGeom prst="rect">
            <a:avLst/>
          </a:prstGeom>
          <a:noFill/>
          <a:ln/>
        </p:spPr>
        <p:txBody>
          <a:bodyPr wrap="square" lIns="0" tIns="0" rIns="0" bIns="0" rtlCol="0" anchor="ctr"/>
          <a:lstStyle/>
          <a:p>
            <a:pPr marL="0" indent="0" algn="ctr">
              <a:buNone/>
            </a:pPr>
            <a:r>
              <a:rPr lang="en-US" sz="2800" b="1" dirty="0">
                <a:solidFill>
                  <a:srgbClr val="047954"/>
                </a:solidFill>
                <a:latin typeface="Arial" pitchFamily="34" charset="0"/>
                <a:ea typeface="Arial" pitchFamily="34" charset="-122"/>
                <a:cs typeface="Arial" pitchFamily="34" charset="-120"/>
              </a:rPr>
              <a:t>Deliverables</a:t>
            </a:r>
            <a:endParaRPr lang="en-US" sz="2800" dirty="0"/>
          </a:p>
        </p:txBody>
      </p:sp>
      <p:sp>
        <p:nvSpPr>
          <p:cNvPr id="10" name="deliverable card 1"/>
          <p:cNvSpPr/>
          <p:nvPr/>
        </p:nvSpPr>
        <p:spPr>
          <a:xfrm>
            <a:off x="548640" y="1325880"/>
            <a:ext cx="3566160" cy="4846320"/>
          </a:xfrm>
          <a:prstGeom prst="roundRect">
            <a:avLst>
              <a:gd name="adj" fmla="val 2564"/>
            </a:avLst>
          </a:prstGeom>
          <a:solidFill>
            <a:srgbClr val="FFFFFF"/>
          </a:solidFill>
          <a:ln w="12700">
            <a:solidFill>
              <a:srgbClr val="CFDDD6"/>
            </a:solidFill>
            <a:prstDash val="solid"/>
          </a:ln>
        </p:spPr>
      </p:sp>
      <p:sp>
        <p:nvSpPr>
          <p:cNvPr id="11" name="Shape 6"/>
          <p:cNvSpPr/>
          <p:nvPr/>
        </p:nvSpPr>
        <p:spPr>
          <a:xfrm>
            <a:off x="800100" y="1531620"/>
            <a:ext cx="685800" cy="685800"/>
          </a:xfrm>
          <a:prstGeom prst="ellipse">
            <a:avLst/>
          </a:prstGeom>
          <a:solidFill>
            <a:srgbClr val="047954"/>
          </a:solidFill>
          <a:ln w="6350">
            <a:solidFill>
              <a:srgbClr val="047954"/>
            </a:solidFill>
            <a:prstDash val="solid"/>
          </a:ln>
        </p:spPr>
      </p:sp>
      <p:pic>
        <p:nvPicPr>
          <p:cNvPr id="12" name="Image 3" descr="preencoded.png"/>
          <p:cNvPicPr>
            <a:picLocks noChangeAspect="1"/>
          </p:cNvPicPr>
          <p:nvPr/>
        </p:nvPicPr>
        <p:blipFill>
          <a:blip r:embed="rId7"/>
          <a:stretch>
            <a:fillRect/>
          </a:stretch>
        </p:blipFill>
        <p:spPr>
          <a:xfrm>
            <a:off x="971550" y="1703070"/>
            <a:ext cx="342900" cy="342900"/>
          </a:xfrm>
          <a:prstGeom prst="rect">
            <a:avLst/>
          </a:prstGeom>
        </p:spPr>
      </p:pic>
      <p:sp>
        <p:nvSpPr>
          <p:cNvPr id="13" name="Text 7"/>
          <p:cNvSpPr txBox="1"/>
          <p:nvPr/>
        </p:nvSpPr>
        <p:spPr>
          <a:xfrm>
            <a:off x="1691640" y="1554480"/>
            <a:ext cx="2286000" cy="640080"/>
          </a:xfrm>
          <a:prstGeom prst="rect">
            <a:avLst/>
          </a:prstGeom>
          <a:noFill/>
          <a:ln/>
        </p:spPr>
        <p:txBody>
          <a:bodyPr wrap="square" lIns="0" tIns="0" rIns="0" bIns="0" rtlCol="0" anchor="ctr"/>
          <a:lstStyle/>
          <a:p>
            <a:pPr marL="0" indent="0">
              <a:buNone/>
            </a:pPr>
            <a:r>
              <a:rPr lang="en-US" sz="1700" b="1" dirty="0">
                <a:solidFill>
                  <a:srgbClr val="047954"/>
                </a:solidFill>
                <a:latin typeface="Arial" pitchFamily="34" charset="0"/>
                <a:ea typeface="Arial" pitchFamily="34" charset="-122"/>
                <a:cs typeface="Arial" pitchFamily="34" charset="-120"/>
              </a:rPr>
              <a:t>Required submission</a:t>
            </a:r>
            <a:endParaRPr lang="en-US" sz="1700" dirty="0"/>
          </a:p>
        </p:txBody>
      </p:sp>
      <p:sp>
        <p:nvSpPr>
          <p:cNvPr id="14" name="Text 8"/>
          <p:cNvSpPr txBox="1"/>
          <p:nvPr/>
        </p:nvSpPr>
        <p:spPr>
          <a:xfrm>
            <a:off x="822960" y="2468880"/>
            <a:ext cx="3063240" cy="35661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Project Description</a:t>
            </a:r>
            <a:endParaRPr lang="en-US" sz="1400" dirty="0"/>
          </a:p>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Final Presentation (PPT)</a:t>
            </a:r>
            <a:endParaRPr lang="en-US" sz="1400" dirty="0"/>
          </a:p>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ZIP file with the source code</a:t>
            </a:r>
            <a:endParaRPr lang="en-US" sz="1400" dirty="0"/>
          </a:p>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hlinkClick r:id="rId8"/>
              </a:rPr>
              <a:t>Live Application link</a:t>
            </a:r>
            <a:endParaRPr lang="en-US" sz="1400" dirty="0"/>
          </a:p>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Project Documentation</a:t>
            </a:r>
            <a:endParaRPr lang="en-US" sz="1400" dirty="0"/>
          </a:p>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Video demo (2 to 4 minutes)</a:t>
            </a:r>
            <a:endParaRPr lang="en-US" sz="1400" dirty="0"/>
          </a:p>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GitHub link (the original one)</a:t>
            </a:r>
            <a:endParaRPr lang="en-US" sz="1400" dirty="0"/>
          </a:p>
        </p:txBody>
      </p:sp>
      <p:sp>
        <p:nvSpPr>
          <p:cNvPr id="15" name="deliverable card 2"/>
          <p:cNvSpPr/>
          <p:nvPr/>
        </p:nvSpPr>
        <p:spPr>
          <a:xfrm>
            <a:off x="4297680" y="1325880"/>
            <a:ext cx="3566160" cy="4846320"/>
          </a:xfrm>
          <a:prstGeom prst="roundRect">
            <a:avLst>
              <a:gd name="adj" fmla="val 2564"/>
            </a:avLst>
          </a:prstGeom>
          <a:solidFill>
            <a:srgbClr val="FFFFFF"/>
          </a:solidFill>
          <a:ln w="12700">
            <a:solidFill>
              <a:srgbClr val="CFDDD6"/>
            </a:solidFill>
            <a:prstDash val="solid"/>
          </a:ln>
        </p:spPr>
      </p:sp>
      <p:sp>
        <p:nvSpPr>
          <p:cNvPr id="16" name="Shape 10"/>
          <p:cNvSpPr/>
          <p:nvPr/>
        </p:nvSpPr>
        <p:spPr>
          <a:xfrm>
            <a:off x="4549140" y="1531620"/>
            <a:ext cx="685800" cy="685800"/>
          </a:xfrm>
          <a:prstGeom prst="ellipse">
            <a:avLst/>
          </a:prstGeom>
          <a:solidFill>
            <a:srgbClr val="336EA8"/>
          </a:solidFill>
          <a:ln w="6350">
            <a:solidFill>
              <a:srgbClr val="336EA8"/>
            </a:solidFill>
            <a:prstDash val="solid"/>
          </a:ln>
        </p:spPr>
      </p:sp>
      <p:pic>
        <p:nvPicPr>
          <p:cNvPr id="17" name="Image 4" descr="preencoded.png"/>
          <p:cNvPicPr>
            <a:picLocks noChangeAspect="1"/>
          </p:cNvPicPr>
          <p:nvPr/>
        </p:nvPicPr>
        <p:blipFill>
          <a:blip r:embed="rId9"/>
          <a:stretch>
            <a:fillRect/>
          </a:stretch>
        </p:blipFill>
        <p:spPr>
          <a:xfrm>
            <a:off x="4720590" y="1703070"/>
            <a:ext cx="342900" cy="342900"/>
          </a:xfrm>
          <a:prstGeom prst="rect">
            <a:avLst/>
          </a:prstGeom>
        </p:spPr>
      </p:pic>
      <p:sp>
        <p:nvSpPr>
          <p:cNvPr id="18" name="Text 11"/>
          <p:cNvSpPr txBox="1"/>
          <p:nvPr/>
        </p:nvSpPr>
        <p:spPr>
          <a:xfrm>
            <a:off x="5440680" y="1554480"/>
            <a:ext cx="2286000" cy="640080"/>
          </a:xfrm>
          <a:prstGeom prst="rect">
            <a:avLst/>
          </a:prstGeom>
          <a:noFill/>
          <a:ln/>
        </p:spPr>
        <p:txBody>
          <a:bodyPr wrap="square" lIns="0" tIns="0" rIns="0" bIns="0" rtlCol="0" anchor="ctr"/>
          <a:lstStyle/>
          <a:p>
            <a:pPr marL="0" indent="0">
              <a:buNone/>
            </a:pPr>
            <a:r>
              <a:rPr lang="en-US" sz="1700" b="1" dirty="0">
                <a:solidFill>
                  <a:srgbClr val="047954"/>
                </a:solidFill>
                <a:latin typeface="Arial" pitchFamily="34" charset="0"/>
                <a:ea typeface="Arial" pitchFamily="34" charset="-122"/>
                <a:cs typeface="Arial" pitchFamily="34" charset="-120"/>
              </a:rPr>
              <a:t>Timeline</a:t>
            </a:r>
            <a:endParaRPr lang="en-US" sz="1700" dirty="0"/>
          </a:p>
        </p:txBody>
      </p:sp>
      <p:sp>
        <p:nvSpPr>
          <p:cNvPr id="19" name="deliverable card 3"/>
          <p:cNvSpPr/>
          <p:nvPr/>
        </p:nvSpPr>
        <p:spPr>
          <a:xfrm>
            <a:off x="8046720" y="1325880"/>
            <a:ext cx="3566160" cy="4846320"/>
          </a:xfrm>
          <a:prstGeom prst="roundRect">
            <a:avLst>
              <a:gd name="adj" fmla="val 2564"/>
            </a:avLst>
          </a:prstGeom>
          <a:solidFill>
            <a:srgbClr val="FFFFFF"/>
          </a:solidFill>
          <a:ln w="12700">
            <a:solidFill>
              <a:srgbClr val="CFDDD6"/>
            </a:solidFill>
            <a:prstDash val="solid"/>
          </a:ln>
        </p:spPr>
      </p:sp>
      <p:sp>
        <p:nvSpPr>
          <p:cNvPr id="20" name="Shape 13"/>
          <p:cNvSpPr/>
          <p:nvPr/>
        </p:nvSpPr>
        <p:spPr>
          <a:xfrm>
            <a:off x="8298180" y="1531620"/>
            <a:ext cx="685800" cy="685800"/>
          </a:xfrm>
          <a:prstGeom prst="ellipse">
            <a:avLst/>
          </a:prstGeom>
          <a:solidFill>
            <a:srgbClr val="D7B119"/>
          </a:solidFill>
          <a:ln w="6350">
            <a:solidFill>
              <a:srgbClr val="D7B119"/>
            </a:solidFill>
            <a:prstDash val="solid"/>
          </a:ln>
        </p:spPr>
      </p:sp>
      <p:pic>
        <p:nvPicPr>
          <p:cNvPr id="21" name="Image 5" descr="preencoded.png"/>
          <p:cNvPicPr>
            <a:picLocks noChangeAspect="1"/>
          </p:cNvPicPr>
          <p:nvPr/>
        </p:nvPicPr>
        <p:blipFill>
          <a:blip r:embed="rId10"/>
          <a:stretch>
            <a:fillRect/>
          </a:stretch>
        </p:blipFill>
        <p:spPr>
          <a:xfrm>
            <a:off x="8469630" y="1703070"/>
            <a:ext cx="342900" cy="342900"/>
          </a:xfrm>
          <a:prstGeom prst="rect">
            <a:avLst/>
          </a:prstGeom>
        </p:spPr>
      </p:pic>
      <p:sp>
        <p:nvSpPr>
          <p:cNvPr id="22" name="Text 14"/>
          <p:cNvSpPr txBox="1"/>
          <p:nvPr/>
        </p:nvSpPr>
        <p:spPr>
          <a:xfrm>
            <a:off x="9189720" y="1554480"/>
            <a:ext cx="2286000" cy="640080"/>
          </a:xfrm>
          <a:prstGeom prst="rect">
            <a:avLst/>
          </a:prstGeom>
          <a:noFill/>
          <a:ln/>
        </p:spPr>
        <p:txBody>
          <a:bodyPr wrap="square" lIns="0" tIns="0" rIns="0" bIns="0" rtlCol="0" anchor="ctr"/>
          <a:lstStyle/>
          <a:p>
            <a:pPr marL="0" indent="0">
              <a:buNone/>
            </a:pPr>
            <a:r>
              <a:rPr lang="en-US" sz="1700" b="1" dirty="0">
                <a:solidFill>
                  <a:srgbClr val="047954"/>
                </a:solidFill>
                <a:latin typeface="Arial" pitchFamily="34" charset="0"/>
                <a:ea typeface="Arial" pitchFamily="34" charset="-122"/>
                <a:cs typeface="Arial" pitchFamily="34" charset="-120"/>
              </a:rPr>
              <a:t>Supporting products</a:t>
            </a:r>
            <a:endParaRPr lang="en-US" sz="1700" dirty="0"/>
          </a:p>
        </p:txBody>
      </p:sp>
      <p:sp>
        <p:nvSpPr>
          <p:cNvPr id="23" name="Text 15"/>
          <p:cNvSpPr txBox="1"/>
          <p:nvPr/>
        </p:nvSpPr>
        <p:spPr>
          <a:xfrm>
            <a:off x="8321040" y="2468880"/>
            <a:ext cx="3063240" cy="35661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n8n Workflow Documentation (10 pages)</a:t>
            </a:r>
            <a:endParaRPr lang="en-US" sz="1400" dirty="0"/>
          </a:p>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Prompt Library: system message and agent prompts</a:t>
            </a:r>
            <a:endParaRPr lang="en-US" sz="1400" dirty="0"/>
          </a:p>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Final workflow JSON (API key removed)</a:t>
            </a:r>
            <a:endParaRPr lang="en-US" sz="1400" dirty="0"/>
          </a:p>
          <a:p>
            <a:pPr marL="342900" indent="-342900">
              <a:spcAft>
                <a:spcPts val="900"/>
              </a:spcAft>
              <a:buSzPct val="100000"/>
              <a:buChar char="•"/>
            </a:pPr>
            <a:r>
              <a:rPr lang="en-US" sz="1400" dirty="0">
                <a:solidFill>
                  <a:srgbClr val="1F2D3A"/>
                </a:solidFill>
                <a:latin typeface="Arial" pitchFamily="34" charset="0"/>
                <a:ea typeface="Arial" pitchFamily="34" charset="-122"/>
                <a:cs typeface="Arial" pitchFamily="34" charset="-120"/>
              </a:rPr>
              <a:t>Sample generated PDFs</a:t>
            </a:r>
            <a:endParaRPr lang="en-US" sz="1400" dirty="0"/>
          </a:p>
        </p:txBody>
      </p:sp>
      <p:sp>
        <p:nvSpPr>
          <p:cNvPr id="24" name="Shape 16"/>
          <p:cNvSpPr/>
          <p:nvPr/>
        </p:nvSpPr>
        <p:spPr>
          <a:xfrm>
            <a:off x="4526280" y="2606040"/>
            <a:ext cx="365760" cy="365760"/>
          </a:xfrm>
          <a:prstGeom prst="ellipse">
            <a:avLst/>
          </a:prstGeom>
          <a:solidFill>
            <a:srgbClr val="336EA8"/>
          </a:solidFill>
          <a:ln w="19050">
            <a:solidFill>
              <a:srgbClr val="FFFFFF"/>
            </a:solidFill>
            <a:prstDash val="solid"/>
          </a:ln>
        </p:spPr>
      </p:sp>
      <p:sp>
        <p:nvSpPr>
          <p:cNvPr id="25" name="Text 17"/>
          <p:cNvSpPr txBox="1"/>
          <p:nvPr/>
        </p:nvSpPr>
        <p:spPr>
          <a:xfrm>
            <a:off x="4526280" y="26060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6" name="Text 18"/>
          <p:cNvSpPr txBox="1"/>
          <p:nvPr/>
        </p:nvSpPr>
        <p:spPr>
          <a:xfrm>
            <a:off x="5029200" y="2514600"/>
            <a:ext cx="2286000" cy="256032"/>
          </a:xfrm>
          <a:prstGeom prst="rect">
            <a:avLst/>
          </a:prstGeom>
          <a:noFill/>
          <a:ln/>
        </p:spPr>
        <p:txBody>
          <a:bodyPr wrap="square" lIns="0" tIns="0" rIns="0" bIns="0" rtlCol="0" anchor="ctr"/>
          <a:lstStyle/>
          <a:p>
            <a:pPr marL="0" indent="0">
              <a:buNone/>
            </a:pPr>
            <a:r>
              <a:rPr lang="en-US" sz="1100" b="1" dirty="0">
                <a:solidFill>
                  <a:srgbClr val="336EA8"/>
                </a:solidFill>
                <a:latin typeface="Arial" pitchFamily="34" charset="0"/>
                <a:ea typeface="Arial" pitchFamily="34" charset="-122"/>
                <a:cs typeface="Arial" pitchFamily="34" charset="-120"/>
              </a:rPr>
              <a:t>26 Sep – 4 Oct</a:t>
            </a:r>
            <a:endParaRPr lang="en-US" sz="1100" dirty="0"/>
          </a:p>
        </p:txBody>
      </p:sp>
      <p:sp>
        <p:nvSpPr>
          <p:cNvPr id="27" name="Text 19"/>
          <p:cNvSpPr txBox="1"/>
          <p:nvPr/>
        </p:nvSpPr>
        <p:spPr>
          <a:xfrm>
            <a:off x="5029200" y="2752344"/>
            <a:ext cx="2560320" cy="365760"/>
          </a:xfrm>
          <a:prstGeom prst="rect">
            <a:avLst/>
          </a:prstGeom>
          <a:noFill/>
          <a:ln/>
        </p:spPr>
        <p:txBody>
          <a:bodyPr wrap="square" lIns="0" tIns="0" rIns="0" bIns="0" rtlCol="0" anchor="t"/>
          <a:lstStyle/>
          <a:p>
            <a:pPr marL="0" indent="0">
              <a:buNone/>
            </a:pPr>
            <a:r>
              <a:rPr lang="en-US" sz="1300" dirty="0">
                <a:solidFill>
                  <a:srgbClr val="1F2D3A"/>
                </a:solidFill>
                <a:latin typeface="Arial" pitchFamily="34" charset="0"/>
                <a:ea typeface="Arial" pitchFamily="34" charset="-122"/>
                <a:cs typeface="Arial" pitchFamily="34" charset="-120"/>
              </a:rPr>
              <a:t>Design, prompt strategy and local Ollama workflow</a:t>
            </a:r>
            <a:endParaRPr lang="en-US" sz="1300" dirty="0"/>
          </a:p>
        </p:txBody>
      </p:sp>
      <p:sp>
        <p:nvSpPr>
          <p:cNvPr id="28" name="Shape 20"/>
          <p:cNvSpPr/>
          <p:nvPr/>
        </p:nvSpPr>
        <p:spPr>
          <a:xfrm>
            <a:off x="4526280" y="3310128"/>
            <a:ext cx="365760" cy="365760"/>
          </a:xfrm>
          <a:prstGeom prst="ellipse">
            <a:avLst/>
          </a:prstGeom>
          <a:solidFill>
            <a:srgbClr val="336EA8"/>
          </a:solidFill>
          <a:ln w="19050">
            <a:solidFill>
              <a:srgbClr val="FFFFFF"/>
            </a:solidFill>
            <a:prstDash val="solid"/>
          </a:ln>
        </p:spPr>
      </p:sp>
      <p:sp>
        <p:nvSpPr>
          <p:cNvPr id="29" name="Text 21"/>
          <p:cNvSpPr txBox="1"/>
          <p:nvPr/>
        </p:nvSpPr>
        <p:spPr>
          <a:xfrm>
            <a:off x="4526280" y="33101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30" name="Text 22"/>
          <p:cNvSpPr txBox="1"/>
          <p:nvPr/>
        </p:nvSpPr>
        <p:spPr>
          <a:xfrm>
            <a:off x="5029200" y="3218688"/>
            <a:ext cx="2286000" cy="256032"/>
          </a:xfrm>
          <a:prstGeom prst="rect">
            <a:avLst/>
          </a:prstGeom>
          <a:noFill/>
          <a:ln/>
        </p:spPr>
        <p:txBody>
          <a:bodyPr wrap="square" lIns="0" tIns="0" rIns="0" bIns="0" rtlCol="0" anchor="ctr"/>
          <a:lstStyle/>
          <a:p>
            <a:pPr marL="0" indent="0">
              <a:buNone/>
            </a:pPr>
            <a:r>
              <a:rPr lang="en-US" sz="1100" b="1" dirty="0">
                <a:solidFill>
                  <a:srgbClr val="336EA8"/>
                </a:solidFill>
                <a:latin typeface="Arial" pitchFamily="34" charset="0"/>
                <a:ea typeface="Arial" pitchFamily="34" charset="-122"/>
                <a:cs typeface="Arial" pitchFamily="34" charset="-120"/>
              </a:rPr>
              <a:t>5 – 12 Oct</a:t>
            </a:r>
            <a:endParaRPr lang="en-US" sz="1100" dirty="0"/>
          </a:p>
        </p:txBody>
      </p:sp>
      <p:sp>
        <p:nvSpPr>
          <p:cNvPr id="31" name="Text 23"/>
          <p:cNvSpPr txBox="1"/>
          <p:nvPr/>
        </p:nvSpPr>
        <p:spPr>
          <a:xfrm>
            <a:off x="5029200" y="3456432"/>
            <a:ext cx="2560320" cy="365760"/>
          </a:xfrm>
          <a:prstGeom prst="rect">
            <a:avLst/>
          </a:prstGeom>
          <a:noFill/>
          <a:ln/>
        </p:spPr>
        <p:txBody>
          <a:bodyPr wrap="square" lIns="0" tIns="0" rIns="0" bIns="0" rtlCol="0" anchor="t"/>
          <a:lstStyle/>
          <a:p>
            <a:pPr marL="0" indent="0">
              <a:buNone/>
            </a:pPr>
            <a:r>
              <a:rPr lang="en-US" sz="1300" dirty="0">
                <a:solidFill>
                  <a:srgbClr val="1F2D3A"/>
                </a:solidFill>
                <a:latin typeface="Arial" pitchFamily="34" charset="0"/>
                <a:ea typeface="Arial" pitchFamily="34" charset="-122"/>
                <a:cs typeface="Arial" pitchFamily="34" charset="-120"/>
              </a:rPr>
              <a:t>Documentation and Gemini workflow update</a:t>
            </a:r>
            <a:endParaRPr lang="en-US" sz="1300" dirty="0"/>
          </a:p>
        </p:txBody>
      </p:sp>
      <p:sp>
        <p:nvSpPr>
          <p:cNvPr id="32" name="Shape 24"/>
          <p:cNvSpPr/>
          <p:nvPr/>
        </p:nvSpPr>
        <p:spPr>
          <a:xfrm>
            <a:off x="4526280" y="4014216"/>
            <a:ext cx="365760" cy="365760"/>
          </a:xfrm>
          <a:prstGeom prst="ellipse">
            <a:avLst/>
          </a:prstGeom>
          <a:solidFill>
            <a:srgbClr val="336EA8"/>
          </a:solidFill>
          <a:ln w="19050">
            <a:solidFill>
              <a:srgbClr val="FFFFFF"/>
            </a:solidFill>
            <a:prstDash val="solid"/>
          </a:ln>
        </p:spPr>
      </p:sp>
      <p:sp>
        <p:nvSpPr>
          <p:cNvPr id="33" name="Text 25"/>
          <p:cNvSpPr txBox="1"/>
          <p:nvPr/>
        </p:nvSpPr>
        <p:spPr>
          <a:xfrm>
            <a:off x="4526280" y="40142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4" name="Text 26"/>
          <p:cNvSpPr txBox="1"/>
          <p:nvPr/>
        </p:nvSpPr>
        <p:spPr>
          <a:xfrm>
            <a:off x="5029200" y="3922776"/>
            <a:ext cx="2286000" cy="256032"/>
          </a:xfrm>
          <a:prstGeom prst="rect">
            <a:avLst/>
          </a:prstGeom>
          <a:noFill/>
          <a:ln/>
        </p:spPr>
        <p:txBody>
          <a:bodyPr wrap="square" lIns="0" tIns="0" rIns="0" bIns="0" rtlCol="0" anchor="ctr"/>
          <a:lstStyle/>
          <a:p>
            <a:pPr marL="0" indent="0">
              <a:buNone/>
            </a:pPr>
            <a:r>
              <a:rPr lang="en-US" sz="1100" b="1" dirty="0">
                <a:solidFill>
                  <a:srgbClr val="336EA8"/>
                </a:solidFill>
                <a:latin typeface="Arial" pitchFamily="34" charset="0"/>
                <a:ea typeface="Arial" pitchFamily="34" charset="-122"/>
                <a:cs typeface="Arial" pitchFamily="34" charset="-120"/>
              </a:rPr>
              <a:t>13 – 20 Oct</a:t>
            </a:r>
            <a:endParaRPr lang="en-US" sz="1100" dirty="0"/>
          </a:p>
        </p:txBody>
      </p:sp>
      <p:sp>
        <p:nvSpPr>
          <p:cNvPr id="35" name="Text 27"/>
          <p:cNvSpPr txBox="1"/>
          <p:nvPr/>
        </p:nvSpPr>
        <p:spPr>
          <a:xfrm>
            <a:off x="5029200" y="4160520"/>
            <a:ext cx="2560320" cy="365760"/>
          </a:xfrm>
          <a:prstGeom prst="rect">
            <a:avLst/>
          </a:prstGeom>
          <a:noFill/>
          <a:ln/>
        </p:spPr>
        <p:txBody>
          <a:bodyPr wrap="square" lIns="0" tIns="0" rIns="0" bIns="0" rtlCol="0" anchor="t"/>
          <a:lstStyle/>
          <a:p>
            <a:pPr marL="0" indent="0">
              <a:buNone/>
            </a:pPr>
            <a:r>
              <a:rPr lang="en-US" sz="1300" dirty="0">
                <a:solidFill>
                  <a:srgbClr val="1F2D3A"/>
                </a:solidFill>
                <a:latin typeface="Arial" pitchFamily="34" charset="0"/>
                <a:ea typeface="Arial" pitchFamily="34" charset="-122"/>
                <a:cs typeface="Arial" pitchFamily="34" charset="-120"/>
              </a:rPr>
              <a:t>Presentation draft and JavaScript verification step</a:t>
            </a:r>
            <a:endParaRPr lang="en-US" sz="1300" dirty="0"/>
          </a:p>
        </p:txBody>
      </p:sp>
      <p:sp>
        <p:nvSpPr>
          <p:cNvPr id="36" name="Shape 28"/>
          <p:cNvSpPr/>
          <p:nvPr/>
        </p:nvSpPr>
        <p:spPr>
          <a:xfrm>
            <a:off x="4526280" y="4718304"/>
            <a:ext cx="365760" cy="365760"/>
          </a:xfrm>
          <a:prstGeom prst="ellipse">
            <a:avLst/>
          </a:prstGeom>
          <a:solidFill>
            <a:srgbClr val="336EA8"/>
          </a:solidFill>
          <a:ln w="19050">
            <a:solidFill>
              <a:srgbClr val="FFFFFF"/>
            </a:solidFill>
            <a:prstDash val="solid"/>
          </a:ln>
        </p:spPr>
      </p:sp>
      <p:sp>
        <p:nvSpPr>
          <p:cNvPr id="37" name="Text 29"/>
          <p:cNvSpPr txBox="1"/>
          <p:nvPr/>
        </p:nvSpPr>
        <p:spPr>
          <a:xfrm>
            <a:off x="4526280" y="47183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8" name="Text 30"/>
          <p:cNvSpPr txBox="1"/>
          <p:nvPr/>
        </p:nvSpPr>
        <p:spPr>
          <a:xfrm>
            <a:off x="5029200" y="4626864"/>
            <a:ext cx="2286000" cy="256032"/>
          </a:xfrm>
          <a:prstGeom prst="rect">
            <a:avLst/>
          </a:prstGeom>
          <a:noFill/>
          <a:ln/>
        </p:spPr>
        <p:txBody>
          <a:bodyPr wrap="square" lIns="0" tIns="0" rIns="0" bIns="0" rtlCol="0" anchor="ctr"/>
          <a:lstStyle/>
          <a:p>
            <a:pPr marL="0" indent="0">
              <a:buNone/>
            </a:pPr>
            <a:r>
              <a:rPr lang="en-US" sz="1100" b="1" dirty="0">
                <a:solidFill>
                  <a:srgbClr val="336EA8"/>
                </a:solidFill>
                <a:latin typeface="Arial" pitchFamily="34" charset="0"/>
                <a:ea typeface="Arial" pitchFamily="34" charset="-122"/>
                <a:cs typeface="Arial" pitchFamily="34" charset="-120"/>
              </a:rPr>
              <a:t>21 – 30 Oct</a:t>
            </a:r>
            <a:endParaRPr lang="en-US" sz="1100" dirty="0"/>
          </a:p>
        </p:txBody>
      </p:sp>
      <p:sp>
        <p:nvSpPr>
          <p:cNvPr id="39" name="Text 31"/>
          <p:cNvSpPr txBox="1"/>
          <p:nvPr/>
        </p:nvSpPr>
        <p:spPr>
          <a:xfrm>
            <a:off x="5029200" y="4864608"/>
            <a:ext cx="2560320" cy="365760"/>
          </a:xfrm>
          <a:prstGeom prst="rect">
            <a:avLst/>
          </a:prstGeom>
          <a:noFill/>
          <a:ln/>
        </p:spPr>
        <p:txBody>
          <a:bodyPr wrap="square" lIns="0" tIns="0" rIns="0" bIns="0" rtlCol="0" anchor="t"/>
          <a:lstStyle/>
          <a:p>
            <a:pPr marL="0" indent="0">
              <a:buNone/>
            </a:pPr>
            <a:r>
              <a:rPr lang="en-US" sz="1300" dirty="0">
                <a:solidFill>
                  <a:srgbClr val="1F2D3A"/>
                </a:solidFill>
                <a:latin typeface="Arial" pitchFamily="34" charset="0"/>
                <a:ea typeface="Arial" pitchFamily="34" charset="-122"/>
                <a:cs typeface="Arial" pitchFamily="34" charset="-120"/>
              </a:rPr>
              <a:t>Server deployment; final updates, video, GitHub</a:t>
            </a:r>
            <a:endParaRPr lang="en-US" sz="1300" dirty="0"/>
          </a:p>
        </p:txBody>
      </p:sp>
      <p:sp>
        <p:nvSpPr>
          <p:cNvPr id="40" name="Shape 32"/>
          <p:cNvSpPr/>
          <p:nvPr/>
        </p:nvSpPr>
        <p:spPr>
          <a:xfrm>
            <a:off x="4526280" y="5422392"/>
            <a:ext cx="365760" cy="365760"/>
          </a:xfrm>
          <a:prstGeom prst="ellipse">
            <a:avLst/>
          </a:prstGeom>
          <a:solidFill>
            <a:srgbClr val="D7B119"/>
          </a:solidFill>
          <a:ln w="19050">
            <a:solidFill>
              <a:srgbClr val="FFFFFF"/>
            </a:solidFill>
            <a:prstDash val="solid"/>
          </a:ln>
        </p:spPr>
      </p:sp>
      <p:sp>
        <p:nvSpPr>
          <p:cNvPr id="41" name="Text 33"/>
          <p:cNvSpPr txBox="1"/>
          <p:nvPr/>
        </p:nvSpPr>
        <p:spPr>
          <a:xfrm>
            <a:off x="4526280" y="542239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42" name="Text 34"/>
          <p:cNvSpPr txBox="1"/>
          <p:nvPr/>
        </p:nvSpPr>
        <p:spPr>
          <a:xfrm>
            <a:off x="5029200" y="5330952"/>
            <a:ext cx="2286000" cy="256032"/>
          </a:xfrm>
          <a:prstGeom prst="rect">
            <a:avLst/>
          </a:prstGeom>
          <a:noFill/>
          <a:ln/>
        </p:spPr>
        <p:txBody>
          <a:bodyPr wrap="square" lIns="0" tIns="0" rIns="0" bIns="0" rtlCol="0" anchor="ctr"/>
          <a:lstStyle/>
          <a:p>
            <a:pPr marL="0" indent="0">
              <a:buNone/>
            </a:pPr>
            <a:r>
              <a:rPr lang="en-US" sz="1100" b="1" dirty="0">
                <a:solidFill>
                  <a:srgbClr val="8A6D00"/>
                </a:solidFill>
                <a:latin typeface="Arial" pitchFamily="34" charset="0"/>
                <a:ea typeface="Arial" pitchFamily="34" charset="-122"/>
                <a:cs typeface="Arial" pitchFamily="34" charset="-120"/>
              </a:rPr>
              <a:t>Sat 31 Oct 2026</a:t>
            </a:r>
            <a:endParaRPr lang="en-US" sz="1100" dirty="0"/>
          </a:p>
        </p:txBody>
      </p:sp>
      <p:sp>
        <p:nvSpPr>
          <p:cNvPr id="43" name="Text 35"/>
          <p:cNvSpPr txBox="1"/>
          <p:nvPr/>
        </p:nvSpPr>
        <p:spPr>
          <a:xfrm>
            <a:off x="5029200" y="5568696"/>
            <a:ext cx="2560320" cy="365760"/>
          </a:xfrm>
          <a:prstGeom prst="rect">
            <a:avLst/>
          </a:prstGeom>
          <a:noFill/>
          <a:ln/>
        </p:spPr>
        <p:txBody>
          <a:bodyPr wrap="square" lIns="0" tIns="0" rIns="0" bIns="0" rtlCol="0" anchor="t"/>
          <a:lstStyle/>
          <a:p>
            <a:pPr marL="0" indent="0">
              <a:buNone/>
            </a:pPr>
            <a:r>
              <a:rPr lang="en-US" sz="1300" dirty="0">
                <a:solidFill>
                  <a:srgbClr val="1F2D3A"/>
                </a:solidFill>
                <a:latin typeface="Arial" pitchFamily="34" charset="0"/>
                <a:ea typeface="Arial" pitchFamily="34" charset="-122"/>
                <a:cs typeface="Arial" pitchFamily="34" charset="-120"/>
              </a:rPr>
              <a:t>Final submission by the Team Leader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9</a:t>
            </a:r>
            <a:endParaRPr lang="en-US" sz="1200" dirty="0"/>
          </a:p>
        </p:txBody>
      </p:sp>
      <p:sp>
        <p:nvSpPr>
          <p:cNvPr id="9" name="Text 4"/>
          <p:cNvSpPr txBox="1"/>
          <p:nvPr/>
        </p:nvSpPr>
        <p:spPr>
          <a:xfrm>
            <a:off x="1463040" y="411480"/>
            <a:ext cx="9144000" cy="685800"/>
          </a:xfrm>
          <a:prstGeom prst="rect">
            <a:avLst/>
          </a:prstGeom>
          <a:noFill/>
          <a:ln/>
        </p:spPr>
        <p:txBody>
          <a:bodyPr wrap="square" lIns="0" tIns="0" rIns="0" bIns="0" rtlCol="0" anchor="ctr"/>
          <a:lstStyle/>
          <a:p>
            <a:pPr marL="0" indent="0" algn="ctr">
              <a:buNone/>
            </a:pPr>
            <a:r>
              <a:rPr lang="en-US" sz="2800" b="1" dirty="0">
                <a:solidFill>
                  <a:srgbClr val="047954"/>
                </a:solidFill>
                <a:latin typeface="Arial" pitchFamily="34" charset="0"/>
                <a:ea typeface="Arial" pitchFamily="34" charset="-122"/>
                <a:cs typeface="Arial" pitchFamily="34" charset="-120"/>
              </a:rPr>
              <a:t>Project Team + Roles</a:t>
            </a:r>
            <a:endParaRPr lang="en-US" sz="2800" dirty="0"/>
          </a:p>
        </p:txBody>
      </p:sp>
      <p:sp>
        <p:nvSpPr>
          <p:cNvPr id="10" name="member 1"/>
          <p:cNvSpPr/>
          <p:nvPr/>
        </p:nvSpPr>
        <p:spPr>
          <a:xfrm>
            <a:off x="548640" y="1325880"/>
            <a:ext cx="3566160" cy="1463040"/>
          </a:xfrm>
          <a:prstGeom prst="roundRect">
            <a:avLst>
              <a:gd name="adj" fmla="val 6250"/>
            </a:avLst>
          </a:prstGeom>
          <a:solidFill>
            <a:srgbClr val="FFFFFF"/>
          </a:solidFill>
          <a:ln w="12700">
            <a:solidFill>
              <a:srgbClr val="CFDDD6"/>
            </a:solidFill>
            <a:prstDash val="solid"/>
          </a:ln>
        </p:spPr>
      </p:sp>
      <p:sp>
        <p:nvSpPr>
          <p:cNvPr id="13" name="Text 7"/>
          <p:cNvSpPr txBox="1"/>
          <p:nvPr/>
        </p:nvSpPr>
        <p:spPr>
          <a:xfrm>
            <a:off x="1783080" y="1463040"/>
            <a:ext cx="2286000" cy="274320"/>
          </a:xfrm>
          <a:prstGeom prst="rect">
            <a:avLst/>
          </a:prstGeom>
          <a:noFill/>
          <a:ln/>
        </p:spPr>
        <p:txBody>
          <a:bodyPr wrap="square" lIns="0" tIns="0" rIns="0" bIns="0" rtlCol="0" anchor="ctr"/>
          <a:lstStyle/>
          <a:p>
            <a:pPr marL="0" indent="0">
              <a:buNone/>
            </a:pPr>
            <a:r>
              <a:rPr lang="en-US" sz="1350" b="1" dirty="0">
                <a:solidFill>
                  <a:srgbClr val="1F2D3A"/>
                </a:solidFill>
                <a:latin typeface="Arial" pitchFamily="34" charset="0"/>
                <a:ea typeface="Arial" pitchFamily="34" charset="-122"/>
                <a:cs typeface="Arial" pitchFamily="34" charset="-120"/>
              </a:rPr>
              <a:t>Mariam Kotb Mohamed</a:t>
            </a:r>
            <a:endParaRPr lang="en-US" sz="1350" dirty="0"/>
          </a:p>
        </p:txBody>
      </p:sp>
      <p:sp>
        <p:nvSpPr>
          <p:cNvPr id="14" name="Text 8"/>
          <p:cNvSpPr txBox="1"/>
          <p:nvPr/>
        </p:nvSpPr>
        <p:spPr>
          <a:xfrm>
            <a:off x="1783080" y="1755648"/>
            <a:ext cx="2286000" cy="274320"/>
          </a:xfrm>
          <a:prstGeom prst="rect">
            <a:avLst/>
          </a:prstGeom>
          <a:noFill/>
          <a:ln/>
        </p:spPr>
        <p:txBody>
          <a:bodyPr wrap="square" lIns="0" tIns="0" rIns="0" bIns="0" rtlCol="0" anchor="ctr"/>
          <a:lstStyle/>
          <a:p>
            <a:pPr marL="0" indent="0">
              <a:buNone/>
            </a:pPr>
            <a:r>
              <a:rPr lang="en-US" sz="1300" b="1" dirty="0">
                <a:solidFill>
                  <a:srgbClr val="047954"/>
                </a:solidFill>
                <a:latin typeface="Arial" pitchFamily="34" charset="0"/>
                <a:ea typeface="Arial" pitchFamily="34" charset="-122"/>
                <a:cs typeface="Arial" pitchFamily="34" charset="-120"/>
              </a:rPr>
              <a:t>Automation</a:t>
            </a:r>
            <a:endParaRPr lang="en-US" sz="1300" dirty="0"/>
          </a:p>
        </p:txBody>
      </p:sp>
      <p:sp>
        <p:nvSpPr>
          <p:cNvPr id="15" name="Text 9"/>
          <p:cNvSpPr txBox="1"/>
          <p:nvPr/>
        </p:nvSpPr>
        <p:spPr>
          <a:xfrm>
            <a:off x="1783080" y="2057400"/>
            <a:ext cx="2240280" cy="64008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Forms, handles and updates the n8n workflow</a:t>
            </a:r>
            <a:endParaRPr lang="en-US" sz="1200" dirty="0"/>
          </a:p>
        </p:txBody>
      </p:sp>
      <p:sp>
        <p:nvSpPr>
          <p:cNvPr id="16" name="member 2"/>
          <p:cNvSpPr/>
          <p:nvPr/>
        </p:nvSpPr>
        <p:spPr>
          <a:xfrm>
            <a:off x="4297680" y="1325880"/>
            <a:ext cx="3566160" cy="1463040"/>
          </a:xfrm>
          <a:prstGeom prst="roundRect">
            <a:avLst>
              <a:gd name="adj" fmla="val 6250"/>
            </a:avLst>
          </a:prstGeom>
          <a:solidFill>
            <a:srgbClr val="FFFFFF"/>
          </a:solidFill>
          <a:ln w="12700">
            <a:solidFill>
              <a:srgbClr val="CFDDD6"/>
            </a:solidFill>
            <a:prstDash val="solid"/>
          </a:ln>
        </p:spPr>
      </p:sp>
      <p:sp>
        <p:nvSpPr>
          <p:cNvPr id="19" name="Text 12"/>
          <p:cNvSpPr txBox="1"/>
          <p:nvPr/>
        </p:nvSpPr>
        <p:spPr>
          <a:xfrm>
            <a:off x="5532120" y="1463040"/>
            <a:ext cx="2286000" cy="274320"/>
          </a:xfrm>
          <a:prstGeom prst="rect">
            <a:avLst/>
          </a:prstGeom>
          <a:noFill/>
          <a:ln/>
        </p:spPr>
        <p:txBody>
          <a:bodyPr wrap="square" lIns="0" tIns="0" rIns="0" bIns="0" rtlCol="0" anchor="ctr"/>
          <a:lstStyle/>
          <a:p>
            <a:pPr marL="0" indent="0">
              <a:buNone/>
            </a:pPr>
            <a:r>
              <a:rPr lang="en-US" sz="1350" b="1" dirty="0">
                <a:solidFill>
                  <a:srgbClr val="1F2D3A"/>
                </a:solidFill>
                <a:latin typeface="Arial" pitchFamily="34" charset="0"/>
                <a:ea typeface="Arial" pitchFamily="34" charset="-122"/>
                <a:cs typeface="Arial" pitchFamily="34" charset="-120"/>
              </a:rPr>
              <a:t>Esraa Ahmed Helmy</a:t>
            </a:r>
            <a:endParaRPr lang="en-US" sz="1350" dirty="0"/>
          </a:p>
        </p:txBody>
      </p:sp>
      <p:sp>
        <p:nvSpPr>
          <p:cNvPr id="20" name="Text 13"/>
          <p:cNvSpPr txBox="1"/>
          <p:nvPr/>
        </p:nvSpPr>
        <p:spPr>
          <a:xfrm>
            <a:off x="5532120" y="1755648"/>
            <a:ext cx="2286000" cy="274320"/>
          </a:xfrm>
          <a:prstGeom prst="rect">
            <a:avLst/>
          </a:prstGeom>
          <a:noFill/>
          <a:ln/>
        </p:spPr>
        <p:txBody>
          <a:bodyPr wrap="square" lIns="0" tIns="0" rIns="0" bIns="0" rtlCol="0" anchor="ctr"/>
          <a:lstStyle/>
          <a:p>
            <a:pPr marL="0" indent="0">
              <a:buNone/>
            </a:pPr>
            <a:r>
              <a:rPr lang="en-US" sz="1300" b="1" dirty="0">
                <a:solidFill>
                  <a:srgbClr val="047954"/>
                </a:solidFill>
                <a:latin typeface="Arial" pitchFamily="34" charset="0"/>
                <a:ea typeface="Arial" pitchFamily="34" charset="-122"/>
                <a:cs typeface="Arial" pitchFamily="34" charset="-120"/>
              </a:rPr>
              <a:t>Automation</a:t>
            </a:r>
            <a:endParaRPr lang="en-US" sz="1300" dirty="0"/>
          </a:p>
        </p:txBody>
      </p:sp>
      <p:sp>
        <p:nvSpPr>
          <p:cNvPr id="21" name="Text 14"/>
          <p:cNvSpPr txBox="1"/>
          <p:nvPr/>
        </p:nvSpPr>
        <p:spPr>
          <a:xfrm>
            <a:off x="5532120" y="2057400"/>
            <a:ext cx="2240280" cy="64008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Forms, handles and updates the n8n workflow</a:t>
            </a:r>
            <a:endParaRPr lang="en-US" sz="1200" dirty="0"/>
          </a:p>
        </p:txBody>
      </p:sp>
      <p:sp>
        <p:nvSpPr>
          <p:cNvPr id="22" name="member 3"/>
          <p:cNvSpPr/>
          <p:nvPr/>
        </p:nvSpPr>
        <p:spPr>
          <a:xfrm>
            <a:off x="8046720" y="1325880"/>
            <a:ext cx="3566160" cy="1463040"/>
          </a:xfrm>
          <a:prstGeom prst="roundRect">
            <a:avLst>
              <a:gd name="adj" fmla="val 6250"/>
            </a:avLst>
          </a:prstGeom>
          <a:solidFill>
            <a:srgbClr val="FFFFFF"/>
          </a:solidFill>
          <a:ln w="12700">
            <a:solidFill>
              <a:srgbClr val="CFDDD6"/>
            </a:solidFill>
            <a:prstDash val="solid"/>
          </a:ln>
        </p:spPr>
      </p:sp>
      <p:sp>
        <p:nvSpPr>
          <p:cNvPr id="25" name="Text 17"/>
          <p:cNvSpPr txBox="1"/>
          <p:nvPr/>
        </p:nvSpPr>
        <p:spPr>
          <a:xfrm>
            <a:off x="9281160" y="1463040"/>
            <a:ext cx="2286000" cy="274320"/>
          </a:xfrm>
          <a:prstGeom prst="rect">
            <a:avLst/>
          </a:prstGeom>
          <a:noFill/>
          <a:ln/>
        </p:spPr>
        <p:txBody>
          <a:bodyPr wrap="square" lIns="0" tIns="0" rIns="0" bIns="0" rtlCol="0" anchor="ctr"/>
          <a:lstStyle/>
          <a:p>
            <a:pPr marL="0" indent="0">
              <a:buNone/>
            </a:pPr>
            <a:r>
              <a:rPr lang="en-US" sz="1350" b="1" dirty="0">
                <a:solidFill>
                  <a:srgbClr val="1F2D3A"/>
                </a:solidFill>
                <a:latin typeface="Arial" pitchFamily="34" charset="0"/>
                <a:ea typeface="Arial" pitchFamily="34" charset="-122"/>
                <a:cs typeface="Arial" pitchFamily="34" charset="-120"/>
              </a:rPr>
              <a:t>Doaa Hafez Abbas</a:t>
            </a:r>
            <a:endParaRPr lang="en-US" sz="1350" dirty="0"/>
          </a:p>
        </p:txBody>
      </p:sp>
      <p:sp>
        <p:nvSpPr>
          <p:cNvPr id="26" name="Text 18"/>
          <p:cNvSpPr txBox="1"/>
          <p:nvPr/>
        </p:nvSpPr>
        <p:spPr>
          <a:xfrm>
            <a:off x="9281160" y="1755648"/>
            <a:ext cx="2286000" cy="274320"/>
          </a:xfrm>
          <a:prstGeom prst="rect">
            <a:avLst/>
          </a:prstGeom>
          <a:noFill/>
          <a:ln/>
        </p:spPr>
        <p:txBody>
          <a:bodyPr wrap="square" lIns="0" tIns="0" rIns="0" bIns="0" rtlCol="0" anchor="ctr"/>
          <a:lstStyle/>
          <a:p>
            <a:pPr marL="0" indent="0">
              <a:buNone/>
            </a:pPr>
            <a:r>
              <a:rPr lang="en-US" sz="1300" b="1" dirty="0">
                <a:solidFill>
                  <a:srgbClr val="047954"/>
                </a:solidFill>
                <a:latin typeface="Arial" pitchFamily="34" charset="0"/>
                <a:ea typeface="Arial" pitchFamily="34" charset="-122"/>
                <a:cs typeface="Arial" pitchFamily="34" charset="-120"/>
              </a:rPr>
              <a:t>Documentation</a:t>
            </a:r>
            <a:endParaRPr lang="en-US" sz="1300" dirty="0"/>
          </a:p>
        </p:txBody>
      </p:sp>
      <p:sp>
        <p:nvSpPr>
          <p:cNvPr id="27" name="Text 19"/>
          <p:cNvSpPr txBox="1"/>
          <p:nvPr/>
        </p:nvSpPr>
        <p:spPr>
          <a:xfrm>
            <a:off x="9281160" y="2057400"/>
            <a:ext cx="2240280" cy="64008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Writes the project and technical documentation</a:t>
            </a:r>
            <a:endParaRPr lang="en-US" sz="1200" dirty="0"/>
          </a:p>
        </p:txBody>
      </p:sp>
      <p:sp>
        <p:nvSpPr>
          <p:cNvPr id="28" name="member 4"/>
          <p:cNvSpPr/>
          <p:nvPr/>
        </p:nvSpPr>
        <p:spPr>
          <a:xfrm>
            <a:off x="548640" y="2926080"/>
            <a:ext cx="3566160" cy="1463040"/>
          </a:xfrm>
          <a:prstGeom prst="roundRect">
            <a:avLst>
              <a:gd name="adj" fmla="val 6250"/>
            </a:avLst>
          </a:prstGeom>
          <a:solidFill>
            <a:srgbClr val="FFFFFF"/>
          </a:solidFill>
          <a:ln w="12700">
            <a:solidFill>
              <a:srgbClr val="CFDDD6"/>
            </a:solidFill>
            <a:prstDash val="solid"/>
          </a:ln>
        </p:spPr>
      </p:sp>
      <p:sp>
        <p:nvSpPr>
          <p:cNvPr id="31" name="Text 22"/>
          <p:cNvSpPr txBox="1"/>
          <p:nvPr/>
        </p:nvSpPr>
        <p:spPr>
          <a:xfrm>
            <a:off x="1783080" y="3063240"/>
            <a:ext cx="2286000" cy="274320"/>
          </a:xfrm>
          <a:prstGeom prst="rect">
            <a:avLst/>
          </a:prstGeom>
          <a:noFill/>
          <a:ln/>
        </p:spPr>
        <p:txBody>
          <a:bodyPr wrap="square" lIns="0" tIns="0" rIns="0" bIns="0" rtlCol="0" anchor="ctr"/>
          <a:lstStyle/>
          <a:p>
            <a:pPr marL="0" indent="0">
              <a:buNone/>
            </a:pPr>
            <a:r>
              <a:rPr lang="en-US" sz="1350" b="1" dirty="0">
                <a:solidFill>
                  <a:srgbClr val="1F2D3A"/>
                </a:solidFill>
                <a:latin typeface="Arial" pitchFamily="34" charset="0"/>
                <a:ea typeface="Arial" pitchFamily="34" charset="-122"/>
                <a:cs typeface="Arial" pitchFamily="34" charset="-120"/>
              </a:rPr>
              <a:t>Kholoud Mohamed Ibrahim</a:t>
            </a:r>
            <a:endParaRPr lang="en-US" sz="1350" dirty="0"/>
          </a:p>
        </p:txBody>
      </p:sp>
      <p:sp>
        <p:nvSpPr>
          <p:cNvPr id="32" name="Text 23"/>
          <p:cNvSpPr txBox="1"/>
          <p:nvPr/>
        </p:nvSpPr>
        <p:spPr>
          <a:xfrm>
            <a:off x="1783080" y="3355848"/>
            <a:ext cx="2286000" cy="274320"/>
          </a:xfrm>
          <a:prstGeom prst="rect">
            <a:avLst/>
          </a:prstGeom>
          <a:noFill/>
          <a:ln/>
        </p:spPr>
        <p:txBody>
          <a:bodyPr wrap="square" lIns="0" tIns="0" rIns="0" bIns="0" rtlCol="0" anchor="ctr"/>
          <a:lstStyle/>
          <a:p>
            <a:r>
              <a:rPr lang="en-US" sz="1300" b="1" dirty="0">
                <a:solidFill>
                  <a:srgbClr val="047954"/>
                </a:solidFill>
                <a:latin typeface="Arial" pitchFamily="34" charset="0"/>
                <a:ea typeface="Arial" pitchFamily="34" charset="-122"/>
                <a:cs typeface="Arial" pitchFamily="34" charset="-120"/>
              </a:rPr>
              <a:t>Automation</a:t>
            </a:r>
            <a:endParaRPr lang="en-US" sz="1300" dirty="0"/>
          </a:p>
        </p:txBody>
      </p:sp>
      <p:sp>
        <p:nvSpPr>
          <p:cNvPr id="33" name="Text 24"/>
          <p:cNvSpPr txBox="1"/>
          <p:nvPr/>
        </p:nvSpPr>
        <p:spPr>
          <a:xfrm>
            <a:off x="1783080" y="3657600"/>
            <a:ext cx="2240280" cy="640080"/>
          </a:xfrm>
          <a:prstGeom prst="rect">
            <a:avLst/>
          </a:prstGeom>
          <a:noFill/>
          <a:ln/>
        </p:spPr>
        <p:txBody>
          <a:bodyPr wrap="square" lIns="0" tIns="0" rIns="0" bIns="0" rtlCol="0" anchor="t"/>
          <a:lstStyle/>
          <a:p>
            <a:r>
              <a:rPr lang="en-US" sz="1200" dirty="0">
                <a:solidFill>
                  <a:srgbClr val="566575"/>
                </a:solidFill>
                <a:latin typeface="Arial" pitchFamily="34" charset="0"/>
                <a:ea typeface="Arial" pitchFamily="34" charset="-122"/>
                <a:cs typeface="Arial" pitchFamily="34" charset="-120"/>
              </a:rPr>
              <a:t>Forms, handles and updates the n8n workflow</a:t>
            </a:r>
            <a:endParaRPr lang="en-US" sz="1200" dirty="0"/>
          </a:p>
        </p:txBody>
      </p:sp>
      <p:sp>
        <p:nvSpPr>
          <p:cNvPr id="34" name="member 5"/>
          <p:cNvSpPr/>
          <p:nvPr/>
        </p:nvSpPr>
        <p:spPr>
          <a:xfrm>
            <a:off x="4297680" y="2926080"/>
            <a:ext cx="3566160" cy="1463040"/>
          </a:xfrm>
          <a:prstGeom prst="roundRect">
            <a:avLst>
              <a:gd name="adj" fmla="val 6250"/>
            </a:avLst>
          </a:prstGeom>
          <a:solidFill>
            <a:srgbClr val="FFFFFF"/>
          </a:solidFill>
          <a:ln w="12700">
            <a:solidFill>
              <a:srgbClr val="CFDDD6"/>
            </a:solidFill>
            <a:prstDash val="solid"/>
          </a:ln>
        </p:spPr>
      </p:sp>
      <p:sp>
        <p:nvSpPr>
          <p:cNvPr id="37" name="Text 27"/>
          <p:cNvSpPr txBox="1"/>
          <p:nvPr/>
        </p:nvSpPr>
        <p:spPr>
          <a:xfrm>
            <a:off x="5532120" y="3063240"/>
            <a:ext cx="2286000" cy="274320"/>
          </a:xfrm>
          <a:prstGeom prst="rect">
            <a:avLst/>
          </a:prstGeom>
          <a:noFill/>
          <a:ln/>
        </p:spPr>
        <p:txBody>
          <a:bodyPr wrap="square" lIns="0" tIns="0" rIns="0" bIns="0" rtlCol="0" anchor="ctr"/>
          <a:lstStyle/>
          <a:p>
            <a:pPr marL="0" indent="0">
              <a:buNone/>
            </a:pPr>
            <a:r>
              <a:rPr lang="en-US" sz="1350" b="1" dirty="0">
                <a:solidFill>
                  <a:srgbClr val="1F2D3A"/>
                </a:solidFill>
                <a:latin typeface="Arial" pitchFamily="34" charset="0"/>
                <a:ea typeface="Arial" pitchFamily="34" charset="-122"/>
                <a:cs typeface="Arial" pitchFamily="34" charset="-120"/>
              </a:rPr>
              <a:t>Amal Abdelrazik Mohamed</a:t>
            </a:r>
            <a:endParaRPr lang="en-US" sz="1350" dirty="0"/>
          </a:p>
        </p:txBody>
      </p:sp>
      <p:sp>
        <p:nvSpPr>
          <p:cNvPr id="38" name="Text 28"/>
          <p:cNvSpPr txBox="1"/>
          <p:nvPr/>
        </p:nvSpPr>
        <p:spPr>
          <a:xfrm>
            <a:off x="5532120" y="3355848"/>
            <a:ext cx="2286000" cy="274320"/>
          </a:xfrm>
          <a:prstGeom prst="rect">
            <a:avLst/>
          </a:prstGeom>
          <a:noFill/>
          <a:ln/>
        </p:spPr>
        <p:txBody>
          <a:bodyPr wrap="square" lIns="0" tIns="0" rIns="0" bIns="0" rtlCol="0" anchor="ctr"/>
          <a:lstStyle/>
          <a:p>
            <a:pPr marL="0" indent="0">
              <a:buNone/>
            </a:pPr>
            <a:r>
              <a:rPr lang="en-US" sz="1300" b="1" dirty="0">
                <a:solidFill>
                  <a:srgbClr val="047954"/>
                </a:solidFill>
                <a:latin typeface="Arial" pitchFamily="34" charset="0"/>
                <a:ea typeface="Arial" pitchFamily="34" charset="-122"/>
                <a:cs typeface="Arial" pitchFamily="34" charset="-120"/>
              </a:rPr>
              <a:t>GitHub</a:t>
            </a:r>
            <a:endParaRPr lang="en-US" sz="1300" dirty="0"/>
          </a:p>
        </p:txBody>
      </p:sp>
      <p:sp>
        <p:nvSpPr>
          <p:cNvPr id="39" name="Text 29"/>
          <p:cNvSpPr txBox="1"/>
          <p:nvPr/>
        </p:nvSpPr>
        <p:spPr>
          <a:xfrm>
            <a:off x="5532120" y="3657600"/>
            <a:ext cx="2240280" cy="64008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Uploads all required files following the official instructions</a:t>
            </a:r>
            <a:endParaRPr lang="en-US" sz="1200" dirty="0"/>
          </a:p>
        </p:txBody>
      </p:sp>
      <p:sp>
        <p:nvSpPr>
          <p:cNvPr id="40" name="member 6"/>
          <p:cNvSpPr/>
          <p:nvPr/>
        </p:nvSpPr>
        <p:spPr>
          <a:xfrm>
            <a:off x="8046720" y="2926080"/>
            <a:ext cx="3566160" cy="1463040"/>
          </a:xfrm>
          <a:prstGeom prst="roundRect">
            <a:avLst>
              <a:gd name="adj" fmla="val 6250"/>
            </a:avLst>
          </a:prstGeom>
          <a:solidFill>
            <a:srgbClr val="FFFFFF"/>
          </a:solidFill>
          <a:ln w="12700">
            <a:solidFill>
              <a:srgbClr val="CFDDD6"/>
            </a:solidFill>
            <a:prstDash val="solid"/>
          </a:ln>
        </p:spPr>
      </p:sp>
      <p:sp>
        <p:nvSpPr>
          <p:cNvPr id="43" name="Text 32"/>
          <p:cNvSpPr txBox="1"/>
          <p:nvPr/>
        </p:nvSpPr>
        <p:spPr>
          <a:xfrm>
            <a:off x="9281160" y="3063240"/>
            <a:ext cx="2286000" cy="274320"/>
          </a:xfrm>
          <a:prstGeom prst="rect">
            <a:avLst/>
          </a:prstGeom>
          <a:noFill/>
          <a:ln/>
        </p:spPr>
        <p:txBody>
          <a:bodyPr wrap="square" lIns="0" tIns="0" rIns="0" bIns="0" rtlCol="0" anchor="ctr"/>
          <a:lstStyle/>
          <a:p>
            <a:pPr marL="0" indent="0">
              <a:buNone/>
            </a:pPr>
            <a:r>
              <a:rPr lang="en-US" sz="1350" b="1" dirty="0">
                <a:solidFill>
                  <a:srgbClr val="1F2D3A"/>
                </a:solidFill>
                <a:latin typeface="Arial" pitchFamily="34" charset="0"/>
                <a:ea typeface="Arial" pitchFamily="34" charset="-122"/>
                <a:cs typeface="Arial" pitchFamily="34" charset="-120"/>
              </a:rPr>
              <a:t>Ghosoon Amr Samy</a:t>
            </a:r>
            <a:endParaRPr lang="en-US" sz="1350" dirty="0"/>
          </a:p>
        </p:txBody>
      </p:sp>
      <p:sp>
        <p:nvSpPr>
          <p:cNvPr id="44" name="Text 33"/>
          <p:cNvSpPr txBox="1"/>
          <p:nvPr/>
        </p:nvSpPr>
        <p:spPr>
          <a:xfrm>
            <a:off x="9281160" y="3355848"/>
            <a:ext cx="2286000" cy="274320"/>
          </a:xfrm>
          <a:prstGeom prst="rect">
            <a:avLst/>
          </a:prstGeom>
          <a:noFill/>
          <a:ln/>
        </p:spPr>
        <p:txBody>
          <a:bodyPr wrap="square" lIns="0" tIns="0" rIns="0" bIns="0" rtlCol="0" anchor="ctr"/>
          <a:lstStyle/>
          <a:p>
            <a:pPr marL="0" indent="0">
              <a:buNone/>
            </a:pPr>
            <a:r>
              <a:rPr lang="en-US" sz="1300" b="1" dirty="0">
                <a:solidFill>
                  <a:srgbClr val="047954"/>
                </a:solidFill>
                <a:latin typeface="Arial" pitchFamily="34" charset="0"/>
                <a:ea typeface="Arial" pitchFamily="34" charset="-122"/>
                <a:cs typeface="Arial" pitchFamily="34" charset="-120"/>
              </a:rPr>
              <a:t>Presentation</a:t>
            </a:r>
            <a:endParaRPr lang="en-US" sz="1300" dirty="0"/>
          </a:p>
        </p:txBody>
      </p:sp>
      <p:sp>
        <p:nvSpPr>
          <p:cNvPr id="45" name="Text 34"/>
          <p:cNvSpPr txBox="1"/>
          <p:nvPr/>
        </p:nvSpPr>
        <p:spPr>
          <a:xfrm>
            <a:off x="9281160" y="3657600"/>
            <a:ext cx="2240280" cy="64008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Designs the presentation and coordinates the speakers</a:t>
            </a:r>
            <a:endParaRPr lang="en-US" sz="1200" dirty="0"/>
          </a:p>
        </p:txBody>
      </p:sp>
      <p:sp>
        <p:nvSpPr>
          <p:cNvPr id="46" name="Text 35"/>
          <p:cNvSpPr txBox="1"/>
          <p:nvPr/>
        </p:nvSpPr>
        <p:spPr>
          <a:xfrm>
            <a:off x="548640" y="4572000"/>
            <a:ext cx="5486400" cy="365760"/>
          </a:xfrm>
          <a:prstGeom prst="rect">
            <a:avLst/>
          </a:prstGeom>
          <a:noFill/>
          <a:ln/>
        </p:spPr>
        <p:txBody>
          <a:bodyPr wrap="square" lIns="0" tIns="0" rIns="0" bIns="0" rtlCol="0" anchor="ctr"/>
          <a:lstStyle/>
          <a:p>
            <a:pPr marL="0" indent="0">
              <a:buNone/>
            </a:pPr>
            <a:r>
              <a:rPr lang="en-US" sz="1700" b="1" dirty="0">
                <a:solidFill>
                  <a:srgbClr val="047954"/>
                </a:solidFill>
                <a:latin typeface="Arial" pitchFamily="34" charset="0"/>
                <a:ea typeface="Arial" pitchFamily="34" charset="-122"/>
                <a:cs typeface="Arial" pitchFamily="34" charset="-120"/>
              </a:rPr>
              <a:t>Collaboration methods</a:t>
            </a:r>
            <a:endParaRPr lang="en-US" sz="1700" dirty="0"/>
          </a:p>
        </p:txBody>
      </p:sp>
      <p:sp>
        <p:nvSpPr>
          <p:cNvPr id="47" name="collab 1"/>
          <p:cNvSpPr/>
          <p:nvPr/>
        </p:nvSpPr>
        <p:spPr>
          <a:xfrm>
            <a:off x="548640" y="5029200"/>
            <a:ext cx="3566160" cy="1143000"/>
          </a:xfrm>
          <a:prstGeom prst="roundRect">
            <a:avLst>
              <a:gd name="adj" fmla="val 8000"/>
            </a:avLst>
          </a:prstGeom>
          <a:solidFill>
            <a:srgbClr val="E0F5EE"/>
          </a:solidFill>
          <a:ln w="12700">
            <a:solidFill>
              <a:srgbClr val="CFDDD6"/>
            </a:solidFill>
            <a:prstDash val="solid"/>
          </a:ln>
        </p:spPr>
      </p:sp>
      <p:sp>
        <p:nvSpPr>
          <p:cNvPr id="48" name="Shape 37"/>
          <p:cNvSpPr/>
          <p:nvPr/>
        </p:nvSpPr>
        <p:spPr>
          <a:xfrm>
            <a:off x="754380" y="5303520"/>
            <a:ext cx="594360" cy="594360"/>
          </a:xfrm>
          <a:prstGeom prst="ellipse">
            <a:avLst/>
          </a:prstGeom>
          <a:solidFill>
            <a:srgbClr val="047954"/>
          </a:solidFill>
          <a:ln w="6350">
            <a:solidFill>
              <a:srgbClr val="047954"/>
            </a:solidFill>
            <a:prstDash val="solid"/>
          </a:ln>
        </p:spPr>
      </p:sp>
      <p:pic>
        <p:nvPicPr>
          <p:cNvPr id="49" name="Image 9" descr="preencoded.png"/>
          <p:cNvPicPr>
            <a:picLocks noChangeAspect="1"/>
          </p:cNvPicPr>
          <p:nvPr/>
        </p:nvPicPr>
        <p:blipFill>
          <a:blip r:embed="rId7"/>
          <a:stretch>
            <a:fillRect/>
          </a:stretch>
        </p:blipFill>
        <p:spPr>
          <a:xfrm>
            <a:off x="902970" y="5452110"/>
            <a:ext cx="297180" cy="297180"/>
          </a:xfrm>
          <a:prstGeom prst="rect">
            <a:avLst/>
          </a:prstGeom>
        </p:spPr>
      </p:pic>
      <p:sp>
        <p:nvSpPr>
          <p:cNvPr id="50" name="Text 38"/>
          <p:cNvSpPr txBox="1"/>
          <p:nvPr/>
        </p:nvSpPr>
        <p:spPr>
          <a:xfrm>
            <a:off x="1508760" y="5166360"/>
            <a:ext cx="2468880" cy="320040"/>
          </a:xfrm>
          <a:prstGeom prst="rect">
            <a:avLst/>
          </a:prstGeom>
          <a:noFill/>
          <a:ln/>
        </p:spPr>
        <p:txBody>
          <a:bodyPr wrap="square" lIns="0" tIns="0" rIns="0" bIns="0" rtlCol="0" anchor="ctr"/>
          <a:lstStyle/>
          <a:p>
            <a:pPr marL="0" indent="0">
              <a:buNone/>
            </a:pPr>
            <a:r>
              <a:rPr lang="en-US" sz="1500" b="1" dirty="0">
                <a:solidFill>
                  <a:srgbClr val="1F2D3A"/>
                </a:solidFill>
                <a:latin typeface="Arial" pitchFamily="34" charset="0"/>
                <a:ea typeface="Arial" pitchFamily="34" charset="-122"/>
                <a:cs typeface="Arial" pitchFamily="34" charset="-120"/>
              </a:rPr>
              <a:t>WhatsApp group chat</a:t>
            </a:r>
            <a:endParaRPr lang="en-US" sz="1500" dirty="0"/>
          </a:p>
        </p:txBody>
      </p:sp>
      <p:sp>
        <p:nvSpPr>
          <p:cNvPr id="51" name="Text 39"/>
          <p:cNvSpPr txBox="1"/>
          <p:nvPr/>
        </p:nvSpPr>
        <p:spPr>
          <a:xfrm>
            <a:off x="1508760" y="5504688"/>
            <a:ext cx="2468880" cy="59436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Daily coordination and quick updates</a:t>
            </a:r>
            <a:endParaRPr lang="en-US" sz="1200" dirty="0"/>
          </a:p>
        </p:txBody>
      </p:sp>
      <p:sp>
        <p:nvSpPr>
          <p:cNvPr id="52" name="collab 2"/>
          <p:cNvSpPr/>
          <p:nvPr/>
        </p:nvSpPr>
        <p:spPr>
          <a:xfrm>
            <a:off x="4297680" y="5029200"/>
            <a:ext cx="3566160" cy="1143000"/>
          </a:xfrm>
          <a:prstGeom prst="roundRect">
            <a:avLst>
              <a:gd name="adj" fmla="val 8000"/>
            </a:avLst>
          </a:prstGeom>
          <a:solidFill>
            <a:srgbClr val="E0F5EE"/>
          </a:solidFill>
          <a:ln w="12700">
            <a:solidFill>
              <a:srgbClr val="CFDDD6"/>
            </a:solidFill>
            <a:prstDash val="solid"/>
          </a:ln>
        </p:spPr>
      </p:sp>
      <p:sp>
        <p:nvSpPr>
          <p:cNvPr id="53" name="Shape 41"/>
          <p:cNvSpPr/>
          <p:nvPr/>
        </p:nvSpPr>
        <p:spPr>
          <a:xfrm>
            <a:off x="4503420" y="5303520"/>
            <a:ext cx="594360" cy="594360"/>
          </a:xfrm>
          <a:prstGeom prst="ellipse">
            <a:avLst/>
          </a:prstGeom>
          <a:solidFill>
            <a:srgbClr val="336EA8"/>
          </a:solidFill>
          <a:ln w="6350">
            <a:solidFill>
              <a:srgbClr val="336EA8"/>
            </a:solidFill>
            <a:prstDash val="solid"/>
          </a:ln>
        </p:spPr>
      </p:sp>
      <p:pic>
        <p:nvPicPr>
          <p:cNvPr id="54" name="Image 10" descr="preencoded.png"/>
          <p:cNvPicPr>
            <a:picLocks noChangeAspect="1"/>
          </p:cNvPicPr>
          <p:nvPr/>
        </p:nvPicPr>
        <p:blipFill>
          <a:blip r:embed="rId8"/>
          <a:stretch>
            <a:fillRect/>
          </a:stretch>
        </p:blipFill>
        <p:spPr>
          <a:xfrm>
            <a:off x="4652010" y="5452110"/>
            <a:ext cx="297180" cy="297180"/>
          </a:xfrm>
          <a:prstGeom prst="rect">
            <a:avLst/>
          </a:prstGeom>
        </p:spPr>
      </p:pic>
      <p:sp>
        <p:nvSpPr>
          <p:cNvPr id="55" name="Text 42"/>
          <p:cNvSpPr txBox="1"/>
          <p:nvPr/>
        </p:nvSpPr>
        <p:spPr>
          <a:xfrm>
            <a:off x="5257800" y="5166360"/>
            <a:ext cx="2468880" cy="320040"/>
          </a:xfrm>
          <a:prstGeom prst="rect">
            <a:avLst/>
          </a:prstGeom>
          <a:noFill/>
          <a:ln/>
        </p:spPr>
        <p:txBody>
          <a:bodyPr wrap="square" lIns="0" tIns="0" rIns="0" bIns="0" rtlCol="0" anchor="ctr"/>
          <a:lstStyle/>
          <a:p>
            <a:pPr marL="0" indent="0">
              <a:buNone/>
            </a:pPr>
            <a:r>
              <a:rPr lang="en-US" sz="1500" b="1" dirty="0">
                <a:solidFill>
                  <a:srgbClr val="1F2D3A"/>
                </a:solidFill>
                <a:latin typeface="Arial" pitchFamily="34" charset="0"/>
                <a:ea typeface="Arial" pitchFamily="34" charset="-122"/>
                <a:cs typeface="Arial" pitchFamily="34" charset="-120"/>
              </a:rPr>
              <a:t>WhatsApp voice calls</a:t>
            </a:r>
            <a:endParaRPr lang="en-US" sz="1500" dirty="0"/>
          </a:p>
        </p:txBody>
      </p:sp>
      <p:sp>
        <p:nvSpPr>
          <p:cNvPr id="56" name="Text 43"/>
          <p:cNvSpPr txBox="1"/>
          <p:nvPr/>
        </p:nvSpPr>
        <p:spPr>
          <a:xfrm>
            <a:off x="5257800" y="5504688"/>
            <a:ext cx="2468880" cy="59436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Quick discussions between meetings</a:t>
            </a:r>
            <a:endParaRPr lang="en-US" sz="1200" dirty="0"/>
          </a:p>
        </p:txBody>
      </p:sp>
      <p:sp>
        <p:nvSpPr>
          <p:cNvPr id="57" name="collab 3"/>
          <p:cNvSpPr/>
          <p:nvPr/>
        </p:nvSpPr>
        <p:spPr>
          <a:xfrm>
            <a:off x="8046720" y="5029200"/>
            <a:ext cx="3566160" cy="1143000"/>
          </a:xfrm>
          <a:prstGeom prst="roundRect">
            <a:avLst>
              <a:gd name="adj" fmla="val 8000"/>
            </a:avLst>
          </a:prstGeom>
          <a:solidFill>
            <a:srgbClr val="E0F5EE"/>
          </a:solidFill>
          <a:ln w="12700">
            <a:solidFill>
              <a:srgbClr val="CFDDD6"/>
            </a:solidFill>
            <a:prstDash val="solid"/>
          </a:ln>
        </p:spPr>
      </p:sp>
      <p:sp>
        <p:nvSpPr>
          <p:cNvPr id="58" name="Shape 45"/>
          <p:cNvSpPr/>
          <p:nvPr/>
        </p:nvSpPr>
        <p:spPr>
          <a:xfrm>
            <a:off x="8252460" y="5303520"/>
            <a:ext cx="594360" cy="594360"/>
          </a:xfrm>
          <a:prstGeom prst="ellipse">
            <a:avLst/>
          </a:prstGeom>
          <a:solidFill>
            <a:srgbClr val="336EA8"/>
          </a:solidFill>
          <a:ln w="6350">
            <a:solidFill>
              <a:srgbClr val="336EA8"/>
            </a:solidFill>
            <a:prstDash val="solid"/>
          </a:ln>
        </p:spPr>
      </p:sp>
      <p:pic>
        <p:nvPicPr>
          <p:cNvPr id="59" name="Image 11" descr="preencoded.png"/>
          <p:cNvPicPr>
            <a:picLocks noChangeAspect="1"/>
          </p:cNvPicPr>
          <p:nvPr/>
        </p:nvPicPr>
        <p:blipFill>
          <a:blip r:embed="rId9"/>
          <a:stretch>
            <a:fillRect/>
          </a:stretch>
        </p:blipFill>
        <p:spPr>
          <a:xfrm>
            <a:off x="8401050" y="5452110"/>
            <a:ext cx="297180" cy="297180"/>
          </a:xfrm>
          <a:prstGeom prst="rect">
            <a:avLst/>
          </a:prstGeom>
        </p:spPr>
      </p:pic>
      <p:sp>
        <p:nvSpPr>
          <p:cNvPr id="60" name="Text 46"/>
          <p:cNvSpPr txBox="1"/>
          <p:nvPr/>
        </p:nvSpPr>
        <p:spPr>
          <a:xfrm>
            <a:off x="9006840" y="5166360"/>
            <a:ext cx="2468880" cy="320040"/>
          </a:xfrm>
          <a:prstGeom prst="rect">
            <a:avLst/>
          </a:prstGeom>
          <a:noFill/>
          <a:ln/>
        </p:spPr>
        <p:txBody>
          <a:bodyPr wrap="square" lIns="0" tIns="0" rIns="0" bIns="0" rtlCol="0" anchor="ctr"/>
          <a:lstStyle/>
          <a:p>
            <a:pPr marL="0" indent="0">
              <a:buNone/>
            </a:pPr>
            <a:r>
              <a:rPr lang="en-US" sz="1500" b="1" dirty="0">
                <a:solidFill>
                  <a:srgbClr val="1F2D3A"/>
                </a:solidFill>
                <a:latin typeface="Arial" pitchFamily="34" charset="0"/>
                <a:ea typeface="Arial" pitchFamily="34" charset="-122"/>
                <a:cs typeface="Arial" pitchFamily="34" charset="-120"/>
              </a:rPr>
              <a:t>Zoom meetings</a:t>
            </a:r>
            <a:endParaRPr lang="en-US" sz="1500" dirty="0"/>
          </a:p>
        </p:txBody>
      </p:sp>
      <p:sp>
        <p:nvSpPr>
          <p:cNvPr id="61" name="Text 47"/>
          <p:cNvSpPr txBox="1"/>
          <p:nvPr/>
        </p:nvSpPr>
        <p:spPr>
          <a:xfrm>
            <a:off x="9006840" y="5504688"/>
            <a:ext cx="2468880" cy="594360"/>
          </a:xfrm>
          <a:prstGeom prst="rect">
            <a:avLst/>
          </a:prstGeom>
          <a:noFill/>
          <a:ln/>
        </p:spPr>
        <p:txBody>
          <a:bodyPr wrap="square" lIns="0" tIns="0" rIns="0" bIns="0" rtlCol="0" anchor="t"/>
          <a:lstStyle/>
          <a:p>
            <a:pPr marL="0" indent="0">
              <a:buNone/>
            </a:pPr>
            <a:r>
              <a:rPr lang="en-US" sz="1200" dirty="0">
                <a:solidFill>
                  <a:srgbClr val="566575"/>
                </a:solidFill>
                <a:latin typeface="Arial" pitchFamily="34" charset="0"/>
                <a:ea typeface="Arial" pitchFamily="34" charset="-122"/>
                <a:cs typeface="Arial" pitchFamily="34" charset="-120"/>
              </a:rPr>
              <a:t>Regular team meetings</a:t>
            </a:r>
            <a:endParaRPr lang="en-US" sz="1200" dirty="0"/>
          </a:p>
        </p:txBody>
      </p:sp>
      <p:pic>
        <p:nvPicPr>
          <p:cNvPr id="62" name="Photo Mariam Kotb Mohamed" descr="Portrait of Mariam Kotb Mohamed"/>
          <p:cNvPicPr>
            <a:picLocks noChangeAspect="1"/>
          </p:cNvPicPr>
          <p:nvPr/>
        </p:nvPicPr>
        <p:blipFill>
          <a:blip r:embed="rId10"/>
          <a:stretch>
            <a:fillRect/>
          </a:stretch>
        </p:blipFill>
        <p:spPr>
          <a:xfrm>
            <a:off x="693420" y="1562100"/>
            <a:ext cx="990600" cy="990600"/>
          </a:xfrm>
          <a:prstGeom prst="rect">
            <a:avLst/>
          </a:prstGeom>
        </p:spPr>
      </p:pic>
      <p:pic>
        <p:nvPicPr>
          <p:cNvPr id="63" name="Photo Esraa Ahmed Helmy" descr="Portrait of Esraa Ahmed Helmy"/>
          <p:cNvPicPr>
            <a:picLocks noChangeAspect="1"/>
          </p:cNvPicPr>
          <p:nvPr/>
        </p:nvPicPr>
        <p:blipFill>
          <a:blip r:embed="rId11"/>
          <a:stretch>
            <a:fillRect/>
          </a:stretch>
        </p:blipFill>
        <p:spPr>
          <a:xfrm>
            <a:off x="4442460" y="1562100"/>
            <a:ext cx="990600" cy="990600"/>
          </a:xfrm>
          <a:prstGeom prst="rect">
            <a:avLst/>
          </a:prstGeom>
        </p:spPr>
      </p:pic>
      <p:pic>
        <p:nvPicPr>
          <p:cNvPr id="64" name="Photo Doaa Hafez Abbas" descr="Portrait of Doaa Hafez Abbas"/>
          <p:cNvPicPr>
            <a:picLocks noChangeAspect="1"/>
          </p:cNvPicPr>
          <p:nvPr/>
        </p:nvPicPr>
        <p:blipFill>
          <a:blip r:embed="rId12"/>
          <a:stretch>
            <a:fillRect/>
          </a:stretch>
        </p:blipFill>
        <p:spPr>
          <a:xfrm>
            <a:off x="8191500" y="1562100"/>
            <a:ext cx="990600" cy="990600"/>
          </a:xfrm>
          <a:prstGeom prst="rect">
            <a:avLst/>
          </a:prstGeom>
        </p:spPr>
      </p:pic>
      <p:pic>
        <p:nvPicPr>
          <p:cNvPr id="65" name="Photo Kholoud Mohamed Ibrahim" descr="Portrait of Kholoud Mohamed Ibrahim"/>
          <p:cNvPicPr>
            <a:picLocks noChangeAspect="1"/>
          </p:cNvPicPr>
          <p:nvPr/>
        </p:nvPicPr>
        <p:blipFill>
          <a:blip r:embed="rId13"/>
          <a:stretch>
            <a:fillRect/>
          </a:stretch>
        </p:blipFill>
        <p:spPr>
          <a:xfrm>
            <a:off x="693420" y="3162300"/>
            <a:ext cx="990600" cy="990600"/>
          </a:xfrm>
          <a:prstGeom prst="rect">
            <a:avLst/>
          </a:prstGeom>
        </p:spPr>
      </p:pic>
      <p:pic>
        <p:nvPicPr>
          <p:cNvPr id="66" name="Photo Amal Abdelrazik Mohamed" descr="Portrait of Amal Abdelrazik Mohamed"/>
          <p:cNvPicPr>
            <a:picLocks noChangeAspect="1"/>
          </p:cNvPicPr>
          <p:nvPr/>
        </p:nvPicPr>
        <p:blipFill>
          <a:blip r:embed="rId14"/>
          <a:stretch>
            <a:fillRect/>
          </a:stretch>
        </p:blipFill>
        <p:spPr>
          <a:xfrm>
            <a:off x="4442460" y="3162300"/>
            <a:ext cx="990600" cy="990600"/>
          </a:xfrm>
          <a:prstGeom prst="rect">
            <a:avLst/>
          </a:prstGeom>
        </p:spPr>
      </p:pic>
      <p:pic>
        <p:nvPicPr>
          <p:cNvPr id="67" name="Photo Ghosoon Amr Samy" descr="Portrait of Ghosoon Amr Samy"/>
          <p:cNvPicPr>
            <a:picLocks noChangeAspect="1"/>
          </p:cNvPicPr>
          <p:nvPr/>
        </p:nvPicPr>
        <p:blipFill>
          <a:blip r:embed="rId15"/>
          <a:stretch>
            <a:fillRect/>
          </a:stretch>
        </p:blipFill>
        <p:spPr>
          <a:xfrm>
            <a:off x="8191500" y="3162300"/>
            <a:ext cx="990600" cy="990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DEPI logo" descr="/home/claude/depi/logo_depi.png"/>
          <p:cNvPicPr>
            <a:picLocks noChangeAspect="1"/>
          </p:cNvPicPr>
          <p:nvPr/>
        </p:nvPicPr>
        <p:blipFill>
          <a:blip r:embed="rId4"/>
          <a:stretch>
            <a:fillRect/>
          </a:stretch>
        </p:blipFill>
        <p:spPr>
          <a:xfrm>
            <a:off x="438912" y="320040"/>
            <a:ext cx="822960" cy="767252"/>
          </a:xfrm>
          <a:prstGeom prst="rect">
            <a:avLst/>
          </a:prstGeom>
        </p:spPr>
      </p:pic>
      <p:pic>
        <p:nvPicPr>
          <p:cNvPr id="3" name="Ministry logo" descr="/home/claude/depi/logo_ministry.png"/>
          <p:cNvPicPr>
            <a:picLocks noChangeAspect="1"/>
          </p:cNvPicPr>
          <p:nvPr/>
        </p:nvPicPr>
        <p:blipFill>
          <a:blip r:embed="rId5"/>
          <a:stretch>
            <a:fillRect/>
          </a:stretch>
        </p:blipFill>
        <p:spPr>
          <a:xfrm>
            <a:off x="10744200" y="347472"/>
            <a:ext cx="1188720" cy="590115"/>
          </a:xfrm>
          <a:prstGeom prst="rect">
            <a:avLst/>
          </a:prstGeom>
        </p:spPr>
      </p:pic>
      <p:sp>
        <p:nvSpPr>
          <p:cNvPr id="4" name="date bar"/>
          <p:cNvSpPr/>
          <p:nvPr/>
        </p:nvSpPr>
        <p:spPr>
          <a:xfrm>
            <a:off x="837590" y="6336792"/>
            <a:ext cx="2743200" cy="384048"/>
          </a:xfrm>
          <a:prstGeom prst="rect">
            <a:avLst/>
          </a:prstGeom>
          <a:solidFill>
            <a:srgbClr val="1869A6"/>
          </a:solidFill>
          <a:ln w="12700">
            <a:solidFill>
              <a:srgbClr val="1869A6"/>
            </a:solidFill>
            <a:prstDash val="solid"/>
          </a:ln>
        </p:spPr>
      </p:sp>
      <p:sp>
        <p:nvSpPr>
          <p:cNvPr id="5" name="date text"/>
          <p:cNvSpPr txBox="1"/>
          <p:nvPr/>
        </p:nvSpPr>
        <p:spPr>
          <a:xfrm>
            <a:off x="837590" y="6336792"/>
            <a:ext cx="2743200" cy="384048"/>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31 October 2026</a:t>
            </a:r>
            <a:endParaRPr lang="en-US" sz="1400" dirty="0"/>
          </a:p>
        </p:txBody>
      </p:sp>
      <p:pic>
        <p:nvPicPr>
          <p:cNvPr id="6" name="eyouth logo" descr="/home/claude/depi/logo_eyouth.png"/>
          <p:cNvPicPr>
            <a:picLocks noChangeAspect="1"/>
          </p:cNvPicPr>
          <p:nvPr/>
        </p:nvPicPr>
        <p:blipFill>
          <a:blip r:embed="rId6"/>
          <a:stretch>
            <a:fillRect/>
          </a:stretch>
        </p:blipFill>
        <p:spPr>
          <a:xfrm>
            <a:off x="8997696" y="6281928"/>
            <a:ext cx="1380744" cy="367269"/>
          </a:xfrm>
          <a:prstGeom prst="rect">
            <a:avLst/>
          </a:prstGeom>
        </p:spPr>
      </p:pic>
      <p:sp>
        <p:nvSpPr>
          <p:cNvPr id="7" name="page box"/>
          <p:cNvSpPr/>
          <p:nvPr/>
        </p:nvSpPr>
        <p:spPr>
          <a:xfrm>
            <a:off x="10972800" y="6336792"/>
            <a:ext cx="466344" cy="429768"/>
          </a:xfrm>
          <a:prstGeom prst="rect">
            <a:avLst/>
          </a:prstGeom>
          <a:solidFill>
            <a:srgbClr val="1869A6"/>
          </a:solidFill>
          <a:ln w="12700">
            <a:solidFill>
              <a:srgbClr val="1869A6"/>
            </a:solidFill>
            <a:prstDash val="solid"/>
          </a:ln>
        </p:spPr>
      </p:sp>
      <p:sp>
        <p:nvSpPr>
          <p:cNvPr id="8" name="page number"/>
          <p:cNvSpPr txBox="1"/>
          <p:nvPr/>
        </p:nvSpPr>
        <p:spPr>
          <a:xfrm>
            <a:off x="10972800" y="6336792"/>
            <a:ext cx="466344" cy="429768"/>
          </a:xfrm>
          <a:prstGeom prst="rect">
            <a:avLst/>
          </a:prstGeom>
          <a:noFill/>
          <a:ln/>
        </p:spPr>
        <p:txBody>
          <a:bodyPr wrap="square" lIns="0" tIns="0" rIns="0" bIns="0"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10</a:t>
            </a:r>
            <a:endParaRPr lang="en-US" sz="1200" dirty="0"/>
          </a:p>
        </p:txBody>
      </p:sp>
      <p:sp>
        <p:nvSpPr>
          <p:cNvPr id="9" name="Text 4"/>
          <p:cNvSpPr txBox="1"/>
          <p:nvPr/>
        </p:nvSpPr>
        <p:spPr>
          <a:xfrm>
            <a:off x="1097280" y="1417320"/>
            <a:ext cx="6400800" cy="1005840"/>
          </a:xfrm>
          <a:prstGeom prst="rect">
            <a:avLst/>
          </a:prstGeom>
          <a:noFill/>
          <a:ln/>
        </p:spPr>
        <p:txBody>
          <a:bodyPr wrap="square" lIns="0" tIns="0" rIns="0" bIns="0" rtlCol="0" anchor="ctr"/>
          <a:lstStyle/>
          <a:p>
            <a:pPr marL="0" indent="0">
              <a:buNone/>
            </a:pPr>
            <a:r>
              <a:rPr lang="en-US" sz="5400" b="1" dirty="0">
                <a:solidFill>
                  <a:srgbClr val="047954"/>
                </a:solidFill>
                <a:latin typeface="Arial" pitchFamily="34" charset="0"/>
                <a:ea typeface="Arial" pitchFamily="34" charset="-122"/>
                <a:cs typeface="Arial" pitchFamily="34" charset="-120"/>
              </a:rPr>
              <a:t>Thank you</a:t>
            </a:r>
            <a:endParaRPr lang="en-US" sz="5400" dirty="0"/>
          </a:p>
        </p:txBody>
      </p:sp>
      <p:sp>
        <p:nvSpPr>
          <p:cNvPr id="10" name="Text 5"/>
          <p:cNvSpPr txBox="1"/>
          <p:nvPr/>
        </p:nvSpPr>
        <p:spPr>
          <a:xfrm>
            <a:off x="1097280" y="2468880"/>
            <a:ext cx="6400800" cy="548640"/>
          </a:xfrm>
          <a:prstGeom prst="rect">
            <a:avLst/>
          </a:prstGeom>
          <a:noFill/>
          <a:ln/>
        </p:spPr>
        <p:txBody>
          <a:bodyPr wrap="square" lIns="0" tIns="0" rIns="0" bIns="0" rtlCol="0" anchor="ctr"/>
          <a:lstStyle/>
          <a:p>
            <a:pPr marL="0" indent="0">
              <a:buNone/>
            </a:pPr>
            <a:r>
              <a:rPr lang="en-US" sz="2800" i="1" dirty="0">
                <a:solidFill>
                  <a:srgbClr val="336EA8"/>
                </a:solidFill>
                <a:latin typeface="Arial" pitchFamily="34" charset="0"/>
                <a:ea typeface="Arial" pitchFamily="34" charset="-122"/>
                <a:cs typeface="Arial" pitchFamily="34" charset="-120"/>
              </a:rPr>
              <a:t>Questions or feedback?</a:t>
            </a:r>
            <a:endParaRPr lang="en-US" sz="2800" dirty="0"/>
          </a:p>
        </p:txBody>
      </p:sp>
      <p:sp>
        <p:nvSpPr>
          <p:cNvPr id="11" name="contact card"/>
          <p:cNvSpPr/>
          <p:nvPr/>
        </p:nvSpPr>
        <p:spPr>
          <a:xfrm>
            <a:off x="1097280" y="3246120"/>
            <a:ext cx="7040880" cy="2926080"/>
          </a:xfrm>
          <a:prstGeom prst="roundRect">
            <a:avLst>
              <a:gd name="adj" fmla="val 3125"/>
            </a:avLst>
          </a:prstGeom>
          <a:solidFill>
            <a:srgbClr val="FFFFFF"/>
          </a:solidFill>
          <a:ln w="12700">
            <a:solidFill>
              <a:srgbClr val="CFDDD6"/>
            </a:solidFill>
            <a:prstDash val="solid"/>
          </a:ln>
        </p:spPr>
      </p:sp>
      <p:sp>
        <p:nvSpPr>
          <p:cNvPr id="12" name="Text 7"/>
          <p:cNvSpPr txBox="1"/>
          <p:nvPr/>
        </p:nvSpPr>
        <p:spPr>
          <a:xfrm>
            <a:off x="1371600" y="3337560"/>
            <a:ext cx="6400800" cy="365760"/>
          </a:xfrm>
          <a:prstGeom prst="rect">
            <a:avLst/>
          </a:prstGeom>
          <a:noFill/>
          <a:ln/>
        </p:spPr>
        <p:txBody>
          <a:bodyPr wrap="square" lIns="0" tIns="0" rIns="0" bIns="0" rtlCol="0" anchor="ctr"/>
          <a:lstStyle/>
          <a:p>
            <a:pPr marL="0" indent="0">
              <a:buNone/>
            </a:pPr>
            <a:r>
              <a:rPr lang="en-US" sz="1600" b="1" dirty="0">
                <a:solidFill>
                  <a:srgbClr val="047954"/>
                </a:solidFill>
                <a:latin typeface="Arial" pitchFamily="34" charset="0"/>
                <a:ea typeface="Arial" pitchFamily="34" charset="-122"/>
                <a:cs typeface="Arial" pitchFamily="34" charset="-120"/>
              </a:rPr>
              <a:t>TeachWise team | Contact information</a:t>
            </a:r>
            <a:endParaRPr lang="en-US" sz="1600" dirty="0"/>
          </a:p>
        </p:txBody>
      </p:sp>
      <p:sp>
        <p:nvSpPr>
          <p:cNvPr id="13" name="Text 8"/>
          <p:cNvSpPr txBox="1"/>
          <p:nvPr/>
        </p:nvSpPr>
        <p:spPr>
          <a:xfrm>
            <a:off x="1371600" y="3794760"/>
            <a:ext cx="3291840" cy="274320"/>
          </a:xfrm>
          <a:prstGeom prst="rect">
            <a:avLst/>
          </a:prstGeom>
          <a:noFill/>
          <a:ln/>
        </p:spPr>
        <p:txBody>
          <a:bodyPr wrap="square" lIns="0" tIns="0" rIns="0" bIns="0" rtlCol="0" anchor="ctr"/>
          <a:lstStyle/>
          <a:p>
            <a:pPr marL="0" indent="0">
              <a:buNone/>
            </a:pPr>
            <a:r>
              <a:rPr lang="en-US" sz="1300" b="1" dirty="0">
                <a:solidFill>
                  <a:srgbClr val="1F2D3A"/>
                </a:solidFill>
                <a:latin typeface="Arial" pitchFamily="34" charset="0"/>
                <a:ea typeface="Arial" pitchFamily="34" charset="-122"/>
                <a:cs typeface="Arial" pitchFamily="34" charset="-120"/>
              </a:rPr>
              <a:t>Mariam Kotb Mohamed</a:t>
            </a:r>
            <a:endParaRPr lang="en-US" sz="1300" dirty="0"/>
          </a:p>
        </p:txBody>
      </p:sp>
      <p:sp>
        <p:nvSpPr>
          <p:cNvPr id="14" name="Text 9"/>
          <p:cNvSpPr txBox="1"/>
          <p:nvPr/>
        </p:nvSpPr>
        <p:spPr>
          <a:xfrm>
            <a:off x="1371600" y="4050792"/>
            <a:ext cx="3291840" cy="256032"/>
          </a:xfrm>
          <a:prstGeom prst="rect">
            <a:avLst/>
          </a:prstGeom>
          <a:noFill/>
          <a:ln/>
        </p:spPr>
        <p:txBody>
          <a:bodyPr wrap="square" lIns="0" tIns="0" rIns="0" bIns="0" rtlCol="0" anchor="ctr"/>
          <a:lstStyle/>
          <a:p>
            <a:pPr marL="0" indent="0">
              <a:buNone/>
            </a:pPr>
            <a:r>
              <a:rPr lang="en-US" sz="1200" dirty="0">
                <a:solidFill>
                  <a:srgbClr val="566575"/>
                </a:solidFill>
                <a:latin typeface="Arial" pitchFamily="34" charset="0"/>
                <a:ea typeface="Arial" pitchFamily="34" charset="-122"/>
                <a:cs typeface="Arial" pitchFamily="34" charset="-120"/>
              </a:rPr>
              <a:t>mariamkotb01@gmail.com</a:t>
            </a:r>
            <a:endParaRPr lang="en-US" sz="1200" dirty="0"/>
          </a:p>
        </p:txBody>
      </p:sp>
      <p:sp>
        <p:nvSpPr>
          <p:cNvPr id="15" name="Text 10"/>
          <p:cNvSpPr txBox="1"/>
          <p:nvPr/>
        </p:nvSpPr>
        <p:spPr>
          <a:xfrm>
            <a:off x="4846320" y="3794760"/>
            <a:ext cx="3291840" cy="274320"/>
          </a:xfrm>
          <a:prstGeom prst="rect">
            <a:avLst/>
          </a:prstGeom>
          <a:noFill/>
          <a:ln/>
        </p:spPr>
        <p:txBody>
          <a:bodyPr wrap="square" lIns="0" tIns="0" rIns="0" bIns="0" rtlCol="0" anchor="ctr"/>
          <a:lstStyle/>
          <a:p>
            <a:pPr marL="0" indent="0">
              <a:buNone/>
            </a:pPr>
            <a:r>
              <a:rPr lang="en-US" sz="1300" b="1" dirty="0">
                <a:solidFill>
                  <a:srgbClr val="1F2D3A"/>
                </a:solidFill>
                <a:latin typeface="Arial" pitchFamily="34" charset="0"/>
                <a:ea typeface="Arial" pitchFamily="34" charset="-122"/>
                <a:cs typeface="Arial" pitchFamily="34" charset="-120"/>
              </a:rPr>
              <a:t>Esraa Ahmed Helmy</a:t>
            </a:r>
            <a:endParaRPr lang="en-US" sz="1300" dirty="0"/>
          </a:p>
        </p:txBody>
      </p:sp>
      <p:sp>
        <p:nvSpPr>
          <p:cNvPr id="16" name="Text 11"/>
          <p:cNvSpPr txBox="1"/>
          <p:nvPr/>
        </p:nvSpPr>
        <p:spPr>
          <a:xfrm>
            <a:off x="4846320" y="4050792"/>
            <a:ext cx="3291840" cy="256032"/>
          </a:xfrm>
          <a:prstGeom prst="rect">
            <a:avLst/>
          </a:prstGeom>
          <a:noFill/>
          <a:ln/>
        </p:spPr>
        <p:txBody>
          <a:bodyPr wrap="square" lIns="0" tIns="0" rIns="0" bIns="0" rtlCol="0" anchor="ctr"/>
          <a:lstStyle/>
          <a:p>
            <a:pPr marL="0" indent="0">
              <a:buNone/>
            </a:pPr>
            <a:r>
              <a:rPr lang="en-US" sz="1200" dirty="0">
                <a:solidFill>
                  <a:srgbClr val="566575"/>
                </a:solidFill>
                <a:latin typeface="Arial" pitchFamily="34" charset="0"/>
                <a:ea typeface="Arial" pitchFamily="34" charset="-122"/>
                <a:cs typeface="Arial" pitchFamily="34" charset="-120"/>
              </a:rPr>
              <a:t>esraaahmedhelmy78@gmail.com</a:t>
            </a:r>
            <a:endParaRPr lang="en-US" sz="1200" dirty="0"/>
          </a:p>
        </p:txBody>
      </p:sp>
      <p:sp>
        <p:nvSpPr>
          <p:cNvPr id="17" name="Text 12"/>
          <p:cNvSpPr txBox="1"/>
          <p:nvPr/>
        </p:nvSpPr>
        <p:spPr>
          <a:xfrm>
            <a:off x="1371600" y="4416552"/>
            <a:ext cx="3291840" cy="274320"/>
          </a:xfrm>
          <a:prstGeom prst="rect">
            <a:avLst/>
          </a:prstGeom>
          <a:noFill/>
          <a:ln/>
        </p:spPr>
        <p:txBody>
          <a:bodyPr wrap="square" lIns="0" tIns="0" rIns="0" bIns="0" rtlCol="0" anchor="ctr"/>
          <a:lstStyle/>
          <a:p>
            <a:pPr marL="0" indent="0">
              <a:buNone/>
            </a:pPr>
            <a:r>
              <a:rPr lang="en-US" sz="1300" b="1" dirty="0">
                <a:solidFill>
                  <a:srgbClr val="1F2D3A"/>
                </a:solidFill>
                <a:latin typeface="Arial" pitchFamily="34" charset="0"/>
                <a:ea typeface="Arial" pitchFamily="34" charset="-122"/>
                <a:cs typeface="Arial" pitchFamily="34" charset="-120"/>
              </a:rPr>
              <a:t>Doaa Hafez Abbas</a:t>
            </a:r>
            <a:endParaRPr lang="en-US" sz="1300" dirty="0"/>
          </a:p>
        </p:txBody>
      </p:sp>
      <p:sp>
        <p:nvSpPr>
          <p:cNvPr id="18" name="Text 13"/>
          <p:cNvSpPr txBox="1"/>
          <p:nvPr/>
        </p:nvSpPr>
        <p:spPr>
          <a:xfrm>
            <a:off x="1371600" y="4672584"/>
            <a:ext cx="3291840" cy="256032"/>
          </a:xfrm>
          <a:prstGeom prst="rect">
            <a:avLst/>
          </a:prstGeom>
          <a:noFill/>
          <a:ln/>
        </p:spPr>
        <p:txBody>
          <a:bodyPr wrap="square" lIns="0" tIns="0" rIns="0" bIns="0" rtlCol="0" anchor="ctr"/>
          <a:lstStyle/>
          <a:p>
            <a:pPr marL="0" indent="0">
              <a:buNone/>
            </a:pPr>
            <a:r>
              <a:rPr lang="en-US" sz="1200" dirty="0">
                <a:solidFill>
                  <a:srgbClr val="566575"/>
                </a:solidFill>
                <a:latin typeface="Arial" pitchFamily="34" charset="0"/>
                <a:ea typeface="Arial" pitchFamily="34" charset="-122"/>
                <a:cs typeface="Arial" pitchFamily="34" charset="-120"/>
              </a:rPr>
              <a:t>doaahafez1987@gmail.com</a:t>
            </a:r>
            <a:endParaRPr lang="en-US" sz="1200" dirty="0"/>
          </a:p>
        </p:txBody>
      </p:sp>
      <p:sp>
        <p:nvSpPr>
          <p:cNvPr id="19" name="Text 14"/>
          <p:cNvSpPr txBox="1"/>
          <p:nvPr/>
        </p:nvSpPr>
        <p:spPr>
          <a:xfrm>
            <a:off x="4846320" y="4416552"/>
            <a:ext cx="3291840" cy="274320"/>
          </a:xfrm>
          <a:prstGeom prst="rect">
            <a:avLst/>
          </a:prstGeom>
          <a:noFill/>
          <a:ln/>
        </p:spPr>
        <p:txBody>
          <a:bodyPr wrap="square" lIns="0" tIns="0" rIns="0" bIns="0" rtlCol="0" anchor="ctr"/>
          <a:lstStyle/>
          <a:p>
            <a:pPr marL="0" indent="0">
              <a:buNone/>
            </a:pPr>
            <a:r>
              <a:rPr lang="en-US" sz="1300" b="1" dirty="0">
                <a:solidFill>
                  <a:srgbClr val="1F2D3A"/>
                </a:solidFill>
                <a:latin typeface="Arial" pitchFamily="34" charset="0"/>
                <a:ea typeface="Arial" pitchFamily="34" charset="-122"/>
                <a:cs typeface="Arial" pitchFamily="34" charset="-120"/>
              </a:rPr>
              <a:t>Kholoud Mohamed Ibrahim</a:t>
            </a:r>
            <a:endParaRPr lang="en-US" sz="1300" dirty="0"/>
          </a:p>
        </p:txBody>
      </p:sp>
      <p:sp>
        <p:nvSpPr>
          <p:cNvPr id="20" name="Text 15"/>
          <p:cNvSpPr txBox="1"/>
          <p:nvPr/>
        </p:nvSpPr>
        <p:spPr>
          <a:xfrm>
            <a:off x="4846320" y="4672584"/>
            <a:ext cx="3291840" cy="256032"/>
          </a:xfrm>
          <a:prstGeom prst="rect">
            <a:avLst/>
          </a:prstGeom>
          <a:noFill/>
          <a:ln/>
        </p:spPr>
        <p:txBody>
          <a:bodyPr wrap="square" lIns="0" tIns="0" rIns="0" bIns="0" rtlCol="0" anchor="ctr"/>
          <a:lstStyle/>
          <a:p>
            <a:pPr marL="0" indent="0">
              <a:buNone/>
            </a:pPr>
            <a:r>
              <a:rPr lang="en-US" sz="1200" dirty="0">
                <a:solidFill>
                  <a:srgbClr val="566575"/>
                </a:solidFill>
                <a:latin typeface="Arial" pitchFamily="34" charset="0"/>
                <a:ea typeface="Arial" pitchFamily="34" charset="-122"/>
                <a:cs typeface="Arial" pitchFamily="34" charset="-120"/>
              </a:rPr>
              <a:t>khloudmo.022@gmail.com</a:t>
            </a:r>
            <a:endParaRPr lang="en-US" sz="1200" dirty="0"/>
          </a:p>
        </p:txBody>
      </p:sp>
      <p:sp>
        <p:nvSpPr>
          <p:cNvPr id="21" name="Text 16"/>
          <p:cNvSpPr txBox="1"/>
          <p:nvPr/>
        </p:nvSpPr>
        <p:spPr>
          <a:xfrm>
            <a:off x="1371600" y="5038344"/>
            <a:ext cx="3291840" cy="274320"/>
          </a:xfrm>
          <a:prstGeom prst="rect">
            <a:avLst/>
          </a:prstGeom>
          <a:noFill/>
          <a:ln/>
        </p:spPr>
        <p:txBody>
          <a:bodyPr wrap="square" lIns="0" tIns="0" rIns="0" bIns="0" rtlCol="0" anchor="ctr"/>
          <a:lstStyle/>
          <a:p>
            <a:pPr marL="0" indent="0">
              <a:buNone/>
            </a:pPr>
            <a:r>
              <a:rPr lang="en-US" sz="1300" b="1" dirty="0">
                <a:solidFill>
                  <a:srgbClr val="1F2D3A"/>
                </a:solidFill>
                <a:latin typeface="Arial" pitchFamily="34" charset="0"/>
                <a:ea typeface="Arial" pitchFamily="34" charset="-122"/>
                <a:cs typeface="Arial" pitchFamily="34" charset="-120"/>
              </a:rPr>
              <a:t>Amal Abdelrazik Mohamed</a:t>
            </a:r>
            <a:endParaRPr lang="en-US" sz="1300" dirty="0"/>
          </a:p>
        </p:txBody>
      </p:sp>
      <p:sp>
        <p:nvSpPr>
          <p:cNvPr id="22" name="Text 17"/>
          <p:cNvSpPr txBox="1"/>
          <p:nvPr/>
        </p:nvSpPr>
        <p:spPr>
          <a:xfrm>
            <a:off x="1371600" y="5294376"/>
            <a:ext cx="3291840" cy="256032"/>
          </a:xfrm>
          <a:prstGeom prst="rect">
            <a:avLst/>
          </a:prstGeom>
          <a:noFill/>
          <a:ln/>
        </p:spPr>
        <p:txBody>
          <a:bodyPr wrap="square" lIns="0" tIns="0" rIns="0" bIns="0" rtlCol="0" anchor="ctr"/>
          <a:lstStyle/>
          <a:p>
            <a:pPr marL="0" indent="0">
              <a:buNone/>
            </a:pPr>
            <a:r>
              <a:rPr lang="en-US" sz="1200" dirty="0">
                <a:solidFill>
                  <a:srgbClr val="566575"/>
                </a:solidFill>
                <a:latin typeface="Arial" pitchFamily="34" charset="0"/>
                <a:ea typeface="Arial" pitchFamily="34" charset="-122"/>
                <a:cs typeface="Arial" pitchFamily="34" charset="-120"/>
              </a:rPr>
              <a:t>amal.abdelrazek.h@gmail.com</a:t>
            </a:r>
            <a:endParaRPr lang="en-US" sz="1200" dirty="0"/>
          </a:p>
        </p:txBody>
      </p:sp>
      <p:sp>
        <p:nvSpPr>
          <p:cNvPr id="23" name="Text 18"/>
          <p:cNvSpPr txBox="1"/>
          <p:nvPr/>
        </p:nvSpPr>
        <p:spPr>
          <a:xfrm>
            <a:off x="4846320" y="5038344"/>
            <a:ext cx="3291840" cy="274320"/>
          </a:xfrm>
          <a:prstGeom prst="rect">
            <a:avLst/>
          </a:prstGeom>
          <a:noFill/>
          <a:ln/>
        </p:spPr>
        <p:txBody>
          <a:bodyPr wrap="square" lIns="0" tIns="0" rIns="0" bIns="0" rtlCol="0" anchor="ctr"/>
          <a:lstStyle/>
          <a:p>
            <a:pPr marL="0" indent="0">
              <a:buNone/>
            </a:pPr>
            <a:r>
              <a:rPr lang="en-US" sz="1300" b="1" dirty="0">
                <a:solidFill>
                  <a:srgbClr val="1F2D3A"/>
                </a:solidFill>
                <a:latin typeface="Arial" pitchFamily="34" charset="0"/>
                <a:ea typeface="Arial" pitchFamily="34" charset="-122"/>
                <a:cs typeface="Arial" pitchFamily="34" charset="-120"/>
              </a:rPr>
              <a:t>Ghosoon Amr Samy</a:t>
            </a:r>
            <a:endParaRPr lang="en-US" sz="1300" dirty="0"/>
          </a:p>
        </p:txBody>
      </p:sp>
      <p:sp>
        <p:nvSpPr>
          <p:cNvPr id="24" name="Text 19"/>
          <p:cNvSpPr txBox="1"/>
          <p:nvPr/>
        </p:nvSpPr>
        <p:spPr>
          <a:xfrm>
            <a:off x="4846320" y="5294376"/>
            <a:ext cx="3291840" cy="256032"/>
          </a:xfrm>
          <a:prstGeom prst="rect">
            <a:avLst/>
          </a:prstGeom>
          <a:noFill/>
          <a:ln/>
        </p:spPr>
        <p:txBody>
          <a:bodyPr wrap="square" lIns="0" tIns="0" rIns="0" bIns="0" rtlCol="0" anchor="ctr"/>
          <a:lstStyle/>
          <a:p>
            <a:pPr marL="0" indent="0">
              <a:buNone/>
            </a:pPr>
            <a:r>
              <a:rPr lang="en-US" sz="1200" dirty="0">
                <a:solidFill>
                  <a:srgbClr val="566575"/>
                </a:solidFill>
                <a:latin typeface="Arial" pitchFamily="34" charset="0"/>
                <a:ea typeface="Arial" pitchFamily="34" charset="-122"/>
                <a:cs typeface="Arial" pitchFamily="34" charset="-120"/>
              </a:rPr>
              <a:t>ghosonmochi@gmail.com</a:t>
            </a:r>
            <a:endParaRPr lang="en-US" sz="1200" dirty="0"/>
          </a:p>
        </p:txBody>
      </p:sp>
      <p:sp>
        <p:nvSpPr>
          <p:cNvPr id="25" name="Text 20"/>
          <p:cNvSpPr txBox="1"/>
          <p:nvPr/>
        </p:nvSpPr>
        <p:spPr>
          <a:xfrm>
            <a:off x="1371600" y="5715000"/>
            <a:ext cx="6400800" cy="274320"/>
          </a:xfrm>
          <a:prstGeom prst="rect">
            <a:avLst/>
          </a:prstGeom>
          <a:noFill/>
          <a:ln/>
        </p:spPr>
        <p:txBody>
          <a:bodyPr wrap="square" lIns="0" tIns="0" rIns="0" bIns="0" rtlCol="0" anchor="ctr"/>
          <a:lstStyle/>
          <a:p>
            <a:pPr marL="0" indent="0">
              <a:buNone/>
            </a:pPr>
            <a:r>
              <a:rPr lang="en-US" sz="1200" i="1" dirty="0">
                <a:solidFill>
                  <a:srgbClr val="566575"/>
                </a:solidFill>
                <a:latin typeface="Arial" pitchFamily="34" charset="0"/>
                <a:ea typeface="Arial" pitchFamily="34" charset="-122"/>
                <a:cs typeface="Arial" pitchFamily="34" charset="-120"/>
                <a:hlinkClick r:id="rId7"/>
              </a:rPr>
              <a:t>GitHub: github.com/Amal-Abdelrazek/Teaching-Materials-Generator-n8n</a:t>
            </a:r>
            <a:endParaRPr lang="en-US" sz="1200" dirty="0"/>
          </a:p>
        </p:txBody>
      </p:sp>
      <p:sp>
        <p:nvSpPr>
          <p:cNvPr id="26" name="Shape 21"/>
          <p:cNvSpPr/>
          <p:nvPr/>
        </p:nvSpPr>
        <p:spPr>
          <a:xfrm>
            <a:off x="8321040" y="2194560"/>
            <a:ext cx="2377440" cy="2377440"/>
          </a:xfrm>
          <a:prstGeom prst="ellipse">
            <a:avLst/>
          </a:prstGeom>
          <a:solidFill>
            <a:srgbClr val="047954"/>
          </a:solidFill>
          <a:ln w="6350">
            <a:solidFill>
              <a:srgbClr val="047954"/>
            </a:solidFill>
            <a:prstDash val="solid"/>
          </a:ln>
        </p:spPr>
      </p:sp>
      <p:pic>
        <p:nvPicPr>
          <p:cNvPr id="27" name="Image 3" descr="preencoded.png"/>
          <p:cNvPicPr>
            <a:picLocks noChangeAspect="1"/>
          </p:cNvPicPr>
          <p:nvPr/>
        </p:nvPicPr>
        <p:blipFill>
          <a:blip r:embed="rId8"/>
          <a:stretch>
            <a:fillRect/>
          </a:stretch>
        </p:blipFill>
        <p:spPr>
          <a:xfrm>
            <a:off x="8915400" y="2788920"/>
            <a:ext cx="1188720" cy="11887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2193</Words>
  <Application>Microsoft Office PowerPoint</Application>
  <PresentationFormat>Widescreen</PresentationFormat>
  <Paragraphs>264</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Materials Generator - DEPI Final Project</dc:title>
  <dc:subject>PptxGenJS Presentation</dc:subject>
  <dc:creator>TeachWise</dc:creator>
  <cp:lastModifiedBy>ghoson amr samy</cp:lastModifiedBy>
  <cp:revision>3</cp:revision>
  <dcterms:created xsi:type="dcterms:W3CDTF">2026-10-29T19:53:19Z</dcterms:created>
  <dcterms:modified xsi:type="dcterms:W3CDTF">2026-10-30T19:57:21Z</dcterms:modified>
</cp:coreProperties>
</file>